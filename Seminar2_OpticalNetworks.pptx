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78" r:id="rId6"/>
    <p:sldId id="279" r:id="rId7"/>
    <p:sldId id="282" r:id="rId8"/>
    <p:sldId id="283" r:id="rId9"/>
    <p:sldId id="280" r:id="rId10"/>
    <p:sldId id="260" r:id="rId11"/>
    <p:sldId id="261" r:id="rId12"/>
    <p:sldId id="262" r:id="rId13"/>
    <p:sldId id="263" r:id="rId14"/>
    <p:sldId id="264" r:id="rId15"/>
    <p:sldId id="284" r:id="rId16"/>
    <p:sldId id="285" r:id="rId17"/>
    <p:sldId id="265" r:id="rId18"/>
    <p:sldId id="281" r:id="rId19"/>
    <p:sldId id="267" r:id="rId20"/>
    <p:sldId id="286" r:id="rId21"/>
    <p:sldId id="287" r:id="rId22"/>
    <p:sldId id="268" r:id="rId23"/>
    <p:sldId id="269" r:id="rId24"/>
    <p:sldId id="270" r:id="rId25"/>
    <p:sldId id="289" r:id="rId26"/>
    <p:sldId id="271" r:id="rId27"/>
    <p:sldId id="273" r:id="rId28"/>
    <p:sldId id="274" r:id="rId29"/>
    <p:sldId id="275" r:id="rId30"/>
    <p:sldId id="288" r:id="rId31"/>
    <p:sldId id="277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63"/>
    <p:restoredTop sz="94610"/>
  </p:normalViewPr>
  <p:slideViewPr>
    <p:cSldViewPr snapToGrid="0" snapToObjects="1">
      <p:cViewPr>
        <p:scale>
          <a:sx n="163" d="100"/>
          <a:sy n="163" d="100"/>
        </p:scale>
        <p:origin x="792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3077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A5570-1C84-9A51-6972-CFC3B61DB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BCC2E7-81B8-3100-56E0-F964B758E2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9527C0-7CC1-F5E4-77BF-327190C44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749FA-86A9-D85C-9981-0CA72E7C10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8401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Networks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17556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data as light through fiber — faster, farther, with more capacity than any cable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Networks Research Lab  ·  UT Dallas  · 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2057400" cy="38404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Physics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2468880"/>
            <a:ext cx="2057400" cy="38404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0" y="24688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WDM &amp; EONs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2468880"/>
            <a:ext cx="2057400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24688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SDM Multi-Core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on Seminar 1's slice model and go deeper into the physical transport layer — the optical fiber network that carries all traffic.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30352" cy="67665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Fiber Basics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194767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light carries data — physics and engineering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530352" cy="67665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15568" y="22219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Wavelength Division Multiplexing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15568" y="252374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colors of light, multiple data streams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752344"/>
            <a:ext cx="530352" cy="67665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752344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15568" y="27980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Optical Networks (EONs)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3099816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flexible spectrum allocation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328416"/>
            <a:ext cx="530352" cy="67665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328416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15568" y="337413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Division Multiplexing (SDM)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15568" y="3675888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Multi-core fibers for massive capacity increase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904488"/>
            <a:ext cx="530352" cy="67665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904488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15568" y="395020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RMCSA Problem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15568" y="4251960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Modulation, Core and Spectrum Assignment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4480560"/>
            <a:ext cx="530352" cy="67665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480560"/>
            <a:ext cx="530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15568" y="452628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Work — WMSM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15568" y="4828032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Waypoint-assisted compute-aware slice mapping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97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Optical Fiber Basics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information as pulses of light through glass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Optical Fiber Beats Copper Cable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fiber transmits data as pulses of light instead of electrical signals. This difference in physics gives fiber enormous advantages.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35608"/>
            <a:ext cx="8229600" cy="42062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35608"/>
            <a:ext cx="1417320" cy="42062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1435608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in fiber travels at ~200,000 km/s (~67% speed of light in vacuum). Data crosses continents in under 100 ms.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70532"/>
            <a:ext cx="8229600" cy="437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970532"/>
            <a:ext cx="1417320" cy="4374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970532"/>
            <a:ext cx="1417320" cy="437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1993392"/>
            <a:ext cx="6583680" cy="390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fiber strand can carry 100+ Tbps — more than all the data generated globally in the early 2000s, per second.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20596"/>
            <a:ext cx="8229600" cy="437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520596"/>
            <a:ext cx="1417320" cy="4374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520596"/>
            <a:ext cx="1417320" cy="437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Loss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11680" y="2520596"/>
            <a:ext cx="6583680" cy="368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fiber loses less than 0.2 dB/km of signal. Copper cable loses ~10 dB/km — 50× worse.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070660"/>
            <a:ext cx="8229600" cy="437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070660"/>
            <a:ext cx="1417320" cy="4374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070660"/>
            <a:ext cx="1417320" cy="437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11680" y="3089248"/>
            <a:ext cx="6583680" cy="3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is immune to electromagnetic interference. Copper is not — electrical lines, motors, and radios all create noise.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620724"/>
            <a:ext cx="8229600" cy="43748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3620724"/>
            <a:ext cx="1417320" cy="4374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620724"/>
            <a:ext cx="1417320" cy="437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11680" y="3645308"/>
            <a:ext cx="6583680" cy="355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fiber segment can span 80–100 km before needing regeneration. Copper maxes out at ~100 meters for high-speed links.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70788"/>
            <a:ext cx="8229600" cy="437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4170788"/>
            <a:ext cx="1417320" cy="43748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170788"/>
            <a:ext cx="1417320" cy="437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011680" y="4170788"/>
            <a:ext cx="6583680" cy="437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is lighter and thinner than copper — easier to deploy in data centers, trenches, and submarine cables.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80000"/>
            <a:ext cx="8229600" cy="5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</a:rPr>
              <a:t>How Optical Fiber Works</a:t>
            </a:r>
          </a:p>
        </p:txBody>
      </p:sp>
      <p:sp>
        <p:nvSpPr>
          <p:cNvPr id="3" name="TitleBar"/>
          <p:cNvSpPr/>
          <p:nvPr/>
        </p:nvSpPr>
        <p:spPr>
          <a:xfrm>
            <a:off x="457200" y="730000"/>
            <a:ext cx="8229600" cy="220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ubtitle"/>
          <p:cNvSpPr/>
          <p:nvPr/>
        </p:nvSpPr>
        <p:spPr>
          <a:xfrm>
            <a:off x="457200" y="762000"/>
            <a:ext cx="8229600" cy="330000"/>
          </a:xfrm>
          <a:prstGeom prst="rect">
            <a:avLst/>
          </a:prstGeom>
          <a:noFill/>
          <a:ln/>
        </p:spPr>
        <p:txBody>
          <a:bodyPr wrap="square" lIns="0" tIns="6000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</a:rPr>
              <a:t>An optical fiber is a thin strand of ultra-pure glass. Light bounces along the core via total internal reflection.</a:t>
            </a:r>
          </a:p>
        </p:txBody>
      </p:sp>
      <p:sp>
        <p:nvSpPr>
          <p:cNvPr id="10" name="LeftCard"/>
          <p:cNvSpPr/>
          <p:nvPr/>
        </p:nvSpPr>
        <p:spPr>
          <a:xfrm>
            <a:off x="457200" y="1130000"/>
            <a:ext cx="2800000" cy="38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000" dist="200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LeftAccent"/>
          <p:cNvSpPr/>
          <p:nvPr/>
        </p:nvSpPr>
        <p:spPr>
          <a:xfrm>
            <a:off x="457200" y="1130000"/>
            <a:ext cx="55000" cy="38200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LeftHeader"/>
          <p:cNvSpPr/>
          <p:nvPr/>
        </p:nvSpPr>
        <p:spPr>
          <a:xfrm>
            <a:off x="572200" y="1165000"/>
            <a:ext cx="262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</a:rPr>
              <a:t>Core &amp; Cladding Structure</a:t>
            </a:r>
          </a:p>
        </p:txBody>
      </p:sp>
      <p:sp>
        <p:nvSpPr>
          <p:cNvPr id="30" name="Jacket"/>
          <p:cNvSpPr/>
          <p:nvPr/>
        </p:nvSpPr>
        <p:spPr>
          <a:xfrm>
            <a:off x="685000" y="1500000"/>
            <a:ext cx="540000" cy="540000"/>
          </a:xfrm>
          <a:prstGeom prst="ellipse">
            <a:avLst/>
          </a:prstGeom>
          <a:solidFill>
            <a:srgbClr val="78350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Cladding"/>
          <p:cNvSpPr/>
          <p:nvPr/>
        </p:nvSpPr>
        <p:spPr>
          <a:xfrm>
            <a:off x="762000" y="1577000"/>
            <a:ext cx="386000" cy="386000"/>
          </a:xfrm>
          <a:prstGeom prst="ellipse">
            <a:avLst/>
          </a:prstGeom>
          <a:solidFill>
            <a:srgbClr val="FCD3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Core"/>
          <p:cNvSpPr/>
          <p:nvPr/>
        </p:nvSpPr>
        <p:spPr>
          <a:xfrm>
            <a:off x="867000" y="1682000"/>
            <a:ext cx="176000" cy="1760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LabelJacket"/>
          <p:cNvSpPr/>
          <p:nvPr/>
        </p:nvSpPr>
        <p:spPr>
          <a:xfrm>
            <a:off x="1280000" y="1490000"/>
            <a:ext cx="1870000" cy="210000"/>
          </a:xfrm>
          <a:prstGeom prst="rect">
            <a:avLst/>
          </a:prstGeom>
          <a:solidFill>
            <a:srgbClr val="78350F"/>
          </a:solidFill>
          <a:ln w="0">
            <a:noFill/>
          </a:ln>
        </p:spPr>
        <p:txBody>
          <a:bodyPr wrap="square" lIns="6000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Outer Jacket (protection)</a:t>
            </a:r>
          </a:p>
        </p:txBody>
      </p:sp>
      <p:sp>
        <p:nvSpPr>
          <p:cNvPr id="34" name="LabelCladding"/>
          <p:cNvSpPr/>
          <p:nvPr/>
        </p:nvSpPr>
        <p:spPr>
          <a:xfrm>
            <a:off x="1280000" y="1720000"/>
            <a:ext cx="1870000" cy="2100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 wrap="square" lIns="6000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Cladding (lower refractive index)</a:t>
            </a:r>
          </a:p>
        </p:txBody>
      </p:sp>
      <p:sp>
        <p:nvSpPr>
          <p:cNvPr id="35" name="LabelCore"/>
          <p:cNvSpPr/>
          <p:nvPr/>
        </p:nvSpPr>
        <p:spPr>
          <a:xfrm>
            <a:off x="1280000" y="1950000"/>
            <a:ext cx="1870000" cy="210000"/>
          </a:xfrm>
          <a:prstGeom prst="rect">
            <a:avLst/>
          </a:prstGeom>
          <a:solidFill>
            <a:srgbClr val="1E40AF"/>
          </a:solidFill>
          <a:ln w="0">
            <a:noFill/>
          </a:ln>
        </p:spPr>
        <p:txBody>
          <a:bodyPr wrap="square" lIns="6000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Core (silica glass, 8-50 µm)</a:t>
            </a:r>
          </a:p>
        </p:txBody>
      </p:sp>
      <p:sp>
        <p:nvSpPr>
          <p:cNvPr id="36" name="TIRLabel"/>
          <p:cNvSpPr/>
          <p:nvPr/>
        </p:nvSpPr>
        <p:spPr>
          <a:xfrm>
            <a:off x="572200" y="2250000"/>
            <a:ext cx="2620000" cy="1800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txBody>
          <a:bodyPr wrap="square" lIns="60000" tIns="0" rIns="6000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</a:rPr>
              <a:t>💡 Total Internal Reflection traps light in core</a:t>
            </a:r>
          </a:p>
        </p:txBody>
      </p:sp>
      <p:sp>
        <p:nvSpPr>
          <p:cNvPr id="37" name="LeftBullets"/>
          <p:cNvSpPr/>
          <p:nvPr/>
        </p:nvSpPr>
        <p:spPr>
          <a:xfrm>
            <a:off x="572200" y="2480000"/>
            <a:ext cx="2620000" cy="138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t"/>
          <a:lstStyle/>
          <a:p>
            <a:pPr marL="228600" indent="-228600"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</a:rPr>
              <a:t>Core: ultra-pure silica glass, 8–50 µm diameter</a:t>
            </a:r>
          </a:p>
          <a:p>
            <a:pPr marL="228600" indent="-228600"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</a:rPr>
              <a:t>Cladding: lower refractive index than core</a:t>
            </a:r>
          </a:p>
          <a:p>
            <a:pPr marL="228600" indent="-228600"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</a:rPr>
              <a:t>Light is trapped in core — propagates without touching cladding</a:t>
            </a:r>
          </a:p>
          <a:p>
            <a:pPr marL="228600" indent="-228600"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</a:rPr>
              <a:t>Signal travels at ~200,000 km/s (~67% speed of light)</a:t>
            </a:r>
          </a:p>
        </p:txBody>
      </p:sp>
      <p:sp>
        <p:nvSpPr>
          <p:cNvPr id="40" name="MidCard"/>
          <p:cNvSpPr/>
          <p:nvPr/>
        </p:nvSpPr>
        <p:spPr>
          <a:xfrm>
            <a:off x="3357200" y="1130000"/>
            <a:ext cx="2600000" cy="38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000" dist="200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MidAccent"/>
          <p:cNvSpPr/>
          <p:nvPr/>
        </p:nvSpPr>
        <p:spPr>
          <a:xfrm>
            <a:off x="3357200" y="1130000"/>
            <a:ext cx="55000" cy="38200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MidHeader"/>
          <p:cNvSpPr/>
          <p:nvPr/>
        </p:nvSpPr>
        <p:spPr>
          <a:xfrm>
            <a:off x="3462200" y="1165000"/>
            <a:ext cx="243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</a:rPr>
              <a:t>Transmitter Side</a:t>
            </a:r>
          </a:p>
        </p:txBody>
      </p:sp>
      <p:sp>
        <p:nvSpPr>
          <p:cNvPr id="50" name="ElecBlock"/>
          <p:cNvSpPr/>
          <p:nvPr/>
        </p:nvSpPr>
        <p:spPr>
          <a:xfrm>
            <a:off x="3480000" y="1510000"/>
            <a:ext cx="700000" cy="280000"/>
          </a:xfrm>
          <a:prstGeom prst="rect">
            <a:avLst/>
          </a:prstGeom>
          <a:solidFill>
            <a:srgbClr val="374151"/>
          </a:solidFill>
          <a:ln w="0">
            <a:noFill/>
          </a:ln>
        </p:spPr>
        <p:txBody>
          <a:bodyPr wrap="square" lIns="30000" tIns="0" rIns="300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Electrical Signal</a:t>
            </a:r>
          </a:p>
        </p:txBody>
      </p:sp>
      <p:sp>
        <p:nvSpPr>
          <p:cNvPr id="51" name="Arrow1"/>
          <p:cNvSpPr/>
          <p:nvPr/>
        </p:nvSpPr>
        <p:spPr>
          <a:xfrm>
            <a:off x="4291663" y="1626500"/>
            <a:ext cx="200000" cy="60000"/>
          </a:xfrm>
          <a:prstGeom prst="rightArrow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LaserBlock"/>
          <p:cNvSpPr/>
          <p:nvPr/>
        </p:nvSpPr>
        <p:spPr>
          <a:xfrm>
            <a:off x="4584513" y="1500000"/>
            <a:ext cx="700000" cy="280000"/>
          </a:xfrm>
          <a:prstGeom prst="rect">
            <a:avLst/>
          </a:prstGeom>
          <a:solidFill>
            <a:srgbClr val="B45309"/>
          </a:solidFill>
          <a:ln w="0">
            <a:noFill/>
          </a:ln>
        </p:spPr>
        <p:txBody>
          <a:bodyPr wrap="square" lIns="30000" tIns="0" rIns="300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Laser Diode</a:t>
            </a:r>
          </a:p>
        </p:txBody>
      </p:sp>
      <p:sp>
        <p:nvSpPr>
          <p:cNvPr id="55" name="MidBullets"/>
          <p:cNvSpPr/>
          <p:nvPr/>
        </p:nvSpPr>
        <p:spPr>
          <a:xfrm>
            <a:off x="3462200" y="1880000"/>
            <a:ext cx="2430000" cy="29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t"/>
          <a:lstStyle/>
          <a:p>
            <a:pPr marL="228600" indent="-228600"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</a:rPr>
              <a:t>Laser diode converts electrical signal → light pulses</a:t>
            </a:r>
          </a:p>
          <a:p>
            <a:pPr marL="228600" indent="-228600"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</a:rPr>
              <a:t>Pulse = “1” bit; no pulse = “0” bit</a:t>
            </a:r>
          </a:p>
          <a:p>
            <a:pPr marL="228600" indent="-228600"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</a:rPr>
              <a:t>Modulation schemes (QPSK, QAM) encode multiple bits per symbol</a:t>
            </a:r>
          </a:p>
          <a:p>
            <a:pPr marL="228600" indent="-228600"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</a:rPr>
              <a:t>More bits/symbol = more data per unit of spectrum</a:t>
            </a:r>
          </a:p>
        </p:txBody>
      </p:sp>
      <p:sp>
        <p:nvSpPr>
          <p:cNvPr id="60" name="RightCard"/>
          <p:cNvSpPr/>
          <p:nvPr/>
        </p:nvSpPr>
        <p:spPr>
          <a:xfrm>
            <a:off x="6057200" y="1130000"/>
            <a:ext cx="2629600" cy="38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000" dist="200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RightAccent"/>
          <p:cNvSpPr/>
          <p:nvPr/>
        </p:nvSpPr>
        <p:spPr>
          <a:xfrm>
            <a:off x="6057200" y="1130000"/>
            <a:ext cx="55000" cy="3820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RightHeader"/>
          <p:cNvSpPr/>
          <p:nvPr/>
        </p:nvSpPr>
        <p:spPr>
          <a:xfrm>
            <a:off x="6162200" y="1165000"/>
            <a:ext cx="246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</a:rPr>
              <a:t>Receiver Side</a:t>
            </a:r>
          </a:p>
        </p:txBody>
      </p:sp>
      <p:sp>
        <p:nvSpPr>
          <p:cNvPr id="70" name="PhotoBlock"/>
          <p:cNvSpPr/>
          <p:nvPr/>
        </p:nvSpPr>
        <p:spPr>
          <a:xfrm>
            <a:off x="7460228" y="1490000"/>
            <a:ext cx="760000" cy="280000"/>
          </a:xfrm>
          <a:prstGeom prst="rect">
            <a:avLst/>
          </a:prstGeom>
          <a:solidFill>
            <a:srgbClr val="0F766E"/>
          </a:solidFill>
          <a:ln w="0">
            <a:noFill/>
          </a:ln>
        </p:spPr>
        <p:txBody>
          <a:bodyPr wrap="square" lIns="30000" tIns="0" rIns="3000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</a:rPr>
              <a:t>Photodetector</a:t>
            </a:r>
          </a:p>
        </p:txBody>
      </p:sp>
      <p:sp>
        <p:nvSpPr>
          <p:cNvPr id="71" name="Arrow2"/>
          <p:cNvSpPr/>
          <p:nvPr/>
        </p:nvSpPr>
        <p:spPr>
          <a:xfrm>
            <a:off x="7177614" y="1590000"/>
            <a:ext cx="200000" cy="60000"/>
          </a:xfrm>
          <a:prstGeom prst="rightArrow">
            <a:avLst/>
          </a:prstGeom>
          <a:solidFill>
            <a:srgbClr val="0D94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EDFABlock"/>
          <p:cNvSpPr/>
          <p:nvPr/>
        </p:nvSpPr>
        <p:spPr>
          <a:xfrm>
            <a:off x="6645000" y="1490000"/>
            <a:ext cx="450000" cy="28000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txBody>
          <a:bodyPr wrap="square" lIns="30000" tIns="0" rIns="3000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</a:rPr>
              <a:t>EDFA</a:t>
            </a:r>
          </a:p>
        </p:txBody>
      </p:sp>
      <p:sp>
        <p:nvSpPr>
          <p:cNvPr id="75" name="RightBullets"/>
          <p:cNvSpPr/>
          <p:nvPr/>
        </p:nvSpPr>
        <p:spPr>
          <a:xfrm>
            <a:off x="6162200" y="1880000"/>
            <a:ext cx="2460000" cy="29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t"/>
          <a:lstStyle/>
          <a:p>
            <a:pPr marL="228600" indent="-228600"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</a:rPr>
              <a:t>Photodetector converts light pulses → electrical signal</a:t>
            </a:r>
          </a:p>
          <a:p>
            <a:pPr marL="228600" indent="-228600"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</a:rPr>
              <a:t>EDFA (Erbium-Doped Fiber Amplifier) amplifies signal</a:t>
            </a:r>
          </a:p>
          <a:p>
            <a:pPr marL="228600" indent="-228600"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</a:rPr>
              <a:t>After ~80–100 km: OEO transponder regenerates signal</a:t>
            </a:r>
          </a:p>
          <a:p>
            <a:pPr marL="228600" indent="-228600">
              <a:buSzPct val="100000"/>
              <a:buChar char="●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</a:rPr>
              <a:t>OEO = Optical–Electrical–Optical: restores signal integrity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EFC088-AF3C-3943-CE0C-C41807B73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313" y="1601100"/>
            <a:ext cx="203200" cy="50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C6899F-9D09-4BAB-738A-F3616A23F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9500" y="1602100"/>
            <a:ext cx="203200" cy="50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80000"/>
            <a:ext cx="8229600" cy="5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</a:rPr>
              <a:t>How Optical Fiber Works</a:t>
            </a:r>
          </a:p>
        </p:txBody>
      </p:sp>
      <p:sp>
        <p:nvSpPr>
          <p:cNvPr id="3" name="TitleBar"/>
          <p:cNvSpPr/>
          <p:nvPr/>
        </p:nvSpPr>
        <p:spPr>
          <a:xfrm>
            <a:off x="457200" y="730000"/>
            <a:ext cx="8229600" cy="220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ubtitle"/>
          <p:cNvSpPr/>
          <p:nvPr/>
        </p:nvSpPr>
        <p:spPr>
          <a:xfrm>
            <a:off x="457200" y="762000"/>
            <a:ext cx="8229600" cy="330000"/>
          </a:xfrm>
          <a:prstGeom prst="rect">
            <a:avLst/>
          </a:prstGeom>
          <a:noFill/>
          <a:ln/>
        </p:spPr>
        <p:txBody>
          <a:bodyPr wrap="square" lIns="0" tIns="6000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</a:rPr>
              <a:t>Signal quality degrades over distance. Understanding impairments and regeneration is essential for long-haul networks.</a:t>
            </a:r>
          </a:p>
        </p:txBody>
      </p:sp>
      <p:sp>
        <p:nvSpPr>
          <p:cNvPr id="10" name="LeftCard"/>
          <p:cNvSpPr/>
          <p:nvPr/>
        </p:nvSpPr>
        <p:spPr>
          <a:xfrm>
            <a:off x="457200" y="1130000"/>
            <a:ext cx="4080000" cy="38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000" dist="200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LeftAccent"/>
          <p:cNvSpPr/>
          <p:nvPr/>
        </p:nvSpPr>
        <p:spPr>
          <a:xfrm>
            <a:off x="457200" y="1130000"/>
            <a:ext cx="55000" cy="38200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LeftHeader"/>
          <p:cNvSpPr/>
          <p:nvPr/>
        </p:nvSpPr>
        <p:spPr>
          <a:xfrm>
            <a:off x="572200" y="1165000"/>
            <a:ext cx="390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</a:rPr>
              <a:t>Signal Impairments</a:t>
            </a:r>
          </a:p>
        </p:txBody>
      </p:sp>
      <p:sp>
        <p:nvSpPr>
          <p:cNvPr id="20" name="Pill1"/>
          <p:cNvSpPr/>
          <p:nvPr/>
        </p:nvSpPr>
        <p:spPr>
          <a:xfrm>
            <a:off x="572200" y="1520000"/>
            <a:ext cx="3900000" cy="750000"/>
          </a:xfrm>
          <a:prstGeom prst="rect">
            <a:avLst/>
          </a:prstGeom>
          <a:solidFill>
            <a:srgbClr val="FEF2F2"/>
          </a:solidFill>
          <a:ln w="18000">
            <a:solidFill>
              <a:srgbClr val="FCA5A5"/>
            </a:solidFill>
          </a:ln>
        </p:spPr>
        <p:txBody>
          <a:bodyPr wrap="square" lIns="100000" tIns="80000" rIns="80000" bIns="800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</a:rPr>
              <a:t>⚡ Attenuation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7F1D1D"/>
                </a:solidFill>
                <a:latin typeface="Calibri" pitchFamily="34" charset="0"/>
              </a:rPr>
              <a:t>Signal strength decreases with distance (0.2 dB/km). Limits how far a signal can travel before needing amplification.</a:t>
            </a:r>
          </a:p>
        </p:txBody>
      </p:sp>
      <p:sp>
        <p:nvSpPr>
          <p:cNvPr id="21" name="Pill2"/>
          <p:cNvSpPr/>
          <p:nvPr/>
        </p:nvSpPr>
        <p:spPr>
          <a:xfrm>
            <a:off x="572200" y="2320000"/>
            <a:ext cx="3900000" cy="790000"/>
          </a:xfrm>
          <a:prstGeom prst="rect">
            <a:avLst/>
          </a:prstGeom>
          <a:solidFill>
            <a:srgbClr val="FFF7ED"/>
          </a:solidFill>
          <a:ln w="18000">
            <a:solidFill>
              <a:srgbClr val="FBD38D"/>
            </a:solidFill>
          </a:ln>
        </p:spPr>
        <p:txBody>
          <a:bodyPr wrap="square" lIns="100000" tIns="80000" rIns="80000" bIns="800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</a:rPr>
              <a:t>🌈 Chromatic Dispersion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78350F"/>
                </a:solidFill>
                <a:latin typeface="Calibri" pitchFamily="34" charset="0"/>
              </a:rPr>
              <a:t>Different wavelengths travel at slightly different speeds, spreading out pulses over distance and causing inter-symbol interference.</a:t>
            </a:r>
          </a:p>
        </p:txBody>
      </p:sp>
      <p:sp>
        <p:nvSpPr>
          <p:cNvPr id="22" name="Pill3"/>
          <p:cNvSpPr/>
          <p:nvPr/>
        </p:nvSpPr>
        <p:spPr>
          <a:xfrm>
            <a:off x="572200" y="3160000"/>
            <a:ext cx="3900000" cy="730000"/>
          </a:xfrm>
          <a:prstGeom prst="rect">
            <a:avLst/>
          </a:prstGeom>
          <a:solidFill>
            <a:srgbClr val="F0FDF4"/>
          </a:solidFill>
          <a:ln w="18000">
            <a:solidFill>
              <a:srgbClr val="86EFAC"/>
            </a:solidFill>
          </a:ln>
        </p:spPr>
        <p:txBody>
          <a:bodyPr wrap="square" lIns="100000" tIns="80000" rIns="80000" bIns="800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</a:rPr>
              <a:t>🌀 Nonlinear Effects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  <a:latin typeface="Calibri" pitchFamily="34" charset="0"/>
              </a:rPr>
              <a:t>At high power, fiber behaves nonlinearly — limits usable symbol rates and constrains system design.</a:t>
            </a:r>
          </a:p>
        </p:txBody>
      </p:sp>
      <p:sp>
        <p:nvSpPr>
          <p:cNvPr id="60" name="RightCard"/>
          <p:cNvSpPr/>
          <p:nvPr/>
        </p:nvSpPr>
        <p:spPr>
          <a:xfrm>
            <a:off x="4637200" y="1130000"/>
            <a:ext cx="4049600" cy="38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000" dist="200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RightAccent"/>
          <p:cNvSpPr/>
          <p:nvPr/>
        </p:nvSpPr>
        <p:spPr>
          <a:xfrm>
            <a:off x="4637200" y="1130000"/>
            <a:ext cx="55000" cy="3820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RightHeader"/>
          <p:cNvSpPr/>
          <p:nvPr/>
        </p:nvSpPr>
        <p:spPr>
          <a:xfrm>
            <a:off x="4752200" y="1165000"/>
            <a:ext cx="387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</a:rPr>
              <a:t>Regeneration &amp; OEO</a:t>
            </a:r>
          </a:p>
        </p:txBody>
      </p:sp>
      <p:sp>
        <p:nvSpPr>
          <p:cNvPr id="70" name="NodeA"/>
          <p:cNvSpPr/>
          <p:nvPr/>
        </p:nvSpPr>
        <p:spPr>
          <a:xfrm>
            <a:off x="4752200" y="1530000"/>
            <a:ext cx="600000" cy="300000"/>
          </a:xfrm>
          <a:prstGeom prst="roundRect">
            <a:avLst/>
          </a:prstGeom>
          <a:solidFill>
            <a:srgbClr val="1E40AF"/>
          </a:solidFill>
          <a:ln w="0">
            <a:noFill/>
          </a:ln>
        </p:spPr>
        <p:txBody>
          <a:bodyPr wrap="square" lIns="30000" tIns="0" rIns="3000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</a:rPr>
              <a:t>Node A</a:t>
            </a:r>
          </a:p>
        </p:txBody>
      </p:sp>
      <p:sp>
        <p:nvSpPr>
          <p:cNvPr id="71" name="FiberLine1"/>
          <p:cNvSpPr/>
          <p:nvPr/>
        </p:nvSpPr>
        <p:spPr>
          <a:xfrm>
            <a:off x="5392200" y="1658000"/>
            <a:ext cx="700000" cy="44000"/>
          </a:xfrm>
          <a:prstGeom prst="rightArrow">
            <a:avLst/>
          </a:prstGeom>
          <a:solidFill>
            <a:srgbClr val="94A3B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KmLabel1"/>
          <p:cNvSpPr/>
          <p:nvPr/>
        </p:nvSpPr>
        <p:spPr>
          <a:xfrm>
            <a:off x="5386056" y="1533043"/>
            <a:ext cx="7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</a:rPr>
              <a:t>~80–100 km</a:t>
            </a:r>
          </a:p>
        </p:txBody>
      </p:sp>
      <p:sp>
        <p:nvSpPr>
          <p:cNvPr id="74" name="FiberLine2"/>
          <p:cNvSpPr/>
          <p:nvPr/>
        </p:nvSpPr>
        <p:spPr>
          <a:xfrm>
            <a:off x="6713855" y="1665000"/>
            <a:ext cx="700000" cy="44000"/>
          </a:xfrm>
          <a:prstGeom prst="rightArrow">
            <a:avLst/>
          </a:prstGeom>
          <a:solidFill>
            <a:srgbClr val="0D94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5" name="KmLabel2"/>
          <p:cNvSpPr/>
          <p:nvPr/>
        </p:nvSpPr>
        <p:spPr>
          <a:xfrm>
            <a:off x="6713855" y="1520000"/>
            <a:ext cx="7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</a:rPr>
              <a:t>Refreshed!</a:t>
            </a:r>
          </a:p>
        </p:txBody>
      </p:sp>
      <p:sp>
        <p:nvSpPr>
          <p:cNvPr id="76" name="NodeB"/>
          <p:cNvSpPr/>
          <p:nvPr/>
        </p:nvSpPr>
        <p:spPr>
          <a:xfrm>
            <a:off x="7494681" y="1508000"/>
            <a:ext cx="600000" cy="300000"/>
          </a:xfrm>
          <a:prstGeom prst="roundRect">
            <a:avLst/>
          </a:prstGeom>
          <a:solidFill>
            <a:srgbClr val="1E40AF"/>
          </a:solidFill>
          <a:ln w="0">
            <a:noFill/>
          </a:ln>
        </p:spPr>
        <p:txBody>
          <a:bodyPr wrap="square" lIns="30000" tIns="0" rIns="3000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</a:rPr>
              <a:t>Node B</a:t>
            </a:r>
          </a:p>
        </p:txBody>
      </p:sp>
      <p:sp>
        <p:nvSpPr>
          <p:cNvPr id="80" name="OEOExplain"/>
          <p:cNvSpPr/>
          <p:nvPr/>
        </p:nvSpPr>
        <p:spPr>
          <a:xfrm>
            <a:off x="6788855" y="2608500"/>
            <a:ext cx="1250000" cy="29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0D9488"/>
            </a:solidFill>
          </a:ln>
        </p:spPr>
        <p:txBody>
          <a:bodyPr wrap="square" lIns="60000" tIns="0" rIns="6000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  <a:latin typeface="Calibri" pitchFamily="34" charset="0"/>
              </a:rPr>
              <a:t>Light → Elec → Light</a:t>
            </a:r>
          </a:p>
        </p:txBody>
      </p:sp>
      <p:sp>
        <p:nvSpPr>
          <p:cNvPr id="85" name="RightBullets"/>
          <p:cNvSpPr/>
          <p:nvPr/>
        </p:nvSpPr>
        <p:spPr>
          <a:xfrm>
            <a:off x="4752200" y="3059498"/>
            <a:ext cx="3870000" cy="1760502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t"/>
          <a:lstStyle/>
          <a:p>
            <a:pPr marL="228600" indent="-228600"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</a:rPr>
              <a:t>After max reach (~80–100 km), signal must be amplified/regenerated at an intermediate node</a:t>
            </a:r>
          </a:p>
          <a:p>
            <a:pPr marL="228600" indent="-228600"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</a:rPr>
              <a:t>Optical amplification(uses EDFA) – boosts several simultaneously along with the noise.</a:t>
            </a:r>
          </a:p>
          <a:p>
            <a:pPr marL="228600" indent="-228600"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</a:rPr>
              <a:t>OEO: light → electronics → light (new transmitter); restores signal quality</a:t>
            </a:r>
          </a:p>
          <a:p>
            <a:pPr marL="228600" indent="-228600">
              <a:buSzPct val="100000"/>
              <a:buChar char="●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</a:rPr>
              <a:t>Enables longer multi-segment paths across cities or continents</a:t>
            </a:r>
          </a:p>
        </p:txBody>
      </p:sp>
      <p:sp>
        <p:nvSpPr>
          <p:cNvPr id="90" name="KeyInsight"/>
          <p:cNvSpPr/>
          <p:nvPr/>
        </p:nvSpPr>
        <p:spPr>
          <a:xfrm>
            <a:off x="4752200" y="4870000"/>
            <a:ext cx="3870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EDFABlock">
            <a:extLst>
              <a:ext uri="{FF2B5EF4-FFF2-40B4-BE49-F238E27FC236}">
                <a16:creationId xmlns:a16="http://schemas.microsoft.com/office/drawing/2014/main" id="{1A63B782-1B8F-10EF-67CF-178E036BA495}"/>
              </a:ext>
            </a:extLst>
          </p:cNvPr>
          <p:cNvSpPr/>
          <p:nvPr/>
        </p:nvSpPr>
        <p:spPr>
          <a:xfrm>
            <a:off x="6020000" y="1485000"/>
            <a:ext cx="699999" cy="43500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txBody>
          <a:bodyPr wrap="square" lIns="30000" tIns="0" rIns="3000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</a:rPr>
              <a:t>To Increase the range</a:t>
            </a:r>
          </a:p>
        </p:txBody>
      </p:sp>
      <p:sp>
        <p:nvSpPr>
          <p:cNvPr id="6" name="OEOExplain">
            <a:extLst>
              <a:ext uri="{FF2B5EF4-FFF2-40B4-BE49-F238E27FC236}">
                <a16:creationId xmlns:a16="http://schemas.microsoft.com/office/drawing/2014/main" id="{353C7EAD-B5ED-7893-B9E8-4DD371CC5848}"/>
              </a:ext>
            </a:extLst>
          </p:cNvPr>
          <p:cNvSpPr/>
          <p:nvPr/>
        </p:nvSpPr>
        <p:spPr>
          <a:xfrm>
            <a:off x="6788855" y="2144250"/>
            <a:ext cx="1250000" cy="290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0D9488"/>
            </a:solidFill>
          </a:ln>
        </p:spPr>
        <p:txBody>
          <a:bodyPr wrap="square" lIns="60000" tIns="0" rIns="6000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  <a:latin typeface="Calibri" pitchFamily="34" charset="0"/>
              </a:rPr>
              <a:t>Optical Regeneration</a:t>
            </a:r>
          </a:p>
        </p:txBody>
      </p:sp>
      <p:sp>
        <p:nvSpPr>
          <p:cNvPr id="7" name="OEOExplain">
            <a:extLst>
              <a:ext uri="{FF2B5EF4-FFF2-40B4-BE49-F238E27FC236}">
                <a16:creationId xmlns:a16="http://schemas.microsoft.com/office/drawing/2014/main" id="{319C60A0-D19E-5F1D-CD6E-E151152B1701}"/>
              </a:ext>
            </a:extLst>
          </p:cNvPr>
          <p:cNvSpPr/>
          <p:nvPr/>
        </p:nvSpPr>
        <p:spPr>
          <a:xfrm>
            <a:off x="5052200" y="2144250"/>
            <a:ext cx="1250000" cy="29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0D9488"/>
            </a:solidFill>
          </a:ln>
        </p:spPr>
        <p:txBody>
          <a:bodyPr wrap="square" lIns="60000" tIns="0" rIns="6000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</a:rPr>
              <a:t>Optical Amplification</a:t>
            </a:r>
          </a:p>
        </p:txBody>
      </p:sp>
      <p:sp>
        <p:nvSpPr>
          <p:cNvPr id="8" name="OEOExplain">
            <a:extLst>
              <a:ext uri="{FF2B5EF4-FFF2-40B4-BE49-F238E27FC236}">
                <a16:creationId xmlns:a16="http://schemas.microsoft.com/office/drawing/2014/main" id="{4D38D35E-5BA1-36FB-3711-A01A7004CF20}"/>
              </a:ext>
            </a:extLst>
          </p:cNvPr>
          <p:cNvSpPr/>
          <p:nvPr/>
        </p:nvSpPr>
        <p:spPr>
          <a:xfrm>
            <a:off x="5052200" y="2603500"/>
            <a:ext cx="1250000" cy="29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solidFill>
              <a:srgbClr val="0D9488"/>
            </a:solidFill>
          </a:ln>
        </p:spPr>
        <p:txBody>
          <a:bodyPr wrap="square" lIns="60000" tIns="0" rIns="6000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766E"/>
                </a:solidFill>
                <a:latin typeface="Calibri" pitchFamily="34" charset="0"/>
              </a:rPr>
              <a:t>EDFA</a:t>
            </a:r>
          </a:p>
        </p:txBody>
      </p:sp>
      <p:sp>
        <p:nvSpPr>
          <p:cNvPr id="9" name="FiberLine2">
            <a:extLst>
              <a:ext uri="{FF2B5EF4-FFF2-40B4-BE49-F238E27FC236}">
                <a16:creationId xmlns:a16="http://schemas.microsoft.com/office/drawing/2014/main" id="{AE05F616-8969-935A-7BDE-0C9CF0EA0217}"/>
              </a:ext>
            </a:extLst>
          </p:cNvPr>
          <p:cNvSpPr/>
          <p:nvPr/>
        </p:nvSpPr>
        <p:spPr>
          <a:xfrm rot="1537232" flipV="1">
            <a:off x="6684557" y="2006118"/>
            <a:ext cx="421193" cy="45719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FiberLine2">
            <a:extLst>
              <a:ext uri="{FF2B5EF4-FFF2-40B4-BE49-F238E27FC236}">
                <a16:creationId xmlns:a16="http://schemas.microsoft.com/office/drawing/2014/main" id="{A1A69432-4B3A-D01C-5A1B-1CAD98E1843F}"/>
              </a:ext>
            </a:extLst>
          </p:cNvPr>
          <p:cNvSpPr/>
          <p:nvPr/>
        </p:nvSpPr>
        <p:spPr>
          <a:xfrm rot="8919320" flipV="1">
            <a:off x="5629129" y="1995264"/>
            <a:ext cx="421193" cy="4571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iberLine2">
            <a:extLst>
              <a:ext uri="{FF2B5EF4-FFF2-40B4-BE49-F238E27FC236}">
                <a16:creationId xmlns:a16="http://schemas.microsoft.com/office/drawing/2014/main" id="{031F97CD-A4F5-CF10-89EA-8117D3149408}"/>
              </a:ext>
            </a:extLst>
          </p:cNvPr>
          <p:cNvSpPr/>
          <p:nvPr/>
        </p:nvSpPr>
        <p:spPr>
          <a:xfrm rot="5400000">
            <a:off x="5590185" y="2508549"/>
            <a:ext cx="194314" cy="4571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FiberLine2">
            <a:extLst>
              <a:ext uri="{FF2B5EF4-FFF2-40B4-BE49-F238E27FC236}">
                <a16:creationId xmlns:a16="http://schemas.microsoft.com/office/drawing/2014/main" id="{2299976E-1D1C-E224-2A27-5FC478CEDD54}"/>
              </a:ext>
            </a:extLst>
          </p:cNvPr>
          <p:cNvSpPr/>
          <p:nvPr/>
        </p:nvSpPr>
        <p:spPr>
          <a:xfrm rot="5400000" flipV="1">
            <a:off x="7340148" y="2508034"/>
            <a:ext cx="186065" cy="55002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signal regeneration station is placed every 80–100 km along a long-haul fiber route.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1C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main reason for this?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658368"/>
          </a:xfrm>
          <a:prstGeom prst="rect">
            <a:avLst/>
          </a:prstGeom>
          <a:solidFill>
            <a:srgbClr val="1C2D5E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" y="1554480"/>
            <a:ext cx="7479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fiber cable must be spliced because it can only be manufactured in 100 km lengths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8229600" cy="658368"/>
          </a:xfrm>
          <a:prstGeom prst="rect">
            <a:avLst/>
          </a:prstGeom>
          <a:solidFill>
            <a:srgbClr val="1C2D5E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26771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15568" y="2359152"/>
            <a:ext cx="7479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pulses weaken over distance due to attenuation, and must be electrically regenerated to restore signal integrity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8229600" cy="658368"/>
          </a:xfrm>
          <a:prstGeom prst="rect">
            <a:avLst/>
          </a:prstGeom>
          <a:solidFill>
            <a:srgbClr val="1C2D5E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07238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15568" y="3163824"/>
            <a:ext cx="7479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wavelength of light changes over distance and must be recalibrated to the correct color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77056"/>
            <a:ext cx="8229600" cy="658368"/>
          </a:xfrm>
          <a:prstGeom prst="rect">
            <a:avLst/>
          </a:prstGeom>
          <a:solidFill>
            <a:srgbClr val="1C2D5E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87705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15568" y="3968496"/>
            <a:ext cx="7479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fiber requires cooling stations to prevent overheating at high data rates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68172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Hint: think about what "0.2 dB/km" means over 1000 km.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1 - Answers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signal regeneration station is placed every 80–100 km along a long-haul fiber route.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1C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main reason for this?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658368"/>
          </a:xfrm>
          <a:prstGeom prst="rect">
            <a:avLst/>
          </a:prstGeom>
          <a:solidFill>
            <a:srgbClr val="450A0A"/>
          </a:solidFill>
          <a:ln w="254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" y="1554480"/>
            <a:ext cx="7479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fiber cable must be spliced because it can only be manufactured in 100 km lengths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658368"/>
          </a:xfrm>
          <a:prstGeom prst="rect">
            <a:avLst/>
          </a:prstGeom>
          <a:solidFill>
            <a:srgbClr val="064E3B"/>
          </a:solidFill>
          <a:ln w="254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15568" y="2286000"/>
            <a:ext cx="7479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pulses weaken over distance due to attenuation, and must be electrically regenerated to restore signal integrity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8229600" cy="658368"/>
          </a:xfrm>
          <a:prstGeom prst="rect">
            <a:avLst/>
          </a:prstGeom>
          <a:solidFill>
            <a:srgbClr val="450A0A"/>
          </a:solidFill>
          <a:ln w="254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94436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15568" y="3035808"/>
            <a:ext cx="7479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wavelength of light changes over distance and must be recalibrated to the correct color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694176"/>
            <a:ext cx="8229600" cy="658368"/>
          </a:xfrm>
          <a:prstGeom prst="rect">
            <a:avLst/>
          </a:prstGeom>
          <a:solidFill>
            <a:srgbClr val="450A0A"/>
          </a:solidFill>
          <a:ln w="254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69417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15568" y="3785616"/>
            <a:ext cx="7479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fiber requires cooling stations to prevent overheating at high data rates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443984"/>
            <a:ext cx="8229600" cy="658368"/>
          </a:xfrm>
          <a:prstGeom prst="rect">
            <a:avLst/>
          </a:prstGeom>
          <a:solidFill>
            <a:srgbClr val="064E3B"/>
          </a:solidFill>
          <a:ln w="1905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5720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 — Attenuation (0.2 dB/km) accumulates. After ~100 km a signal can be too weak to read reliably. OEO regeneration (Optical→Electrical→Optical) restores full signal quality. The fiber itself is fine — it is the physics of light propagation that sets the limit.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80000"/>
            <a:ext cx="8229600" cy="5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</a:rPr>
              <a:t>Modulation Formats: Trading Reach for Capacity</a:t>
            </a:r>
          </a:p>
        </p:txBody>
      </p:sp>
      <p:sp>
        <p:nvSpPr>
          <p:cNvPr id="3" name="TitleBar"/>
          <p:cNvSpPr/>
          <p:nvPr/>
        </p:nvSpPr>
        <p:spPr>
          <a:xfrm>
            <a:off x="457200" y="730000"/>
            <a:ext cx="8229600" cy="220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ubtitle"/>
          <p:cNvSpPr/>
          <p:nvPr/>
        </p:nvSpPr>
        <p:spPr>
          <a:xfrm>
            <a:off x="457200" y="762000"/>
            <a:ext cx="8229600" cy="310000"/>
          </a:xfrm>
          <a:prstGeom prst="rect">
            <a:avLst/>
          </a:prstGeom>
          <a:noFill/>
          <a:ln/>
        </p:spPr>
        <p:txBody>
          <a:bodyPr wrap="square" lIns="0" tIns="5000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</a:rPr>
              <a:t>Each format encodes a different number of bits per symbol. More bits = more capacity but shorter reach.</a:t>
            </a:r>
          </a:p>
        </p:txBody>
      </p:sp>
      <p:sp>
        <p:nvSpPr>
          <p:cNvPr id="10" name="Card1BG"/>
          <p:cNvSpPr/>
          <p:nvPr/>
        </p:nvSpPr>
        <p:spPr>
          <a:xfrm>
            <a:off x="457200" y="1120000"/>
            <a:ext cx="2590000" cy="232773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000" dist="200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Card1Band"/>
          <p:cNvSpPr/>
          <p:nvPr/>
        </p:nvSpPr>
        <p:spPr>
          <a:xfrm>
            <a:off x="457200" y="1120000"/>
            <a:ext cx="2590000" cy="340000"/>
          </a:xfrm>
          <a:prstGeom prst="rect">
            <a:avLst/>
          </a:prstGeom>
          <a:solidFill>
            <a:srgbClr val="1E40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Card1Name"/>
          <p:cNvSpPr/>
          <p:nvPr/>
        </p:nvSpPr>
        <p:spPr>
          <a:xfrm>
            <a:off x="457200" y="1125000"/>
            <a:ext cx="2590000" cy="330000"/>
          </a:xfrm>
          <a:prstGeom prst="rect">
            <a:avLst/>
          </a:prstGeom>
          <a:noFill/>
          <a:ln/>
        </p:spPr>
        <p:txBody>
          <a:bodyPr wrap="square" lIns="8000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BPSK</a:t>
            </a:r>
          </a:p>
        </p:txBody>
      </p:sp>
      <p:sp>
        <p:nvSpPr>
          <p:cNvPr id="13" name="C1AxisBG"/>
          <p:cNvSpPr/>
          <p:nvPr/>
        </p:nvSpPr>
        <p:spPr>
          <a:xfrm>
            <a:off x="607200" y="1510000"/>
            <a:ext cx="760000" cy="7600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C1AxisH"/>
          <p:cNvSpPr/>
          <p:nvPr/>
        </p:nvSpPr>
        <p:spPr>
          <a:xfrm>
            <a:off x="607200" y="1889000"/>
            <a:ext cx="760000" cy="12700"/>
          </a:xfrm>
          <a:prstGeom prst="rect">
            <a:avLst/>
          </a:prstGeom>
          <a:solidFill>
            <a:srgbClr val="93C5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C1AxisV"/>
          <p:cNvSpPr/>
          <p:nvPr/>
        </p:nvSpPr>
        <p:spPr>
          <a:xfrm>
            <a:off x="981200" y="1510000"/>
            <a:ext cx="12700" cy="760000"/>
          </a:xfrm>
          <a:prstGeom prst="rect">
            <a:avLst/>
          </a:prstGeom>
          <a:solidFill>
            <a:srgbClr val="93C5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C1Dot1"/>
          <p:cNvSpPr/>
          <p:nvPr/>
        </p:nvSpPr>
        <p:spPr>
          <a:xfrm>
            <a:off x="660000" y="1853000"/>
            <a:ext cx="88000" cy="88000"/>
          </a:xfrm>
          <a:prstGeom prst="ellipse">
            <a:avLst/>
          </a:prstGeom>
          <a:solidFill>
            <a:srgbClr val="1E40A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C1Dot2"/>
          <p:cNvSpPr/>
          <p:nvPr/>
        </p:nvSpPr>
        <p:spPr>
          <a:xfrm>
            <a:off x="1214000" y="1853000"/>
            <a:ext cx="88000" cy="88000"/>
          </a:xfrm>
          <a:prstGeom prst="ellipse">
            <a:avLst/>
          </a:prstGeom>
          <a:solidFill>
            <a:srgbClr val="1E40A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C1LabelI"/>
          <p:cNvSpPr/>
          <p:nvPr/>
        </p:nvSpPr>
        <p:spPr>
          <a:xfrm>
            <a:off x="1360000" y="1868000"/>
            <a:ext cx="1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</a:rPr>
              <a:t>I</a:t>
            </a:r>
          </a:p>
        </p:txBody>
      </p:sp>
      <p:sp>
        <p:nvSpPr>
          <p:cNvPr id="19" name="C1LabelQ"/>
          <p:cNvSpPr/>
          <p:nvPr/>
        </p:nvSpPr>
        <p:spPr>
          <a:xfrm>
            <a:off x="981200" y="1480000"/>
            <a:ext cx="1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</a:rPr>
              <a:t>Q</a:t>
            </a:r>
          </a:p>
        </p:txBody>
      </p:sp>
      <p:sp>
        <p:nvSpPr>
          <p:cNvPr id="1950" name="C1SymCountHide"/>
          <p:cNvSpPr/>
          <p:nvPr/>
        </p:nvSpPr>
        <p:spPr>
          <a:xfrm>
            <a:off x="607200" y="2310000"/>
            <a:ext cx="76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20" name="Card1Stats"/>
          <p:cNvSpPr/>
          <p:nvPr/>
        </p:nvSpPr>
        <p:spPr>
          <a:xfrm>
            <a:off x="1430000" y="1520000"/>
            <a:ext cx="1500000" cy="76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</a:rPr>
              <a:t>1 bit/symbol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</a:rPr>
              <a:t>Max reach: ~2000 km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</a:rPr>
              <a:t>4 slots/Gbps</a:t>
            </a:r>
          </a:p>
        </p:txBody>
      </p:sp>
      <p:sp>
        <p:nvSpPr>
          <p:cNvPr id="21" name="C1ReachLabelHide"/>
          <p:cNvSpPr/>
          <p:nvPr/>
        </p:nvSpPr>
        <p:spPr>
          <a:xfrm>
            <a:off x="567200" y="2340000"/>
            <a:ext cx="4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</a:rPr>
              <a:t>Reach:</a:t>
            </a:r>
          </a:p>
        </p:txBody>
      </p:sp>
      <p:sp>
        <p:nvSpPr>
          <p:cNvPr id="22" name="C1ReachBar"/>
          <p:cNvSpPr/>
          <p:nvPr/>
        </p:nvSpPr>
        <p:spPr>
          <a:xfrm>
            <a:off x="567200" y="2340000"/>
            <a:ext cx="2360000" cy="150000"/>
          </a:xfrm>
          <a:prstGeom prst="rect">
            <a:avLst/>
          </a:prstGeom>
          <a:solidFill>
            <a:srgbClr val="1E40AF"/>
          </a:solidFill>
          <a:ln w="0">
            <a:noFill/>
          </a:ln>
        </p:spPr>
        <p:txBody>
          <a:bodyPr wrap="square" lIns="6000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</a:rPr>
              <a:t>Reach: ~2000 km ★★★</a:t>
            </a:r>
          </a:p>
        </p:txBody>
      </p:sp>
      <p:sp>
        <p:nvSpPr>
          <p:cNvPr id="23" name="C1UseCase"/>
          <p:cNvSpPr/>
          <p:nvPr/>
        </p:nvSpPr>
        <p:spPr>
          <a:xfrm>
            <a:off x="567200" y="2529999"/>
            <a:ext cx="2363000" cy="398301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80000" tIns="0" rIns="800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3A8A"/>
                </a:solidFill>
                <a:latin typeface="Calibri" pitchFamily="34" charset="0"/>
              </a:rPr>
              <a:t>🌊 Long-haul submarine &amp; cross-continent</a:t>
            </a:r>
          </a:p>
        </p:txBody>
      </p:sp>
      <p:sp>
        <p:nvSpPr>
          <p:cNvPr id="30" name="Card2BG"/>
          <p:cNvSpPr/>
          <p:nvPr/>
        </p:nvSpPr>
        <p:spPr>
          <a:xfrm>
            <a:off x="3148000" y="1120000"/>
            <a:ext cx="2590000" cy="232773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000" dist="200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Card2Band"/>
          <p:cNvSpPr/>
          <p:nvPr/>
        </p:nvSpPr>
        <p:spPr>
          <a:xfrm>
            <a:off x="3148000" y="1120000"/>
            <a:ext cx="2590000" cy="3400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Card2Name"/>
          <p:cNvSpPr/>
          <p:nvPr/>
        </p:nvSpPr>
        <p:spPr>
          <a:xfrm>
            <a:off x="3148000" y="1125000"/>
            <a:ext cx="2590000" cy="330000"/>
          </a:xfrm>
          <a:prstGeom prst="rect">
            <a:avLst/>
          </a:prstGeom>
          <a:noFill/>
          <a:ln/>
        </p:spPr>
        <p:txBody>
          <a:bodyPr wrap="square" lIns="8000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QPSK</a:t>
            </a:r>
          </a:p>
        </p:txBody>
      </p:sp>
      <p:sp>
        <p:nvSpPr>
          <p:cNvPr id="33" name="C2AxisBG"/>
          <p:cNvSpPr/>
          <p:nvPr/>
        </p:nvSpPr>
        <p:spPr>
          <a:xfrm>
            <a:off x="3298000" y="1510000"/>
            <a:ext cx="760000" cy="760000"/>
          </a:xfrm>
          <a:prstGeom prst="rect">
            <a:avLst/>
          </a:prstGeom>
          <a:solidFill>
            <a:srgbClr val="FFF7ED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C2AxisH"/>
          <p:cNvSpPr/>
          <p:nvPr/>
        </p:nvSpPr>
        <p:spPr>
          <a:xfrm>
            <a:off x="3298000" y="1889000"/>
            <a:ext cx="760000" cy="12700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C2AxisV"/>
          <p:cNvSpPr/>
          <p:nvPr/>
        </p:nvSpPr>
        <p:spPr>
          <a:xfrm>
            <a:off x="3672000" y="1510000"/>
            <a:ext cx="12700" cy="760000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C2DotNW"/>
          <p:cNvSpPr/>
          <p:nvPr/>
        </p:nvSpPr>
        <p:spPr>
          <a:xfrm>
            <a:off x="3437100" y="1667043"/>
            <a:ext cx="88000" cy="88000"/>
          </a:xfrm>
          <a:prstGeom prst="ellipse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C2DotNE"/>
          <p:cNvSpPr/>
          <p:nvPr/>
        </p:nvSpPr>
        <p:spPr>
          <a:xfrm>
            <a:off x="3806400" y="1667043"/>
            <a:ext cx="88000" cy="88000"/>
          </a:xfrm>
          <a:prstGeom prst="ellipse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C2DotSW"/>
          <p:cNvSpPr/>
          <p:nvPr/>
        </p:nvSpPr>
        <p:spPr>
          <a:xfrm>
            <a:off x="3427700" y="2002000"/>
            <a:ext cx="88000" cy="88000"/>
          </a:xfrm>
          <a:prstGeom prst="ellipse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C2DotSE"/>
          <p:cNvSpPr/>
          <p:nvPr/>
        </p:nvSpPr>
        <p:spPr>
          <a:xfrm>
            <a:off x="3801000" y="2002000"/>
            <a:ext cx="88000" cy="88000"/>
          </a:xfrm>
          <a:prstGeom prst="ellipse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1" name="C2LabelI"/>
          <p:cNvSpPr/>
          <p:nvPr/>
        </p:nvSpPr>
        <p:spPr>
          <a:xfrm>
            <a:off x="4050000" y="1868000"/>
            <a:ext cx="12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</a:rPr>
              <a:t>I</a:t>
            </a:r>
          </a:p>
        </p:txBody>
      </p:sp>
      <p:sp>
        <p:nvSpPr>
          <p:cNvPr id="392" name="C2LabelQ"/>
          <p:cNvSpPr/>
          <p:nvPr/>
        </p:nvSpPr>
        <p:spPr>
          <a:xfrm>
            <a:off x="3672000" y="1480000"/>
            <a:ext cx="12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</a:rPr>
              <a:t>Q</a:t>
            </a:r>
          </a:p>
        </p:txBody>
      </p:sp>
      <p:sp>
        <p:nvSpPr>
          <p:cNvPr id="3950" name="C2SymCountHide"/>
          <p:cNvSpPr/>
          <p:nvPr/>
        </p:nvSpPr>
        <p:spPr>
          <a:xfrm>
            <a:off x="3298000" y="2310000"/>
            <a:ext cx="76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40" name="Card2Stats"/>
          <p:cNvSpPr/>
          <p:nvPr/>
        </p:nvSpPr>
        <p:spPr>
          <a:xfrm>
            <a:off x="4120000" y="1520000"/>
            <a:ext cx="1500000" cy="76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</a:rPr>
              <a:t>2 bits/symbol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</a:rPr>
              <a:t>Max reach: ~1000 km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</a:rPr>
              <a:t>2 slots/Gbps</a:t>
            </a:r>
          </a:p>
        </p:txBody>
      </p:sp>
      <p:sp>
        <p:nvSpPr>
          <p:cNvPr id="41" name="C2ReachLabelHide"/>
          <p:cNvSpPr/>
          <p:nvPr/>
        </p:nvSpPr>
        <p:spPr>
          <a:xfrm>
            <a:off x="3258000" y="2340000"/>
            <a:ext cx="4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</a:rPr>
              <a:t>Reach:</a:t>
            </a:r>
          </a:p>
        </p:txBody>
      </p:sp>
      <p:sp>
        <p:nvSpPr>
          <p:cNvPr id="42" name="C2ReachBar"/>
          <p:cNvSpPr/>
          <p:nvPr/>
        </p:nvSpPr>
        <p:spPr>
          <a:xfrm>
            <a:off x="3258000" y="2340000"/>
            <a:ext cx="1420000" cy="1500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txBody>
          <a:bodyPr wrap="square" lIns="6000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</a:rPr>
              <a:t>Reach: ~1000 km ★★</a:t>
            </a:r>
          </a:p>
        </p:txBody>
      </p:sp>
      <p:sp>
        <p:nvSpPr>
          <p:cNvPr id="43" name="C2UseCase"/>
          <p:cNvSpPr/>
          <p:nvPr/>
        </p:nvSpPr>
        <p:spPr>
          <a:xfrm>
            <a:off x="3258000" y="2530000"/>
            <a:ext cx="2363000" cy="39830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wrap="square" lIns="80000" tIns="0" rIns="800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</a:rPr>
              <a:t>📡 Metro &amp; long-distance backbone segments</a:t>
            </a:r>
          </a:p>
        </p:txBody>
      </p:sp>
      <p:sp>
        <p:nvSpPr>
          <p:cNvPr id="50" name="Card3BG"/>
          <p:cNvSpPr/>
          <p:nvPr/>
        </p:nvSpPr>
        <p:spPr>
          <a:xfrm>
            <a:off x="5838800" y="1120000"/>
            <a:ext cx="2590000" cy="232773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000" dist="200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Card3Band"/>
          <p:cNvSpPr/>
          <p:nvPr/>
        </p:nvSpPr>
        <p:spPr>
          <a:xfrm>
            <a:off x="5838800" y="1120000"/>
            <a:ext cx="2590000" cy="340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Card3Name"/>
          <p:cNvSpPr/>
          <p:nvPr/>
        </p:nvSpPr>
        <p:spPr>
          <a:xfrm>
            <a:off x="5838800" y="1125000"/>
            <a:ext cx="2590000" cy="330000"/>
          </a:xfrm>
          <a:prstGeom prst="rect">
            <a:avLst/>
          </a:prstGeom>
          <a:noFill/>
          <a:ln/>
        </p:spPr>
        <p:txBody>
          <a:bodyPr wrap="square" lIns="8000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16-QAM</a:t>
            </a:r>
          </a:p>
        </p:txBody>
      </p:sp>
      <p:sp>
        <p:nvSpPr>
          <p:cNvPr id="53" name="C3AxisBG"/>
          <p:cNvSpPr/>
          <p:nvPr/>
        </p:nvSpPr>
        <p:spPr>
          <a:xfrm>
            <a:off x="5988800" y="1510000"/>
            <a:ext cx="760000" cy="760000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C3AxisH"/>
          <p:cNvSpPr/>
          <p:nvPr/>
        </p:nvSpPr>
        <p:spPr>
          <a:xfrm>
            <a:off x="5988800" y="1889000"/>
            <a:ext cx="760000" cy="12700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C3AxisV"/>
          <p:cNvSpPr/>
          <p:nvPr/>
        </p:nvSpPr>
        <p:spPr>
          <a:xfrm>
            <a:off x="6362800" y="1510000"/>
            <a:ext cx="12700" cy="760000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0" name="d00"/>
          <p:cNvSpPr/>
          <p:nvPr/>
        </p:nvSpPr>
        <p:spPr>
          <a:xfrm>
            <a:off x="6017000" y="1535000"/>
            <a:ext cx="52000" cy="520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1" name="d01"/>
          <p:cNvSpPr/>
          <p:nvPr/>
        </p:nvSpPr>
        <p:spPr>
          <a:xfrm>
            <a:off x="6213000" y="1535000"/>
            <a:ext cx="52000" cy="520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2" name="d02"/>
          <p:cNvSpPr/>
          <p:nvPr/>
        </p:nvSpPr>
        <p:spPr>
          <a:xfrm>
            <a:off x="6409000" y="1535000"/>
            <a:ext cx="52000" cy="520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3" name="d03"/>
          <p:cNvSpPr/>
          <p:nvPr/>
        </p:nvSpPr>
        <p:spPr>
          <a:xfrm>
            <a:off x="6605000" y="1535000"/>
            <a:ext cx="52000" cy="520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4" name="d10"/>
          <p:cNvSpPr/>
          <p:nvPr/>
        </p:nvSpPr>
        <p:spPr>
          <a:xfrm>
            <a:off x="6017000" y="1731000"/>
            <a:ext cx="52000" cy="520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5" name="d11"/>
          <p:cNvSpPr/>
          <p:nvPr/>
        </p:nvSpPr>
        <p:spPr>
          <a:xfrm>
            <a:off x="6213000" y="1731000"/>
            <a:ext cx="52000" cy="520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6" name="d12"/>
          <p:cNvSpPr/>
          <p:nvPr/>
        </p:nvSpPr>
        <p:spPr>
          <a:xfrm>
            <a:off x="6409000" y="1731000"/>
            <a:ext cx="52000" cy="520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7" name="d13"/>
          <p:cNvSpPr/>
          <p:nvPr/>
        </p:nvSpPr>
        <p:spPr>
          <a:xfrm>
            <a:off x="6605000" y="1731000"/>
            <a:ext cx="52000" cy="520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8" name="d20"/>
          <p:cNvSpPr/>
          <p:nvPr/>
        </p:nvSpPr>
        <p:spPr>
          <a:xfrm>
            <a:off x="6017000" y="1927000"/>
            <a:ext cx="52000" cy="520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9" name="d21"/>
          <p:cNvSpPr/>
          <p:nvPr/>
        </p:nvSpPr>
        <p:spPr>
          <a:xfrm>
            <a:off x="6213000" y="1927000"/>
            <a:ext cx="52000" cy="520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0" name="d22"/>
          <p:cNvSpPr/>
          <p:nvPr/>
        </p:nvSpPr>
        <p:spPr>
          <a:xfrm>
            <a:off x="6409000" y="1927000"/>
            <a:ext cx="52000" cy="520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1" name="d23"/>
          <p:cNvSpPr/>
          <p:nvPr/>
        </p:nvSpPr>
        <p:spPr>
          <a:xfrm>
            <a:off x="6605000" y="1927000"/>
            <a:ext cx="52000" cy="520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2" name="d30"/>
          <p:cNvSpPr/>
          <p:nvPr/>
        </p:nvSpPr>
        <p:spPr>
          <a:xfrm>
            <a:off x="6017000" y="2123000"/>
            <a:ext cx="52000" cy="520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3" name="d31"/>
          <p:cNvSpPr/>
          <p:nvPr/>
        </p:nvSpPr>
        <p:spPr>
          <a:xfrm>
            <a:off x="6213000" y="2123000"/>
            <a:ext cx="52000" cy="520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4" name="d32"/>
          <p:cNvSpPr/>
          <p:nvPr/>
        </p:nvSpPr>
        <p:spPr>
          <a:xfrm>
            <a:off x="6409000" y="2123000"/>
            <a:ext cx="52000" cy="520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5" name="d33"/>
          <p:cNvSpPr/>
          <p:nvPr/>
        </p:nvSpPr>
        <p:spPr>
          <a:xfrm>
            <a:off x="6605000" y="2123000"/>
            <a:ext cx="52000" cy="520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6" name="C3LabelI"/>
          <p:cNvSpPr/>
          <p:nvPr/>
        </p:nvSpPr>
        <p:spPr>
          <a:xfrm>
            <a:off x="6740000" y="1868000"/>
            <a:ext cx="12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</a:rPr>
              <a:t>I</a:t>
            </a:r>
          </a:p>
        </p:txBody>
      </p:sp>
      <p:sp>
        <p:nvSpPr>
          <p:cNvPr id="577" name="C3LabelQ"/>
          <p:cNvSpPr/>
          <p:nvPr/>
        </p:nvSpPr>
        <p:spPr>
          <a:xfrm>
            <a:off x="6362800" y="1480000"/>
            <a:ext cx="12000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</a:rPr>
              <a:t>Q</a:t>
            </a:r>
          </a:p>
        </p:txBody>
      </p:sp>
      <p:sp>
        <p:nvSpPr>
          <p:cNvPr id="5750" name="C3SymCountHide"/>
          <p:cNvSpPr/>
          <p:nvPr/>
        </p:nvSpPr>
        <p:spPr>
          <a:xfrm>
            <a:off x="5988800" y="2310000"/>
            <a:ext cx="76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/>
          </a:p>
        </p:txBody>
      </p:sp>
      <p:sp>
        <p:nvSpPr>
          <p:cNvPr id="58" name="Card3Stats"/>
          <p:cNvSpPr/>
          <p:nvPr/>
        </p:nvSpPr>
        <p:spPr>
          <a:xfrm>
            <a:off x="6810000" y="1520000"/>
            <a:ext cx="1500000" cy="76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</a:rPr>
              <a:t>4 bits/symbol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</a:rPr>
              <a:t>Max reach: ~500 km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</a:rPr>
              <a:t>1 slot/Gbps</a:t>
            </a:r>
          </a:p>
        </p:txBody>
      </p:sp>
      <p:sp>
        <p:nvSpPr>
          <p:cNvPr id="59" name="C3ReachLabelHide"/>
          <p:cNvSpPr/>
          <p:nvPr/>
        </p:nvSpPr>
        <p:spPr>
          <a:xfrm>
            <a:off x="5948800" y="2340000"/>
            <a:ext cx="46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</a:rPr>
              <a:t>Reach:</a:t>
            </a:r>
          </a:p>
        </p:txBody>
      </p:sp>
      <p:sp>
        <p:nvSpPr>
          <p:cNvPr id="60" name="C3ReachBar"/>
          <p:cNvSpPr/>
          <p:nvPr/>
        </p:nvSpPr>
        <p:spPr>
          <a:xfrm>
            <a:off x="5948800" y="2340000"/>
            <a:ext cx="1000000" cy="150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txBody>
          <a:bodyPr wrap="square" lIns="6000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</a:rPr>
              <a:t>Reach: ~500 km ★</a:t>
            </a:r>
          </a:p>
        </p:txBody>
      </p:sp>
      <p:sp>
        <p:nvSpPr>
          <p:cNvPr id="61" name="C3UseCase"/>
          <p:cNvSpPr/>
          <p:nvPr/>
        </p:nvSpPr>
        <p:spPr>
          <a:xfrm>
            <a:off x="5948800" y="2530000"/>
            <a:ext cx="2363000" cy="398300"/>
          </a:xfrm>
          <a:prstGeom prst="rect">
            <a:avLst/>
          </a:prstGeom>
          <a:solidFill>
            <a:srgbClr val="CCFBF1"/>
          </a:solidFill>
          <a:ln w="12700">
            <a:solidFill>
              <a:srgbClr val="5EEAD4"/>
            </a:solidFill>
          </a:ln>
        </p:spPr>
        <p:txBody>
          <a:bodyPr wrap="square" lIns="80000" tIns="0" rIns="8000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66E"/>
                </a:solidFill>
                <a:latin typeface="Calibri" pitchFamily="34" charset="0"/>
              </a:rPr>
              <a:t>🏙 Short-haul data-center interconnects &amp; metro rings</a:t>
            </a:r>
          </a:p>
        </p:txBody>
      </p:sp>
      <p:sp>
        <p:nvSpPr>
          <p:cNvPr id="70" name="InsightCard"/>
          <p:cNvSpPr/>
          <p:nvPr/>
        </p:nvSpPr>
        <p:spPr>
          <a:xfrm>
            <a:off x="452200" y="3696738"/>
            <a:ext cx="7971600" cy="120076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40000" dist="150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InsightAccent"/>
          <p:cNvSpPr/>
          <p:nvPr/>
        </p:nvSpPr>
        <p:spPr>
          <a:xfrm>
            <a:off x="452200" y="3696738"/>
            <a:ext cx="115000" cy="120076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InsightText"/>
          <p:cNvSpPr/>
          <p:nvPr/>
        </p:nvSpPr>
        <p:spPr>
          <a:xfrm>
            <a:off x="567200" y="3716738"/>
            <a:ext cx="7856600" cy="1211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</a:rPr>
              <a:t>The Segmentation Trick</a:t>
            </a:r>
          </a:p>
          <a:p>
            <a:pPr marL="0" indent="0">
              <a:buNone/>
            </a:pPr>
            <a:endParaRPr lang="en-US" sz="1300" b="1" dirty="0">
              <a:solidFill>
                <a:srgbClr val="D97706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</a:rPr>
              <a:t>Short segments → better modulation → fewer slots/Gbps → more slices per fiber</a:t>
            </a:r>
          </a:p>
          <a:p>
            <a:pPr marL="0" indent="0">
              <a:buNone/>
            </a:pPr>
            <a:endParaRPr lang="en-US" sz="1150" dirty="0">
              <a:solidFill>
                <a:srgbClr val="475569"/>
              </a:solidFill>
              <a:latin typeface="Calibri" pitchFamily="34" charset="0"/>
            </a:endParaRPr>
          </a:p>
          <a:p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 1500 km path between City A and City B must use BPSK, consuming 4 slots/Gbps. But if we split it at a waypoint into two 750 km segments, each segment can use QPSK — 2 slots/Gbps. This halves the spectrum cost.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Modulation Format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modulation table from the slide to answer these scenarios. Work with a partner — no calculator needed.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8229600" cy="384048"/>
          </a:xfrm>
          <a:prstGeom prst="rect">
            <a:avLst/>
          </a:prstGeom>
          <a:solidFill>
            <a:srgbClr val="1C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    |   Max Reach   |   Slots/Gbps   |   Bits/Symbol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822960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BPSK          2000 km          4 slots/Gbps          1 bit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32304"/>
            <a:ext cx="8229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4323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QPSK          1000 km          2 slots/Gbps          2 bit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16-QAM          500 km          1 slot/Gbps          4 bit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502920" cy="38404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332841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needs 20 Gbps between two data centres 400 km apart. Which modulation format do you use? How many spectrum slots?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502920" cy="38404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8992" y="378561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20 Gbps request needs to travel 1200 km instead. Now which format? How many slots? How does the slot count change vs Q1?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502920" cy="38404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78992" y="424281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WMSM algorithm splits the 1200 km path into two 600 km segments. Which format can each segment now use? Total slot count?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502920" cy="38404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78992" y="470001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WMSM segmentation approach in Q3 save slots compared to Q2? Write the ratio.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2 - Answer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Modulation Format — Worked Answers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621792" cy="7498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621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07008" y="1298448"/>
            <a:ext cx="7479792" cy="749808"/>
          </a:xfrm>
          <a:prstGeom prst="rect">
            <a:avLst/>
          </a:prstGeom>
          <a:solidFill>
            <a:srgbClr val="0D9488">
              <a:alpha val="10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53312" y="1389888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km ≤ 500 km → 16-QAM (1 slot/Gbps). Slots = 20 Gbps × 1 = 20 slots.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621792" cy="7498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621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07008" y="2212848"/>
            <a:ext cx="7479792" cy="749808"/>
          </a:xfrm>
          <a:prstGeom prst="rect">
            <a:avLst/>
          </a:prstGeom>
          <a:solidFill>
            <a:srgbClr val="D97706">
              <a:alpha val="10000"/>
            </a:srgbClr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53312" y="2304288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1200 km &gt; 1000 km → BPSK (4 slots/Gbps). Slots = 20 Gbps × 4 = 80 slots. 4× more expensive than Q1.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27248"/>
            <a:ext cx="621792" cy="7498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127248"/>
            <a:ext cx="621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207008" y="3127248"/>
            <a:ext cx="7479792" cy="749808"/>
          </a:xfrm>
          <a:prstGeom prst="rect">
            <a:avLst/>
          </a:prstGeom>
          <a:solidFill>
            <a:srgbClr val="0D9488">
              <a:alpha val="10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53312" y="3218688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segment is 600 km ≤ 1000 km → QPSK (2 slots/Gbps). Slots per segment = 20 × 2 = 40. Total = 40 slots (both segments run in parallel — you need 40 contiguous slots, not 80).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041648"/>
            <a:ext cx="621792" cy="7498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041648"/>
            <a:ext cx="621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207008" y="4041648"/>
            <a:ext cx="7479792" cy="749808"/>
          </a:xfrm>
          <a:prstGeom prst="rect">
            <a:avLst/>
          </a:prstGeom>
          <a:solidFill>
            <a:srgbClr val="7C3AED">
              <a:alpha val="10000"/>
            </a:srgbClr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53312" y="4133088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BPSK uses 80 slots; WMSM with QPSK uses 40 slots. Ratio: 2:1 saving. With 16-QAM segments ≤ 500 km the ratio would reach 4:1. This is the core efficiency gain from waypoint segmentation.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97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WDM and Elastic Optical Networks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colors of light, flexible spectrum grids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Wavelength Division Multiplexing (WDM)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optical fiber can carry many independent data streams simultaneously — each on a different wavelength (color) of light. This is WDM, and it multiplies fiber capacity by the number of channels.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6862" y="2331720"/>
            <a:ext cx="7719938" cy="411480"/>
          </a:xfrm>
          <a:prstGeom prst="rect">
            <a:avLst/>
          </a:prstGeom>
          <a:solidFill>
            <a:srgbClr val="F1F5F9"/>
          </a:solidFill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880360" y="2308854"/>
            <a:ext cx="3072384" cy="45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Fiber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flipV="1">
            <a:off x="966866" y="1481327"/>
            <a:ext cx="7719934" cy="9145"/>
          </a:xfrm>
          <a:prstGeom prst="line">
            <a:avLst/>
          </a:prstGeom>
          <a:noFill/>
          <a:ln w="25400">
            <a:solidFill>
              <a:srgbClr val="D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" y="13533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λ1 (1530nm)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66864" y="1645909"/>
            <a:ext cx="7719935" cy="11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" y="151790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λ2 (1535nm)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6864" y="1801357"/>
            <a:ext cx="7719936" cy="9155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" y="16824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λ3 (1540nm)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66862" y="1956805"/>
            <a:ext cx="7719937" cy="18299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" y="18470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λ4 (1545nm)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6862" y="2121397"/>
            <a:ext cx="7719938" cy="18299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" y="2011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λ5 (1550nm)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52928"/>
            <a:ext cx="2514600" cy="216128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852928"/>
            <a:ext cx="91440" cy="216128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" y="2944368"/>
            <a:ext cx="2258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DWDM Standard (ITU-T)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" y="3310128"/>
            <a:ext cx="2258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WDM: channels spaced at 50 GHz or 100 GHz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80–160 channels per fiber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grid: channels have fixed positions and widths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for homogeneous traffic but wastes spectrum for variable-size demands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08960" y="2852928"/>
            <a:ext cx="2606040" cy="216128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08960" y="2852928"/>
            <a:ext cx="73152" cy="216128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73552" y="2944368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Flex-Grid (Elastic)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273552" y="3310128"/>
            <a:ext cx="23500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can be any width in multiples of 6.25 GHz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channels for low-bandwidth flows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channels for high-bandwidth flows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slots are the basic unit — like pixels on a screen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52160" y="2852928"/>
            <a:ext cx="2834640" cy="216128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852160" y="2852928"/>
            <a:ext cx="100584" cy="216128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16752" y="294436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Numbers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16752" y="3310128"/>
            <a:ext cx="25786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channel: up to 400 Gbps with modern coherent optics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fiber (80 channels): up to 32 Tbps total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Transoceanic cable: dozens of fiber pairs per cable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Internet backbone: uses hundreds of WDM fiber links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Optical Networks: Fine-Grained Spectrum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Optical Networks (EONs) use a flex-grid where the spectrum is divided into 6.25 GHz slots. Connections are allocated a contiguous block of slots — no fixed channel positions.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82296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(C-band, ~4.8 THz total, 768 slots of 6.25 GHz)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645920" cy="621792"/>
          </a:xfrm>
          <a:prstGeom prst="rect">
            <a:avLst/>
          </a:prstGeom>
          <a:solidFill>
            <a:srgbClr val="0D9488">
              <a:alpha val="30000"/>
            </a:srgbClr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slots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81328" y="2103120"/>
            <a:ext cx="822960" cy="621792"/>
          </a:xfrm>
          <a:prstGeom prst="rect">
            <a:avLst/>
          </a:prstGeom>
          <a:solidFill>
            <a:srgbClr val="D97706">
              <a:alpha val="30000"/>
            </a:srgbClr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481328" y="210312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slot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97480" y="2103120"/>
            <a:ext cx="1964461" cy="621792"/>
          </a:xfrm>
          <a:prstGeom prst="rect">
            <a:avLst/>
          </a:prstGeom>
          <a:solidFill>
            <a:srgbClr val="7C3AED">
              <a:alpha val="30000"/>
            </a:srgbClr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97480" y="210312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slots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32120" y="2103120"/>
            <a:ext cx="1645920" cy="621792"/>
          </a:xfrm>
          <a:prstGeom prst="rect">
            <a:avLst/>
          </a:prstGeom>
          <a:solidFill>
            <a:srgbClr val="0D9488">
              <a:alpha val="30000"/>
            </a:srgbClr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32120" y="210312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slots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97646" y="2103120"/>
            <a:ext cx="685800" cy="621792"/>
          </a:xfrm>
          <a:prstGeom prst="rect">
            <a:avLst/>
          </a:prstGeom>
          <a:solidFill>
            <a:srgbClr val="D97706">
              <a:alpha val="30000"/>
            </a:srgbClr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97646" y="210312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04288" y="2103120"/>
            <a:ext cx="393192" cy="621792"/>
          </a:xfrm>
          <a:prstGeom prst="rect">
            <a:avLst/>
          </a:prstGeom>
          <a:solidFill>
            <a:srgbClr val="FEE2E2"/>
          </a:solidFill>
          <a:ln w="12700">
            <a:solidFill>
              <a:srgbClr val="D0000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04288" y="2103120"/>
            <a:ext cx="3931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>
                <a:solidFill>
                  <a:srgbClr val="D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59"/>
            <a:ext cx="2606040" cy="19614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73152" cy="183404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" y="2898648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Continuity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" y="3227832"/>
            <a:ext cx="235000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lightpath must use the same slot block on every link along its route — from source to destination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"continuity constraint" — it limits spectrum reuse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OEO conversion at a waypoint breaks this: each segment has its own independent spectrum block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2880359"/>
            <a:ext cx="2606040" cy="19614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64008" cy="196146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60420" y="2898648"/>
            <a:ext cx="2350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Contiguity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60420" y="3227832"/>
            <a:ext cx="235000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slots allocated to a connection must be adjacent — they form one contiguous block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 Gbps flow on QPSK needs 40 GHz = ceil(40/6.25) = 7 contiguous slots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Non-contiguous slots cannot be used for one connection in standard EON hardware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2880360"/>
            <a:ext cx="2743200" cy="196146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43600" y="2880360"/>
            <a:ext cx="64008" cy="196146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03620" y="28986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Fragmentation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03620" y="3227832"/>
            <a:ext cx="248716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connections arrive and depart, gaps appear between allocated blocks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gaps may not fit new connections even if total free spectrum is sufficient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 reduces effective capacity and increases blocking probability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Segment-wise allocation (WMSM) helps by using shorter segments more efficiently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7685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= Routing and Spectrum Assignment. Jointly choosing a path and slot block for each request is NP-hard.</a:t>
            </a:r>
            <a:endParaRPr lang="en-US" sz="1300" dirty="0"/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5897B629-12A2-FCD6-281F-28D9A7F65CAC}"/>
              </a:ext>
            </a:extLst>
          </p:cNvPr>
          <p:cNvSpPr/>
          <p:nvPr/>
        </p:nvSpPr>
        <p:spPr>
          <a:xfrm>
            <a:off x="4661941" y="2103120"/>
            <a:ext cx="897611" cy="621792"/>
          </a:xfrm>
          <a:prstGeom prst="rect">
            <a:avLst/>
          </a:prstGeom>
          <a:solidFill>
            <a:srgbClr val="FEE2E2"/>
          </a:solidFill>
          <a:ln w="12700">
            <a:solidFill>
              <a:srgbClr val="D00000"/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900" dirty="0">
                <a:solidFill>
                  <a:srgbClr val="D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F60BD5E2-18EF-886B-F9CD-D34DE072364C}"/>
              </a:ext>
            </a:extLst>
          </p:cNvPr>
          <p:cNvSpPr/>
          <p:nvPr/>
        </p:nvSpPr>
        <p:spPr>
          <a:xfrm>
            <a:off x="7178040" y="2103120"/>
            <a:ext cx="219606" cy="621792"/>
          </a:xfrm>
          <a:prstGeom prst="rect">
            <a:avLst/>
          </a:prstGeom>
          <a:solidFill>
            <a:srgbClr val="FEE2E2"/>
          </a:solidFill>
          <a:ln w="12700">
            <a:solidFill>
              <a:srgbClr val="D00000"/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900" dirty="0">
                <a:solidFill>
                  <a:srgbClr val="D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900" dirty="0"/>
          </a:p>
        </p:txBody>
      </p:sp>
      <p:pic>
        <p:nvPicPr>
          <p:cNvPr id="1026" name="Picture 2" descr="Contiguous Spectrum - an overview | ScienceDirect Topics">
            <a:extLst>
              <a:ext uri="{FF2B5EF4-FFF2-40B4-BE49-F238E27FC236}">
                <a16:creationId xmlns:a16="http://schemas.microsoft.com/office/drawing/2014/main" id="{BD9E794B-3479-A205-FF09-E741DD4DE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1654122"/>
            <a:ext cx="6604000" cy="318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 Gbps request needs to be routed over QPSK (2 slots/Gbps) on a flex-grid EON.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1C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slot assignment is valid?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658368"/>
          </a:xfrm>
          <a:prstGeom prst="rect">
            <a:avLst/>
          </a:prstGeom>
          <a:solidFill>
            <a:srgbClr val="1C2D5E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" y="1554480"/>
            <a:ext cx="7479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1, 3, 5, 7, 9, 11 — six non-contiguous slots across the spectrum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8229600" cy="658368"/>
          </a:xfrm>
          <a:prstGeom prst="rect">
            <a:avLst/>
          </a:prstGeom>
          <a:solidFill>
            <a:srgbClr val="1C2D5E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26771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15568" y="2359152"/>
            <a:ext cx="7479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10–12 on Link 1, and slots 15–17 on Link 2 (different blocks on each link)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8229600" cy="658368"/>
          </a:xfrm>
          <a:prstGeom prst="rect">
            <a:avLst/>
          </a:prstGeom>
          <a:solidFill>
            <a:srgbClr val="1C2D5E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07238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15568" y="3163824"/>
            <a:ext cx="7479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10–69 — a contiguous 60-slot block on every link along the path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77056"/>
            <a:ext cx="8229600" cy="658368"/>
          </a:xfrm>
          <a:prstGeom prst="rect">
            <a:avLst/>
          </a:prstGeom>
          <a:solidFill>
            <a:srgbClr val="1C2D5E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87705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15568" y="3968496"/>
            <a:ext cx="7479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10–69 on Link 1 only — the other links can use any free slots independently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68172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Recall: 30 Gbps × 2 slots/Gbps = 60 slots needed. Two constraints to satisfy.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3 - Answer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 Gbps request needs to be routed over QPSK (2 slots/Gbps) on a flex-grid EON.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1C2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slot assignment is valid?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658368"/>
          </a:xfrm>
          <a:prstGeom prst="rect">
            <a:avLst/>
          </a:prstGeom>
          <a:solidFill>
            <a:srgbClr val="450A0A"/>
          </a:solidFill>
          <a:ln w="254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15568" y="1554480"/>
            <a:ext cx="7479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1, 3, 5, 7, 9, 11 — six non-contiguous slots across the spectrum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8229600" cy="658368"/>
          </a:xfrm>
          <a:prstGeom prst="rect">
            <a:avLst/>
          </a:prstGeom>
          <a:solidFill>
            <a:srgbClr val="450A0A"/>
          </a:solidFill>
          <a:ln w="254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26771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15568" y="2359152"/>
            <a:ext cx="7479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10–12 on Link 1, and slots 15–17 on Link 2 (different blocks on each link)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72384"/>
            <a:ext cx="8229600" cy="658368"/>
          </a:xfrm>
          <a:prstGeom prst="rect">
            <a:avLst/>
          </a:prstGeom>
          <a:solidFill>
            <a:srgbClr val="064E3B"/>
          </a:solidFill>
          <a:ln w="2540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07238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15568" y="3163824"/>
            <a:ext cx="7479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10–69 — a contiguous 60-slot block on every link along the path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77056"/>
            <a:ext cx="8229600" cy="658368"/>
          </a:xfrm>
          <a:prstGeom prst="rect">
            <a:avLst/>
          </a:prstGeom>
          <a:solidFill>
            <a:srgbClr val="450A0A"/>
          </a:solidFill>
          <a:ln w="254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87705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15568" y="3968496"/>
            <a:ext cx="7479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10–69 on Link 1 only — the other links can use any free slots independently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8229600" cy="475488"/>
          </a:xfrm>
          <a:prstGeom prst="rect">
            <a:avLst/>
          </a:prstGeom>
          <a:solidFill>
            <a:srgbClr val="064E3B"/>
          </a:solidFill>
          <a:ln w="1905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5720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 — 30 Gbps × 2 slots/Gbps = 60 contiguous slots. A violates contiguity (non-adjacent). B violates continuity (different slots on different links). D violates continuity (same block required on ALL links). C satisfies both constraints.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97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Space Division Multiplexing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third dimension — spatial cores — to multiply fiber capacity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80000"/>
            <a:ext cx="8229600" cy="5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</a:rPr>
              <a:t>From Single-Core to Multi-Core Fiber</a:t>
            </a:r>
          </a:p>
        </p:txBody>
      </p:sp>
      <p:sp>
        <p:nvSpPr>
          <p:cNvPr id="3" name="TitleBar"/>
          <p:cNvSpPr/>
          <p:nvPr/>
        </p:nvSpPr>
        <p:spPr>
          <a:xfrm>
            <a:off x="457200" y="730000"/>
            <a:ext cx="8229600" cy="220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ubtitle"/>
          <p:cNvSpPr/>
          <p:nvPr/>
        </p:nvSpPr>
        <p:spPr>
          <a:xfrm>
            <a:off x="457200" y="762000"/>
            <a:ext cx="8229600" cy="340000"/>
          </a:xfrm>
          <a:prstGeom prst="rect">
            <a:avLst/>
          </a:prstGeom>
          <a:noFill/>
          <a:ln/>
        </p:spPr>
        <p:txBody>
          <a:bodyPr wrap="square" lIns="0" tIns="5000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</a:rPr>
              <a:t>Traditional fiber has one glass core. SDM packs multiple cores into one cable — each core independently carrying WDM channels.</a:t>
            </a:r>
          </a:p>
        </p:txBody>
      </p:sp>
      <p:sp>
        <p:nvSpPr>
          <p:cNvPr id="10" name="Hdr1"/>
          <p:cNvSpPr/>
          <p:nvPr/>
        </p:nvSpPr>
        <p:spPr>
          <a:xfrm>
            <a:off x="457200" y="1200000"/>
            <a:ext cx="27432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40AF"/>
                </a:solidFill>
                <a:latin typeface="Calibri" pitchFamily="34" charset="0"/>
              </a:rPr>
              <a:t>Single-Core Fiber</a:t>
            </a:r>
          </a:p>
        </p:txBody>
      </p:sp>
      <p:sp>
        <p:nvSpPr>
          <p:cNvPr id="11" name="Hdr2"/>
          <p:cNvSpPr/>
          <p:nvPr/>
        </p:nvSpPr>
        <p:spPr>
          <a:xfrm>
            <a:off x="3200400" y="1200000"/>
            <a:ext cx="27432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D97706"/>
                </a:solidFill>
                <a:latin typeface="Calibri" pitchFamily="34" charset="0"/>
              </a:rPr>
              <a:t>7-Core MCF</a:t>
            </a:r>
          </a:p>
        </p:txBody>
      </p:sp>
      <p:sp>
        <p:nvSpPr>
          <p:cNvPr id="12" name="Hdr3"/>
          <p:cNvSpPr/>
          <p:nvPr/>
        </p:nvSpPr>
        <p:spPr>
          <a:xfrm>
            <a:off x="5943600" y="1200000"/>
            <a:ext cx="27432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</a:rPr>
              <a:t>19-Core MCF</a:t>
            </a:r>
          </a:p>
        </p:txBody>
      </p:sp>
      <p:sp>
        <p:nvSpPr>
          <p:cNvPr id="20" name="D1Jacket"/>
          <p:cNvSpPr/>
          <p:nvPr/>
        </p:nvSpPr>
        <p:spPr>
          <a:xfrm>
            <a:off x="1028800" y="1660000"/>
            <a:ext cx="1600000" cy="1600000"/>
          </a:xfrm>
          <a:prstGeom prst="ellipse">
            <a:avLst/>
          </a:prstGeom>
          <a:solidFill>
            <a:srgbClr val="33415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D1Cladding"/>
          <p:cNvSpPr/>
          <p:nvPr/>
        </p:nvSpPr>
        <p:spPr>
          <a:xfrm>
            <a:off x="1088800" y="1720000"/>
            <a:ext cx="1480000" cy="1480000"/>
          </a:xfrm>
          <a:prstGeom prst="ellipse">
            <a:avLst/>
          </a:prstGeom>
          <a:solidFill>
            <a:srgbClr val="BFDBF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D1Core"/>
          <p:cNvSpPr/>
          <p:nvPr/>
        </p:nvSpPr>
        <p:spPr>
          <a:xfrm>
            <a:off x="1688800" y="2360000"/>
            <a:ext cx="240000" cy="240000"/>
          </a:xfrm>
          <a:prstGeom prst="ellipse">
            <a:avLst/>
          </a:prstGeom>
          <a:solidFill>
            <a:srgbClr val="1E40A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D1CoreLabel"/>
          <p:cNvSpPr/>
          <p:nvPr/>
        </p:nvSpPr>
        <p:spPr>
          <a:xfrm>
            <a:off x="1028800" y="3330000"/>
            <a:ext cx="16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</a:rPr>
              <a:t>1 core</a:t>
            </a:r>
          </a:p>
        </p:txBody>
      </p:sp>
      <p:sp>
        <p:nvSpPr>
          <p:cNvPr id="24" name="D1Cap"/>
          <p:cNvSpPr/>
          <p:nvPr/>
        </p:nvSpPr>
        <p:spPr>
          <a:xfrm>
            <a:off x="1028800" y="3580000"/>
            <a:ext cx="1600000" cy="22000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</a:ln>
        </p:spPr>
        <p:txBody>
          <a:bodyPr wrap="square" lIns="60000" tIns="0" rIns="6000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</a:rPr>
              <a:t>Baseline: 1× capacity</a:t>
            </a:r>
          </a:p>
        </p:txBody>
      </p:sp>
      <p:sp>
        <p:nvSpPr>
          <p:cNvPr id="30" name="D2Jacket"/>
          <p:cNvSpPr/>
          <p:nvPr/>
        </p:nvSpPr>
        <p:spPr>
          <a:xfrm>
            <a:off x="3772000" y="1660000"/>
            <a:ext cx="1600000" cy="1600000"/>
          </a:xfrm>
          <a:prstGeom prst="ellipse">
            <a:avLst/>
          </a:prstGeom>
          <a:solidFill>
            <a:srgbClr val="33415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D2Cladding"/>
          <p:cNvSpPr/>
          <p:nvPr/>
        </p:nvSpPr>
        <p:spPr>
          <a:xfrm>
            <a:off x="3832000" y="1720000"/>
            <a:ext cx="1480000" cy="1480000"/>
          </a:xfrm>
          <a:prstGeom prst="ellipse">
            <a:avLst/>
          </a:prstGeom>
          <a:solidFill>
            <a:srgbClr val="FEF3C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D2C0"/>
          <p:cNvSpPr/>
          <p:nvPr/>
        </p:nvSpPr>
        <p:spPr>
          <a:xfrm>
            <a:off x="4462000" y="2350000"/>
            <a:ext cx="220000" cy="220000"/>
          </a:xfrm>
          <a:prstGeom prst="ellipse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D2C1"/>
          <p:cNvSpPr/>
          <p:nvPr/>
        </p:nvSpPr>
        <p:spPr>
          <a:xfrm>
            <a:off x="4762000" y="2350000"/>
            <a:ext cx="220000" cy="220000"/>
          </a:xfrm>
          <a:prstGeom prst="ellipse">
            <a:avLst/>
          </a:prstGeom>
          <a:solidFill>
            <a:srgbClr val="B4530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D2C2"/>
          <p:cNvSpPr/>
          <p:nvPr/>
        </p:nvSpPr>
        <p:spPr>
          <a:xfrm>
            <a:off x="4612000" y="2610000"/>
            <a:ext cx="220000" cy="220000"/>
          </a:xfrm>
          <a:prstGeom prst="ellipse">
            <a:avLst/>
          </a:prstGeom>
          <a:solidFill>
            <a:srgbClr val="B4530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D2C3"/>
          <p:cNvSpPr/>
          <p:nvPr/>
        </p:nvSpPr>
        <p:spPr>
          <a:xfrm>
            <a:off x="4312000" y="2610000"/>
            <a:ext cx="220000" cy="220000"/>
          </a:xfrm>
          <a:prstGeom prst="ellipse">
            <a:avLst/>
          </a:prstGeom>
          <a:solidFill>
            <a:srgbClr val="B4530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D2C4"/>
          <p:cNvSpPr/>
          <p:nvPr/>
        </p:nvSpPr>
        <p:spPr>
          <a:xfrm>
            <a:off x="4162000" y="2350000"/>
            <a:ext cx="220000" cy="220000"/>
          </a:xfrm>
          <a:prstGeom prst="ellipse">
            <a:avLst/>
          </a:prstGeom>
          <a:solidFill>
            <a:srgbClr val="B4530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D2C5"/>
          <p:cNvSpPr/>
          <p:nvPr/>
        </p:nvSpPr>
        <p:spPr>
          <a:xfrm>
            <a:off x="4312000" y="2090000"/>
            <a:ext cx="220000" cy="220000"/>
          </a:xfrm>
          <a:prstGeom prst="ellipse">
            <a:avLst/>
          </a:prstGeom>
          <a:solidFill>
            <a:srgbClr val="B4530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D2C6"/>
          <p:cNvSpPr/>
          <p:nvPr/>
        </p:nvSpPr>
        <p:spPr>
          <a:xfrm>
            <a:off x="4612000" y="2090000"/>
            <a:ext cx="220000" cy="220000"/>
          </a:xfrm>
          <a:prstGeom prst="ellipse">
            <a:avLst/>
          </a:prstGeom>
          <a:solidFill>
            <a:srgbClr val="B4530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D2CoreLabel"/>
          <p:cNvSpPr/>
          <p:nvPr/>
        </p:nvSpPr>
        <p:spPr>
          <a:xfrm>
            <a:off x="3772000" y="3330000"/>
            <a:ext cx="16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</a:rPr>
              <a:t>7 cores</a:t>
            </a:r>
          </a:p>
        </p:txBody>
      </p:sp>
      <p:sp>
        <p:nvSpPr>
          <p:cNvPr id="40" name="D2Cap"/>
          <p:cNvSpPr/>
          <p:nvPr/>
        </p:nvSpPr>
        <p:spPr>
          <a:xfrm>
            <a:off x="3772000" y="3580000"/>
            <a:ext cx="1600000" cy="22000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</a:ln>
        </p:spPr>
        <p:txBody>
          <a:bodyPr wrap="square" lIns="60000" tIns="0" rIns="6000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</a:rPr>
              <a:t>7× capacity</a:t>
            </a:r>
          </a:p>
        </p:txBody>
      </p:sp>
      <p:sp>
        <p:nvSpPr>
          <p:cNvPr id="50" name="D3Jacket"/>
          <p:cNvSpPr/>
          <p:nvPr/>
        </p:nvSpPr>
        <p:spPr>
          <a:xfrm>
            <a:off x="6515200" y="1660000"/>
            <a:ext cx="1600000" cy="1600000"/>
          </a:xfrm>
          <a:prstGeom prst="ellipse">
            <a:avLst/>
          </a:prstGeom>
          <a:solidFill>
            <a:srgbClr val="33415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D3Cladding"/>
          <p:cNvSpPr/>
          <p:nvPr/>
        </p:nvSpPr>
        <p:spPr>
          <a:xfrm>
            <a:off x="6575200" y="1720000"/>
            <a:ext cx="1480000" cy="1480000"/>
          </a:xfrm>
          <a:prstGeom prst="ellipse">
            <a:avLst/>
          </a:prstGeom>
          <a:solidFill>
            <a:srgbClr val="CCFB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D3C0"/>
          <p:cNvSpPr/>
          <p:nvPr/>
        </p:nvSpPr>
        <p:spPr>
          <a:xfrm>
            <a:off x="7243200" y="2388000"/>
            <a:ext cx="144000" cy="14400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D3C1"/>
          <p:cNvSpPr/>
          <p:nvPr/>
        </p:nvSpPr>
        <p:spPr>
          <a:xfrm>
            <a:off x="7443200" y="2388000"/>
            <a:ext cx="144000" cy="144000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D3C2"/>
          <p:cNvSpPr/>
          <p:nvPr/>
        </p:nvSpPr>
        <p:spPr>
          <a:xfrm>
            <a:off x="7343200" y="2561000"/>
            <a:ext cx="144000" cy="144000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D3C3"/>
          <p:cNvSpPr/>
          <p:nvPr/>
        </p:nvSpPr>
        <p:spPr>
          <a:xfrm>
            <a:off x="7143200" y="2561000"/>
            <a:ext cx="144000" cy="144000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D3C4"/>
          <p:cNvSpPr/>
          <p:nvPr/>
        </p:nvSpPr>
        <p:spPr>
          <a:xfrm>
            <a:off x="7043200" y="2388000"/>
            <a:ext cx="144000" cy="144000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7" name="D3C5"/>
          <p:cNvSpPr/>
          <p:nvPr/>
        </p:nvSpPr>
        <p:spPr>
          <a:xfrm>
            <a:off x="7143200" y="2215000"/>
            <a:ext cx="144000" cy="144000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" name="D3C6"/>
          <p:cNvSpPr/>
          <p:nvPr/>
        </p:nvSpPr>
        <p:spPr>
          <a:xfrm>
            <a:off x="7343200" y="2215000"/>
            <a:ext cx="144000" cy="144000"/>
          </a:xfrm>
          <a:prstGeom prst="ellipse">
            <a:avLst/>
          </a:prstGeom>
          <a:solidFill>
            <a:srgbClr val="0F766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D3C7"/>
          <p:cNvSpPr/>
          <p:nvPr/>
        </p:nvSpPr>
        <p:spPr>
          <a:xfrm>
            <a:off x="7643200" y="2388000"/>
            <a:ext cx="144000" cy="144000"/>
          </a:xfrm>
          <a:prstGeom prst="ellipse">
            <a:avLst/>
          </a:prstGeom>
          <a:solidFill>
            <a:srgbClr val="5EEAD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D3C8"/>
          <p:cNvSpPr/>
          <p:nvPr/>
        </p:nvSpPr>
        <p:spPr>
          <a:xfrm>
            <a:off x="7543200" y="2561000"/>
            <a:ext cx="144000" cy="144000"/>
          </a:xfrm>
          <a:prstGeom prst="ellipse">
            <a:avLst/>
          </a:prstGeom>
          <a:solidFill>
            <a:srgbClr val="5EEAD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D3C9"/>
          <p:cNvSpPr/>
          <p:nvPr/>
        </p:nvSpPr>
        <p:spPr>
          <a:xfrm>
            <a:off x="7443200" y="2734000"/>
            <a:ext cx="144000" cy="144000"/>
          </a:xfrm>
          <a:prstGeom prst="ellipse">
            <a:avLst/>
          </a:prstGeom>
          <a:solidFill>
            <a:srgbClr val="5EEAD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2" name="D3C10"/>
          <p:cNvSpPr/>
          <p:nvPr/>
        </p:nvSpPr>
        <p:spPr>
          <a:xfrm>
            <a:off x="7243200" y="2734000"/>
            <a:ext cx="144000" cy="144000"/>
          </a:xfrm>
          <a:prstGeom prst="ellipse">
            <a:avLst/>
          </a:prstGeom>
          <a:solidFill>
            <a:srgbClr val="5EEAD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3" name="D3C11"/>
          <p:cNvSpPr/>
          <p:nvPr/>
        </p:nvSpPr>
        <p:spPr>
          <a:xfrm>
            <a:off x="7043200" y="2734000"/>
            <a:ext cx="144000" cy="144000"/>
          </a:xfrm>
          <a:prstGeom prst="ellipse">
            <a:avLst/>
          </a:prstGeom>
          <a:solidFill>
            <a:srgbClr val="5EEAD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D3C12"/>
          <p:cNvSpPr/>
          <p:nvPr/>
        </p:nvSpPr>
        <p:spPr>
          <a:xfrm>
            <a:off x="6943200" y="2561000"/>
            <a:ext cx="144000" cy="144000"/>
          </a:xfrm>
          <a:prstGeom prst="ellipse">
            <a:avLst/>
          </a:prstGeom>
          <a:solidFill>
            <a:srgbClr val="5EEAD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5" name="D3C13"/>
          <p:cNvSpPr/>
          <p:nvPr/>
        </p:nvSpPr>
        <p:spPr>
          <a:xfrm>
            <a:off x="6843200" y="2388000"/>
            <a:ext cx="144000" cy="144000"/>
          </a:xfrm>
          <a:prstGeom prst="ellipse">
            <a:avLst/>
          </a:prstGeom>
          <a:solidFill>
            <a:srgbClr val="5EEAD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D3C14"/>
          <p:cNvSpPr/>
          <p:nvPr/>
        </p:nvSpPr>
        <p:spPr>
          <a:xfrm>
            <a:off x="6943200" y="2215000"/>
            <a:ext cx="144000" cy="144000"/>
          </a:xfrm>
          <a:prstGeom prst="ellipse">
            <a:avLst/>
          </a:prstGeom>
          <a:solidFill>
            <a:srgbClr val="5EEAD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D3C15"/>
          <p:cNvSpPr/>
          <p:nvPr/>
        </p:nvSpPr>
        <p:spPr>
          <a:xfrm>
            <a:off x="7043200" y="2042000"/>
            <a:ext cx="144000" cy="144000"/>
          </a:xfrm>
          <a:prstGeom prst="ellipse">
            <a:avLst/>
          </a:prstGeom>
          <a:solidFill>
            <a:srgbClr val="5EEAD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8" name="D3C16"/>
          <p:cNvSpPr/>
          <p:nvPr/>
        </p:nvSpPr>
        <p:spPr>
          <a:xfrm>
            <a:off x="7243200" y="2042000"/>
            <a:ext cx="144000" cy="144000"/>
          </a:xfrm>
          <a:prstGeom prst="ellipse">
            <a:avLst/>
          </a:prstGeom>
          <a:solidFill>
            <a:srgbClr val="5EEAD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9" name="D3C17"/>
          <p:cNvSpPr/>
          <p:nvPr/>
        </p:nvSpPr>
        <p:spPr>
          <a:xfrm>
            <a:off x="7443200" y="2042000"/>
            <a:ext cx="144000" cy="144000"/>
          </a:xfrm>
          <a:prstGeom prst="ellipse">
            <a:avLst/>
          </a:prstGeom>
          <a:solidFill>
            <a:srgbClr val="5EEAD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D3C18"/>
          <p:cNvSpPr/>
          <p:nvPr/>
        </p:nvSpPr>
        <p:spPr>
          <a:xfrm>
            <a:off x="7543200" y="2215000"/>
            <a:ext cx="144000" cy="144000"/>
          </a:xfrm>
          <a:prstGeom prst="ellipse">
            <a:avLst/>
          </a:prstGeom>
          <a:solidFill>
            <a:srgbClr val="5EEAD4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D3CoreLabel"/>
          <p:cNvSpPr/>
          <p:nvPr/>
        </p:nvSpPr>
        <p:spPr>
          <a:xfrm>
            <a:off x="6515200" y="3330000"/>
            <a:ext cx="16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</a:rPr>
              <a:t>19 cores</a:t>
            </a:r>
          </a:p>
        </p:txBody>
      </p:sp>
      <p:sp>
        <p:nvSpPr>
          <p:cNvPr id="72" name="D3Cap"/>
          <p:cNvSpPr/>
          <p:nvPr/>
        </p:nvSpPr>
        <p:spPr>
          <a:xfrm>
            <a:off x="6515200" y="3580000"/>
            <a:ext cx="1600000" cy="220000"/>
          </a:xfrm>
          <a:prstGeom prst="rect">
            <a:avLst/>
          </a:prstGeom>
          <a:solidFill>
            <a:srgbClr val="CCFBF1"/>
          </a:solidFill>
          <a:ln w="12700">
            <a:solidFill>
              <a:srgbClr val="5EEAD4"/>
            </a:solidFill>
          </a:ln>
        </p:spPr>
        <p:txBody>
          <a:bodyPr wrap="square" lIns="60000" tIns="0" rIns="6000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</a:rPr>
              <a:t>19× capacity</a:t>
            </a:r>
          </a:p>
        </p:txBody>
      </p:sp>
      <p:sp>
        <p:nvSpPr>
          <p:cNvPr id="80" name="Leg7Ctr"/>
          <p:cNvSpPr/>
          <p:nvPr/>
        </p:nvSpPr>
        <p:spPr>
          <a:xfrm>
            <a:off x="3772000" y="3860000"/>
            <a:ext cx="16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● center  ○ ring</a:t>
            </a:r>
          </a:p>
        </p:txBody>
      </p:sp>
      <p:sp>
        <p:nvSpPr>
          <p:cNvPr id="81" name="Leg19"/>
          <p:cNvSpPr/>
          <p:nvPr/>
        </p:nvSpPr>
        <p:spPr>
          <a:xfrm>
            <a:off x="6515200" y="3860000"/>
            <a:ext cx="16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</a:rPr>
              <a:t>center / inner ring / outer ring</a:t>
            </a:r>
          </a:p>
        </p:txBody>
      </p:sp>
      <p:sp>
        <p:nvSpPr>
          <p:cNvPr id="90" name="CapCallout"/>
          <p:cNvSpPr/>
          <p:nvPr/>
        </p:nvSpPr>
        <p:spPr>
          <a:xfrm>
            <a:off x="457200" y="4200000"/>
            <a:ext cx="8229600" cy="7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40000" dist="150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1" name="CapCalloutAccent"/>
          <p:cNvSpPr/>
          <p:nvPr/>
        </p:nvSpPr>
        <p:spPr>
          <a:xfrm>
            <a:off x="457200" y="4200000"/>
            <a:ext cx="50000" cy="7600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CapCalloutText"/>
          <p:cNvSpPr/>
          <p:nvPr/>
        </p:nvSpPr>
        <p:spPr>
          <a:xfrm>
            <a:off x="567200" y="4230000"/>
            <a:ext cx="8059600" cy="700000"/>
          </a:xfrm>
          <a:prstGeom prst="rect">
            <a:avLst/>
          </a:prstGeom>
          <a:noFill/>
          <a:ln/>
        </p:spPr>
        <p:txBody>
          <a:bodyPr wrap="square" lIns="60000" tIns="60000" rIns="60000" bIns="600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</a:rPr>
              <a:t>Capacity multiplication: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</a:rPr>
              <a:t>A 7-core MCF with 120 slots per core provides 7× the capacity of a single-core fiber with the same slot count.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 Inter-Core Crosstalk (IC-XT)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cores in a multi-core fiber are placed adjacent to each other, light leaks from one core into its neighbors. This is inter-core crosstalk — it degrades signal quality and limits capacity.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199" y="1572769"/>
            <a:ext cx="8229599" cy="98169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72769"/>
            <a:ext cx="64008" cy="98169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572768"/>
            <a:ext cx="8065006" cy="294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Causes Crosstalk?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829774"/>
            <a:ext cx="8065006" cy="741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propagating in a core creates an evanescent field that extends slightly beyond the core boundary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cores that are physically close pick up a small fraction of this field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crosstalk accumulates over the fiber length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crosstalk = more noise = lower SNR = must use lower-order modulation format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17134"/>
            <a:ext cx="8229598" cy="103136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617134"/>
            <a:ext cx="64008" cy="1031363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567505"/>
            <a:ext cx="80650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Crosstalk Geometry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" y="2854225"/>
            <a:ext cx="8065006" cy="794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core (core 7 in 7-MCF) is adjacent to all 6 outer cores — highest crosstalk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cores are adjacent to the center and 2 other outer cores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Non-adjacent cores have negligible crosstalk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if we assign a connection to core 1, we should avoid assigning another connection to any adjacent core on the same link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199" y="3711168"/>
            <a:ext cx="3080480" cy="130304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199" y="3711168"/>
            <a:ext cx="82296" cy="130304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9495" y="3699723"/>
            <a:ext cx="299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Slice Embedding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1" y="4028907"/>
            <a:ext cx="2915888" cy="985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Crosstalk awareness is a hard constraint — not a soft preference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that ignores IC-XT may produce solutions that look feasible on paper but fail in practice</a:t>
            </a:r>
            <a:endParaRPr lang="en-US" sz="1000" dirty="0"/>
          </a:p>
        </p:txBody>
      </p:sp>
      <p:pic>
        <p:nvPicPr>
          <p:cNvPr id="2050" name="Picture 2" descr="Inter-core crosstalk in a multi-core fiber. | Download Scientific Diagram">
            <a:extLst>
              <a:ext uri="{FF2B5EF4-FFF2-40B4-BE49-F238E27FC236}">
                <a16:creationId xmlns:a16="http://schemas.microsoft.com/office/drawing/2014/main" id="{C504A493-98F1-784C-823E-AA0B425AB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124" y="3796057"/>
            <a:ext cx="5066673" cy="134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These Slices Share the Link?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7-core fiber partitions cores into three non-adjacent groups: G1 = {1, 3, 5}  ·  G2 = {2, 4, 6}  ·  G3 = {7 — center core}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39646" y="1714500"/>
            <a:ext cx="475488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9646" y="1714500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06574" y="1751076"/>
            <a:ext cx="33155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A uses core group G1. Slice B uses core group G2 on the same link. Is this safe from crosstalk? Why?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39646" y="2438225"/>
            <a:ext cx="475488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9646" y="2438225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06574" y="2474801"/>
            <a:ext cx="33155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C uses core group G1. Slice D also wants core group G1 on the same link, same spectrum slot. Is this possible?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39646" y="3122676"/>
            <a:ext cx="475488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39646" y="3122676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06574" y="3159252"/>
            <a:ext cx="33155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E is assigned G3 (the center core). The network also wants to assign Slice F to G1 on the same link. Is there a crosstalk problem? Explain.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39646" y="3872484"/>
            <a:ext cx="475488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39646" y="3872484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06574" y="3909060"/>
            <a:ext cx="340546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request arrives and only core group G3 has free slots. The previous operator always avoided G3. Should they accept the request? What is the trade-off?</a:t>
            </a:r>
            <a:endParaRPr lang="en-US" sz="125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13EABB9-8353-9A28-30ED-615AC9258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0697" y="1388951"/>
            <a:ext cx="4783258" cy="346786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4 - Answer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These Slices Share the Link? — Answers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566928" cy="7315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52144" y="1298448"/>
            <a:ext cx="7534656" cy="731520"/>
          </a:xfrm>
          <a:prstGeom prst="rect">
            <a:avLst/>
          </a:prstGeom>
          <a:solidFill>
            <a:srgbClr val="0D9488">
              <a:alpha val="10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98448" y="1389888"/>
            <a:ext cx="7278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G1 and G2 use non-adjacent cores by design ({1,3,5} and {2,4,6} never share a boundary). The group strategy exists precisely to allow this safe co-use.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566928" cy="7315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52144" y="2194560"/>
            <a:ext cx="7534656" cy="731520"/>
          </a:xfrm>
          <a:prstGeom prst="rect">
            <a:avLst/>
          </a:prstGeom>
          <a:solidFill>
            <a:srgbClr val="D97706">
              <a:alpha val="10000"/>
            </a:srgbClr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98448" y="2286000"/>
            <a:ext cx="7278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the same group on the same link with the same spectrum slot would mean two signals on the same core. That is a direct collision, not a crosstalk issue — it is simply impossible. Different slot blocks on G1 could co-exist, but same slot = blocked.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566928" cy="73152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090672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52144" y="3090672"/>
            <a:ext cx="7534656" cy="731520"/>
          </a:xfrm>
          <a:prstGeom prst="rect">
            <a:avLst/>
          </a:prstGeom>
          <a:solidFill>
            <a:srgbClr val="D97706">
              <a:alpha val="10000"/>
            </a:srgbClr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98448" y="3182112"/>
            <a:ext cx="7278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is the center core (core 7) which is adjacent to ALL six outer cores. G1 uses cores 1, 3, 5 — all adjacent to core 7. There IS a crosstalk risk between G3 and any G1/G2 assignment on the same link. This is why G3 is used cautiously.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986784"/>
            <a:ext cx="566928" cy="7315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986784"/>
            <a:ext cx="566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52144" y="3986784"/>
            <a:ext cx="7534656" cy="731520"/>
          </a:xfrm>
          <a:prstGeom prst="rect">
            <a:avLst/>
          </a:prstGeom>
          <a:solidFill>
            <a:srgbClr val="7C3AED">
              <a:alpha val="10000"/>
            </a:srgbClr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98448" y="4078224"/>
            <a:ext cx="72786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accepting gives the request capacity but exposes G3 and any co-located groups to higher crosstalk. The operator must weigh revenue vs signal quality degradation. In practice, G3 is often reserved for low-priority or short-reach flows where SNR headroom exists.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977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4: The RMCSA Problem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· Modulation · Core · Spectrum Assignment — all at once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RMCSA: Four Coupled Decisions per Slice Request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incoming slice request, four interrelated decisions must be made simultaneously. Solving them independently leads to infeasible or suboptimal allocations.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1481328" cy="685800"/>
          </a:xfrm>
          <a:prstGeom prst="rect">
            <a:avLst/>
          </a:prstGeom>
          <a:solidFill>
            <a:srgbClr val="D97706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Arrives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38528" y="1915668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03120" y="1572768"/>
            <a:ext cx="1481328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03120" y="157276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Routing: Find path(s)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84448" y="1915668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749040" y="1572768"/>
            <a:ext cx="1481328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49040" y="157276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Modulation: per segment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30368" y="1915668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94960" y="1572768"/>
            <a:ext cx="1481328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94960" y="157276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assign group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76288" y="1915668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40880" y="1572768"/>
            <a:ext cx="1481328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0" y="157276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Spectrum: allocate slots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395728"/>
            <a:ext cx="1920240" cy="43891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23957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Routing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2880360"/>
            <a:ext cx="19202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feasible path from source s to destination d in the physical topology. For long paths: may split into segments at compute-capable waypoints.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606040" y="2395728"/>
            <a:ext cx="1920240" cy="43891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06040" y="23957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— Modulation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06040" y="2880360"/>
            <a:ext cx="19202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modulation format for each segment based on segment length. Longer → BPSK (4 slots/Gbps). Shorter → 16-QAM (1 slot/Gbps). Determines slot count.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2395728"/>
            <a:ext cx="1920240" cy="43891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23957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Core Selection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54880" y="2880360"/>
            <a:ext cx="19202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non-adjacent core group to the request. Must avoid placing adjacent-core requests simultaneously on the same link (IC-XT constraint).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903720" y="2395728"/>
            <a:ext cx="1920240" cy="438912"/>
          </a:xfrm>
          <a:prstGeom prst="rect">
            <a:avLst/>
          </a:prstGeom>
          <a:solidFill>
            <a:srgbClr val="1C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903720" y="239572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— Spectrum Assignment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03720" y="2880360"/>
            <a:ext cx="19202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a contiguous block of slots on the selected core, on every link along the segment. The same slot block must be used on all links in the segment (continuity).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74904" y="467258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jointly? Routing determines segment lengths → segment lengths determine modulation → modulation determines slot count → slot count determines feasibility. Each decision depends on all others.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 Embedding in SDM-EONs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slice request is a virtual network: virtual compute nodes (hosting VNFs) and virtual links (requiring bandwidth). Embedding means mapping this virtual topology onto the physical SDM-EON.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199" y="1572768"/>
            <a:ext cx="7576457" cy="163317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91440" cy="163317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6615" y="1630255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Embedding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5216" y="2033566"/>
            <a:ext cx="7252498" cy="1075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nodes → physical compute-capable nodes (respecting capacity)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links → physical paths with spectrum allocated on each link (respecting capacity and continuity)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latency, availability, and SLA must all be satisfied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work: one virtual node maps to exactly one physical node (1:1 mapping)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7576456" cy="154173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337558"/>
            <a:ext cx="91440" cy="154173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6615" y="3400495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Hard (NP-Hard)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5216" y="3795486"/>
            <a:ext cx="7252498" cy="1083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alone is NP-hard (proven reduction from graph coloring)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compute placement, crosstalk constraints, and modulation selection makes it harder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ILP is only feasible for tiny static instances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networks process 50,000+ dynamic requests — need fast heuristics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8EB452-A915-B6C7-7590-ED34DADF5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301A7E9-0043-6B86-B53F-2BD8369D1FF3}"/>
              </a:ext>
            </a:extLst>
          </p:cNvPr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Network Embedding in SDM-EONs</a:t>
            </a:r>
            <a:endParaRPr lang="en-US" sz="30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962AC72-060A-F9A2-0446-6EC2FDD90DBF}"/>
              </a:ext>
            </a:extLst>
          </p:cNvPr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1440C1C-0C0F-60F9-7238-F4116B2A6B70}"/>
              </a:ext>
            </a:extLst>
          </p:cNvPr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slice request is a virtual network: virtual compute nodes (hosting VNFs) and virtual links (requiring bandwidth). Embedding means mapping this virtual topology onto the physical SDM-EON.</a:t>
            </a:r>
            <a:endParaRPr lang="en-US" sz="14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556A8FD-8E59-C4B9-DBAF-610FE6D9FD3B}"/>
              </a:ext>
            </a:extLst>
          </p:cNvPr>
          <p:cNvSpPr/>
          <p:nvPr/>
        </p:nvSpPr>
        <p:spPr>
          <a:xfrm>
            <a:off x="508726" y="1543739"/>
            <a:ext cx="8126548" cy="163317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1C59742-AD40-C7CD-616B-8A5E5A2F97F8}"/>
              </a:ext>
            </a:extLst>
          </p:cNvPr>
          <p:cNvSpPr/>
          <p:nvPr/>
        </p:nvSpPr>
        <p:spPr>
          <a:xfrm>
            <a:off x="508726" y="1543739"/>
            <a:ext cx="64007" cy="163317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7B61D64-0530-7C60-0981-25F1B766F8A1}"/>
              </a:ext>
            </a:extLst>
          </p:cNvPr>
          <p:cNvSpPr/>
          <p:nvPr/>
        </p:nvSpPr>
        <p:spPr>
          <a:xfrm>
            <a:off x="781885" y="1540144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Extension: Controlled Co-location</a:t>
            </a:r>
            <a:endParaRPr lang="en-US" sz="14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7534354-FB19-E4FE-1DE2-7F22F26460E2}"/>
              </a:ext>
            </a:extLst>
          </p:cNvPr>
          <p:cNvSpPr/>
          <p:nvPr/>
        </p:nvSpPr>
        <p:spPr>
          <a:xfrm>
            <a:off x="673318" y="2000939"/>
            <a:ext cx="767239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virtual nodes can be mapped to the same physical node (co-location)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number of virtual links needing physical provisioning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Lowers total cost and improves utilization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single point of failure — handled by capacity checks and SLA constraints</a:t>
            </a:r>
            <a:endParaRPr lang="en-US" sz="12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530FAEB-2B05-A777-DDCA-C780CD9FDA2B}"/>
              </a:ext>
            </a:extLst>
          </p:cNvPr>
          <p:cNvSpPr/>
          <p:nvPr/>
        </p:nvSpPr>
        <p:spPr>
          <a:xfrm>
            <a:off x="508726" y="3308528"/>
            <a:ext cx="8126548" cy="15417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698A1F1-6296-30DF-1335-0FF3BA4F7CCD}"/>
              </a:ext>
            </a:extLst>
          </p:cNvPr>
          <p:cNvSpPr/>
          <p:nvPr/>
        </p:nvSpPr>
        <p:spPr>
          <a:xfrm>
            <a:off x="508726" y="3308529"/>
            <a:ext cx="73152" cy="154173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6CE85F6-D2A0-8792-4796-96A40100A44F}"/>
              </a:ext>
            </a:extLst>
          </p:cNvPr>
          <p:cNvSpPr/>
          <p:nvPr/>
        </p:nvSpPr>
        <p:spPr>
          <a:xfrm>
            <a:off x="781885" y="3279302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Heuristic Strategy</a:t>
            </a:r>
            <a:endParaRPr lang="en-US" sz="1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03BEF266-A350-7B8A-01E5-CD8CACA227BC}"/>
              </a:ext>
            </a:extLst>
          </p:cNvPr>
          <p:cNvSpPr/>
          <p:nvPr/>
        </p:nvSpPr>
        <p:spPr>
          <a:xfrm>
            <a:off x="673318" y="3817257"/>
            <a:ext cx="7672396" cy="103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joint optimization: solve stages in sequence but couple them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enumerate paths. Stage 2: place compute at waypoints. Stage 3: select modulation. Stage 4: allocate spectrum.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stage's output constrains the next — coupling is preserved without exponential complexity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715572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Direct Path-Driven Slice Mapping (DPSM)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DPSM is our baseline algorithm. It finds a direct end-to-end path, places compute greedily at the first feasible node, and allocates spectrum based on total path modulation.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1481328" cy="685800"/>
          </a:xfrm>
          <a:prstGeom prst="rect">
            <a:avLst/>
          </a:prstGeom>
          <a:solidFill>
            <a:srgbClr val="D97706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Request: (s, d, BW, Creq)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38528" y="1915668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03120" y="1572768"/>
            <a:ext cx="1481328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103120" y="157276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Dijkstra: k=3 shortest paths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84448" y="1915668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749040" y="1572768"/>
            <a:ext cx="1481328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49040" y="157276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compute: first node meeting Creq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30368" y="1915668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94960" y="1572768"/>
            <a:ext cx="1481328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94960" y="157276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Modulation: based on full path length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76288" y="1915668"/>
            <a:ext cx="164592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40880" y="1572768"/>
            <a:ext cx="1481328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0" y="1572768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spectrum end-to-end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395728"/>
            <a:ext cx="38404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395728"/>
            <a:ext cx="64008" cy="153619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7220" y="2409519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DPSM Does Well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4222" y="2711196"/>
            <a:ext cx="35844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fast: straightforward Dijkstra + greedy compute placement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when compute is abundant and paths are short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baseline for lightly loaded networks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34840" y="2395728"/>
            <a:ext cx="425196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434840" y="2395728"/>
            <a:ext cx="64008" cy="153619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99432" y="2409519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DPSM Weaknesses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99432" y="2738627"/>
            <a:ext cx="399592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compute placement can create hot spots — one node gets overloaded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awareness of segment-level spectrum fragmentation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rises sharply at moderate-to-high loads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069080"/>
            <a:ext cx="8183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4069080"/>
            <a:ext cx="64008" cy="658368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1792" y="4036999"/>
            <a:ext cx="7927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DPSM-Balanced variant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" y="4302252"/>
            <a:ext cx="7927848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placement by choosing the compute node closest to the path midpoint — maximizing the chance that both segments qualify for higher-order modulation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Waypoint-Assisted Multi-Segment Slice Mapping (WMSM)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end-to-end path with one modulation, WMSM splits the path at compute-capable waypoints and optimizes each segment independently.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WMSM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56816"/>
            <a:ext cx="822960" cy="621792"/>
          </a:xfrm>
          <a:prstGeom prst="line">
            <a:avLst/>
          </a:prstGeom>
          <a:solidFill>
            <a:srgbClr val="1C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956816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80160" y="2267712"/>
            <a:ext cx="6675120" cy="0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28800" y="186537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km  →  BPSK  →  4 slots/Gbps  (expensive!)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0" y="1956816"/>
            <a:ext cx="822960" cy="621792"/>
          </a:xfrm>
          <a:prstGeom prst="line">
            <a:avLst/>
          </a:prstGeom>
          <a:solidFill>
            <a:srgbClr val="1C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55280" y="1956816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7249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WMSM (waypoint at midpoint)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" cy="621792"/>
          </a:xfrm>
          <a:prstGeom prst="line">
            <a:avLst/>
          </a:prstGeom>
          <a:solidFill>
            <a:srgbClr val="1C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10896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280160" y="3419856"/>
            <a:ext cx="292608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80160" y="3017520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km → 16-QAM → 1 slot/Gbps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24528" y="3035808"/>
            <a:ext cx="914400" cy="768096"/>
          </a:xfrm>
          <a:prstGeom prst="rect">
            <a:avLst/>
          </a:prstGeom>
          <a:solidFill>
            <a:srgbClr val="D97706">
              <a:alpha val="30000"/>
            </a:srgbClr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24528" y="3035808"/>
            <a:ext cx="914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38928" y="3419856"/>
            <a:ext cx="2816352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38928" y="3017520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km → 16-QAM → 1 slot/Gbps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0" y="3108960"/>
            <a:ext cx="822960" cy="621792"/>
          </a:xfrm>
          <a:prstGeom prst="line">
            <a:avLst/>
          </a:prstGeom>
          <a:solidFill>
            <a:srgbClr val="1C2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955280" y="310896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WMSM: Algorithm Walkthrough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request (s, d, BW, Creq), WMSM executes these stages in order. Each stage uses the output of the previous stage.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502920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554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Waypoint Enumeration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520440" y="1554480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all compute-capable nodes W ⊆ V</a:t>
            </a:r>
            <a:r>
              <a:rPr lang="en-US" sz="1150" baseline="-25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such that total available compute capacity ≥ C</a:t>
            </a:r>
            <a:r>
              <a:rPr lang="en-US" sz="1150" baseline="-25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Restrict to at most 2 waypoints for tractability.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502920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21214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Segment Path Computation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20440" y="2121408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waypoint configuration, compute up to k=2 shortest paths per segment (s→w</a:t>
            </a:r>
            <a:r>
              <a:rPr lang="en-US" sz="1150" baseline="-25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(w</a:t>
            </a:r>
            <a:r>
              <a:rPr lang="en-US" sz="1150" baseline="-25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→w</a:t>
            </a:r>
            <a:r>
              <a:rPr lang="en-US" sz="1150" baseline="-25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(w</a:t>
            </a:r>
            <a:r>
              <a:rPr lang="en-US" sz="1150" baseline="-25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→d). Estimate segment length D</a:t>
            </a:r>
            <a:r>
              <a:rPr lang="en-US" sz="1150" baseline="-25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670048"/>
            <a:ext cx="502920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67004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26883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Modulation Selection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520440" y="2688336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modulation per segment based on D</a:t>
            </a:r>
            <a:r>
              <a:rPr lang="en-US" sz="1150" baseline="-25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16-QAM if D</a:t>
            </a:r>
            <a:r>
              <a:rPr lang="en-US" sz="1150" baseline="-25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≤ 500 km, QPSK if D</a:t>
            </a:r>
            <a:r>
              <a:rPr lang="en-US" sz="1150" baseline="-25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≤ 1000 km, BPSK otherwise. Compute slot count S</a:t>
            </a:r>
            <a:r>
              <a:rPr lang="en-US" sz="1150" baseline="-25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BW × η(M</a:t>
            </a:r>
            <a:r>
              <a:rPr lang="en-US" sz="1150" baseline="-25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236976"/>
            <a:ext cx="502920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23697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" y="32552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Configuration Selection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20440" y="3255264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waypoint configuration W* that minimizes total slot usage ΣS</a:t>
            </a:r>
            <a:r>
              <a:rPr lang="en-US" sz="1150" baseline="-25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WMSM-B also penalizes segment imbalance λ·δW (balanced placement).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803904"/>
            <a:ext cx="502920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80390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822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Spectrum Allocation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520440" y="3822192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segment: select core group with highest available slot ratio. Allocate S</a:t>
            </a:r>
            <a:r>
              <a:rPr lang="en-US" sz="1150" baseline="-25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contiguous slots on the first eligible core. If any segment fails, try next configuration.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370832"/>
            <a:ext cx="502920" cy="4754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37083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4389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Compute Allocation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520440" y="4389120"/>
            <a:ext cx="5166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C</a:t>
            </a:r>
            <a:r>
              <a:rPr lang="en-US" sz="1150" baseline="-25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</a:t>
            </a: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selected waypoint nodes. Update network state. If all configurations fail: block the request.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WMSM Results: ICCCN 2026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 14-node NSFNET, 7 cores, 120 slots/core, 50,000 requests, 30 independent runs. High compute capacity scenario (4000 units/node).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2468880" cy="1188720"/>
          </a:xfrm>
          <a:prstGeom prst="rect">
            <a:avLst/>
          </a:prstGeom>
          <a:solidFill>
            <a:srgbClr val="D97706">
              <a:alpha val="12000"/>
            </a:srgbClr>
          </a:solidFill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27%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221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blocking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vs DPSM at high load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63240" y="1536192"/>
            <a:ext cx="2468880" cy="1188720"/>
          </a:xfrm>
          <a:prstGeom prst="rect">
            <a:avLst/>
          </a:prstGeom>
          <a:solidFill>
            <a:srgbClr val="0D9488">
              <a:alpha val="12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63240" y="16276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47%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063240" y="2221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provisioning cost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Sorted/Greedy baselines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0" y="1536192"/>
            <a:ext cx="2468880" cy="1188720"/>
          </a:xfrm>
          <a:prstGeom prst="rect">
            <a:avLst/>
          </a:prstGeom>
          <a:solidFill>
            <a:srgbClr val="7C3AED">
              <a:alpha val="12000"/>
            </a:srgbClr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0" y="16276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10⁻⁸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669280" y="22219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probability with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WMSM + Balanced Placement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3840480" cy="21076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834639"/>
            <a:ext cx="91440" cy="2107691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2926080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WMSM Wins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" y="3291840"/>
            <a:ext cx="3584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Multi-segment decomposition lets each segment use 16-QAM — up to 4× fewer slots than BPSK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placement maximizes the probability both segments qualify for high-order modulation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Compute-spectrum coupling ensures routes with sufficient compute are prioritized — avoiding infeasible allocations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persists under limited compute (400 units/node): WMSM sustains 10⁻⁵ blocking vs 10⁰ for DPSM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34840" y="2834640"/>
            <a:ext cx="4251960" cy="210769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434839" y="2834639"/>
            <a:ext cx="91439" cy="2107689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99432" y="2926080"/>
            <a:ext cx="3995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Compare Against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99432" y="3291840"/>
            <a:ext cx="3995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DPSM: our direct-path baseline — one segment, greedy compute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DPSM-B: balanced placement variant of DPSM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Sorted: sort requests by demand, rank nodes by compute, assign spectrum greedily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(FCFS): first-come-first-served, greedy compute and spectrum assignment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WMSM and WMSM-B consistently outperform all baselines across all load levels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 &amp; Connect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783080" cy="74980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77440" y="1280160"/>
            <a:ext cx="6309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514600" y="1371600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WMSM achieves 47% lower cost than the baseline — but it adds complexity (waypoints, OEO regeneration, more transceivers). At what scale of network does this trade-off become worthwhile? A 5-node campus? A national backbone? A transoceanic cable?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1783080" cy="74980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176272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Fragmentation over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77440" y="2176272"/>
            <a:ext cx="6309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14600" y="2267712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thousands of requests arrive and depart, the spectrum on each fiber will fragment into scattered free gaps. WMSM allocates segments shorter paths — does this help or hurt fragmentation? What would a defragmentation routine look like?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1783080" cy="74980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072384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to Seminar 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77440" y="3072384"/>
            <a:ext cx="6309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14600" y="3163824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Seminar 1, the RL agent did admission control — deciding whether to accept a slice at all. Now we have WMSM deciding how to embed a slice into optical fiber. Could you combine these two? What would the RL agent need to know about the optical layer?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968496"/>
            <a:ext cx="1783080" cy="74980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968496"/>
            <a:ext cx="1783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377440" y="3968496"/>
            <a:ext cx="6309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514600" y="4059936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3 covers quantum networking — entangled photons distributed over the same optical fiber. Photons cannot be amplified or regenerated (no-cloning theorem). How do you think that constraint will change the routing and spectrum problem?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2D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01168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 2 — Key Takeaways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 Optical fiber transmits data as light — terabits per second, continent-scale reach, minimal loss.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185623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 WDM lets multiple wavelengths share one fiber. Flex-grid EONs allocate spectrum in 6.25 GHz slots.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45059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 SDM adds spatial cores — 7× to 19× capacity per cable — but introduces inter-core crosstalk constraints.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304495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 RMCSA (Routing, Modulation, Core, Spectrum Assignment) must be solved jointly — individual stages can produce infeasible solutions.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363931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 WMSM splits slice paths at VNF waypoints, enabling higher-order modulation per segment — up to 47% lower provisioning cost.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4233672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 Next: Seminar 3 — Quantum Networking, where we take the optical layer into the quantum regime.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4363</Words>
  <Application>Microsoft Macintosh PowerPoint</Application>
  <PresentationFormat>On-screen Show (16:9)</PresentationFormat>
  <Paragraphs>463</Paragraphs>
  <Slides>31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2 — Optical Networks</dc:title>
  <dc:subject>PptxGenJS Presentation</dc:subject>
  <dc:creator>PptxGenJS</dc:creator>
  <cp:lastModifiedBy>Khanure, Divya</cp:lastModifiedBy>
  <cp:revision>28</cp:revision>
  <dcterms:created xsi:type="dcterms:W3CDTF">2026-06-03T20:30:15Z</dcterms:created>
  <dcterms:modified xsi:type="dcterms:W3CDTF">2026-06-10T20:16:00Z</dcterms:modified>
</cp:coreProperties>
</file>