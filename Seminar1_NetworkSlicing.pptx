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62" r:id="rId9"/>
    <p:sldId id="263" r:id="rId10"/>
    <p:sldId id="264" r:id="rId11"/>
    <p:sldId id="265" r:id="rId12"/>
    <p:sldId id="266" r:id="rId13"/>
    <p:sldId id="283" r:id="rId14"/>
    <p:sldId id="284" r:id="rId15"/>
    <p:sldId id="267" r:id="rId16"/>
    <p:sldId id="268" r:id="rId17"/>
    <p:sldId id="285" r:id="rId18"/>
    <p:sldId id="286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87" r:id="rId27"/>
    <p:sldId id="288" r:id="rId28"/>
    <p:sldId id="276" r:id="rId29"/>
    <p:sldId id="277" r:id="rId30"/>
    <p:sldId id="278" r:id="rId31"/>
    <p:sldId id="279" r:id="rId32"/>
    <p:sldId id="289" r:id="rId33"/>
    <p:sldId id="290" r:id="rId34"/>
    <p:sldId id="281" r:id="rId3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89"/>
    <p:restoredTop sz="94610"/>
  </p:normalViewPr>
  <p:slideViewPr>
    <p:cSldViewPr snapToGrid="0" snapToObjects="1">
      <p:cViewPr varScale="1">
        <p:scale>
          <a:sx n="218" d="100"/>
          <a:sy n="218" d="100"/>
        </p:scale>
        <p:origin x="224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176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one physical network becomes many virtual networks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Networks Research Lab  ·  UT Dallas  ·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01168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2468880"/>
            <a:ext cx="201168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Traffic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83480" y="2468880"/>
            <a:ext cx="201168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hour. Six topics. By the end you will understand how a cell tower, a streaming app, and a self-driving car can all share one network — without stepping on each other.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7898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789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6733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Internet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97510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Bandwidth, latency, and why one-size-fits-all fails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060829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224942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 &amp; NFV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55117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software from hardware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696623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48331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8254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Slicing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12724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virtual networks on shared infrastructure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1868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" y="34015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Function Chains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370332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pipelines of network functions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3977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Traffic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427939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that fluctuates between base and peak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466844"/>
            <a:ext cx="530352" cy="67665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40740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5568" y="4553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48554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admission control for elastic slices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The Modern Internet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simple "best-effort" delivery is no longer enough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Carries Wildly Different Traffic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has a different relationship with bandwidth, delay, and reliability — and they all share the same wires.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64592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77327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 Video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60020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25 Mbps sustained. Can tolerate 2–3 sec buffering delay. Does not need guaranteed timing.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12848"/>
            <a:ext cx="164592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40280" y="2350008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only ~1 Mbps — but any delay &gt;150 ms or jitter causes garbled audio/video.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962656"/>
            <a:ext cx="82296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164592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6265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IoT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Alarms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099816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data rate. But a missed alarm packet can cost a life — reliability is paramount.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712464"/>
            <a:ext cx="164592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71246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3849624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&lt; 1 ms round-trip latency to react to obstacles. Also needs guaranteed bandwidth for sensor fusion.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419600"/>
            <a:ext cx="8229600" cy="6583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4419600"/>
            <a:ext cx="1645920" cy="6583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4196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40280" y="4556760"/>
            <a:ext cx="6355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bursts of data (gigabytes) on a schedule. No timing requirement — just raw throughput.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1477327"/>
            <a:ext cx="8229600" cy="36006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vs Quality of Service (QoS)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IP networks deliver packets on a "best-effort" basis — no guarantees. QoS mechanisms attempt to prioritize, but they are static and hard to manage at scale.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749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4008" cy="155448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691640"/>
            <a:ext cx="3493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Best-Effort (Traditional)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57400"/>
            <a:ext cx="3493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packets treated equally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bandwidth or latency guarantees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fine for email &amp; web browsing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for real-time applications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43434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64008" cy="15544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992" y="1691640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2057400"/>
            <a:ext cx="40873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classes get different priorities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queues can favor certain packets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per-device configuration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 to thousands of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1838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383280"/>
            <a:ext cx="7927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really need — Network Slicing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749040"/>
            <a:ext cx="79278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isolation: each service runs in its own virtual network with dedicated resources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SLAs (bandwidth, latency, availability) per slice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slices share the same physical hardware — but are invisible to each other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created, modified, and torn down in software — no manual per-device config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Network Metrics You Need to Know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75688" y="105156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data that can be transmitted per second (Gbps = gigabits per second). Think of it as road width.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572768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75688" y="1709928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for a packet to travel from source to destination (milliseconds). Think of it as travel time.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242566"/>
            <a:ext cx="822960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242566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42566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75688" y="2379726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latency. Even low latency is useless for video calls if it varies wildly packet-to-packet.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2900934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900934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0093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75688" y="3038094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connection request is "blocked" when the network cannot accommodate it due to insufficient resources.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570732"/>
            <a:ext cx="8229600" cy="5852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570732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57073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75688" y="3707892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Agreement — a contract defining the minimum performance the network must deliver to a tenant.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229100"/>
            <a:ext cx="8229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229100"/>
            <a:ext cx="1481328" cy="58521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229100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75688" y="4366260"/>
            <a:ext cx="6519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capacity currently in use. High utilization = efficient but risky. Low = wasteful but safe.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use the internet every day. Think about two apps you use — one that needs fast response time and one that just needs to download a lot of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32588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— Think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1874520"/>
            <a:ext cx="6766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984248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Individually: name one app that needs low latency (feels laggy if slow) and one that needs high bandwidth (needs to move a lot of data). What would break first if each got congested?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132588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— Pair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920240" y="2834640"/>
            <a:ext cx="6766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057400" y="2944368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the person next to you. Did you pick the same apps? Which requirement — latency or bandwidth — do you think is harder for the network to guarantee?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325880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 — Share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920240" y="3794760"/>
            <a:ext cx="6766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057400" y="3904488"/>
            <a:ext cx="6537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pair shares with the class.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Virtualization &amp; NFV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dedicated hardware boxes to software running on commodity servers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Way: Dedicated Hardware Per Function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decades, each network function ran on its own proprietary physical appliance. Want a firewall? Buy a firewall box. Want load balancing? Buy a load balancer. This is expensive, slow to deploy, and impossible to scale flexibly.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481328" cy="141732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481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67128" y="1783080"/>
            <a:ext cx="1481328" cy="141732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67128" y="1783080"/>
            <a:ext cx="1481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1783080"/>
            <a:ext cx="1481328" cy="141732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31336" y="1783080"/>
            <a:ext cx="1481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Packet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95544" y="1783080"/>
            <a:ext cx="1481328" cy="141732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95544" y="1783080"/>
            <a:ext cx="1481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59752" y="1783080"/>
            <a:ext cx="1481328" cy="141732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59752" y="1783080"/>
            <a:ext cx="1481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2377440" cy="171508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73152" cy="171508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" y="3794760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costs tens of thousands of dollars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for every function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hardware sits idle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971800" y="3337559"/>
            <a:ext cx="2651760" cy="17150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971800" y="3337559"/>
            <a:ext cx="73152" cy="171508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36392" y="3429000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36392" y="3794760"/>
            <a:ext cx="23957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takes weeks to months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is manual and error-prone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spin up a new function in minutes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760720" y="3337560"/>
            <a:ext cx="2926080" cy="17150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60720" y="3337560"/>
            <a:ext cx="73152" cy="17150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25312" y="3429000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25312" y="3794760"/>
            <a:ext cx="26700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to one function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share compute with other tasks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means buying more boxes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Function Virtualization (NFV)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NFV moves network functions from proprietary hardware into software — called Virtual Network Functions (VNFs) — running on commodity servers.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NFV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4721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NFV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474720" cy="53035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Firewall 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87752"/>
            <a:ext cx="3474720" cy="53035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Load balancer box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3474720" cy="53035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20954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IDS/IPS box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31336"/>
            <a:ext cx="3474720" cy="530352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8313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NAT box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4114800" cy="2834640"/>
          </a:xfrm>
          <a:prstGeom prst="rect">
            <a:avLst/>
          </a:prstGeom>
          <a:solidFill>
            <a:srgbClr val="F0FDF4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1828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Server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749040" cy="420624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228600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vFirewall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2798064"/>
            <a:ext cx="3749040" cy="420624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vLoad Balancer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3310128"/>
            <a:ext cx="3749040" cy="420624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331012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vIDS/IPS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54880" y="3822192"/>
            <a:ext cx="3749040" cy="420624"/>
          </a:xfrm>
          <a:prstGeom prst="rect">
            <a:avLst/>
          </a:prstGeom>
          <a:solidFill>
            <a:srgbClr val="0D9488">
              <a:alpha val="2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3822192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vNAT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27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VNFs can be instantiated, scaled, migrated, or deleted in seconds — entirely in software.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Network Slicing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Carving isolated virtual networks from shared physical infrastructure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Network Slice?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slice is an end-to-end logical network built on top of a shared physical infrastructure — with its own dedicated virtual resources and SLA.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— Routers · Fiber Links · Servers · Radio Towers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691640"/>
            <a:ext cx="2514600" cy="2212848"/>
          </a:xfrm>
          <a:prstGeom prst="rect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Slice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(High-speed video)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47088" y="3913632"/>
            <a:ext cx="0" cy="20116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514600" cy="2212848"/>
          </a:xfrm>
          <a:prstGeom prst="rect">
            <a:avLst/>
          </a:prstGeom>
          <a:solidFill>
            <a:srgbClr val="D97706">
              <a:alpha val="15000"/>
            </a:srgbClr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Slice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(Autonomous cars)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36008" y="3913632"/>
            <a:ext cx="0" cy="20116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2514600" cy="2212848"/>
          </a:xfrm>
          <a:prstGeom prst="rect">
            <a:avLst/>
          </a:prstGeom>
          <a:solidFill>
            <a:srgbClr val="7C3AED">
              <a:alpha val="15000"/>
            </a:srgbClr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691640"/>
            <a:ext cx="2514600" cy="2212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 Slice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(IoT sensors)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24928" y="3913632"/>
            <a:ext cx="0" cy="201168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1691640"/>
            <a:ext cx="824132" cy="4009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Layer</a:t>
            </a:r>
            <a:endParaRPr lang="en-US" sz="1000" b="1" dirty="0"/>
          </a:p>
        </p:txBody>
      </p:sp>
      <p:sp>
        <p:nvSpPr>
          <p:cNvPr id="17" name="Text 15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guarantee: a failure or overload in one slice does NOT affect other slices.</a:t>
            </a:r>
            <a:endParaRPr lang="en-US" sz="12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3B400-B56D-EA08-A114-F80AD99675ED}"/>
              </a:ext>
            </a:extLst>
          </p:cNvPr>
          <p:cNvSpPr txBox="1"/>
          <p:nvPr/>
        </p:nvSpPr>
        <p:spPr>
          <a:xfrm>
            <a:off x="3383280" y="1756425"/>
            <a:ext cx="8909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Layer</a:t>
            </a:r>
            <a:endParaRPr lang="en-US" sz="105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9B3EEE-BF37-E987-551A-AB64FECB294E}"/>
              </a:ext>
            </a:extLst>
          </p:cNvPr>
          <p:cNvSpPr txBox="1"/>
          <p:nvPr/>
        </p:nvSpPr>
        <p:spPr>
          <a:xfrm>
            <a:off x="6259537" y="1756425"/>
            <a:ext cx="8909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050" b="1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Layer</a:t>
            </a:r>
            <a:endParaRPr lang="en-US" sz="105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best describes a network slice?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cable running between two data centres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13432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patch applied to a router to improve its speed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118104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logically isolated virtual network carved from shared physical infrastructure, with its own guaranteed SLA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31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92277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 tag added to Ethernet frames to separate broadcast domains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Discuss with your neighbour before answering. 30 seconds.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best describes a network slice?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cable running between two data centres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13432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patch applied to a router to improve its speed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8229600" cy="658368"/>
          </a:xfrm>
          <a:prstGeom prst="rect">
            <a:avLst/>
          </a:prstGeom>
          <a:solidFill>
            <a:srgbClr val="064E3B"/>
          </a:solidFill>
          <a:ln w="254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2666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118104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logically isolated virtual network carved from shared physical infrastructure, with its own guaranteed SLA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31336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3133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92277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VLAN tag added to Ethernet frames to separate broadcast domains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solidFill>
            <a:srgbClr val="064E3B"/>
          </a:solidFill>
          <a:ln w="190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 — A slice is end-to-end, virtual, isolated, and SLA-guaranteed. VLANs (D) only separate broadcast domains at Layer 2 — no dedicated resources, no lifecycle management.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Slice Different from a VLAN?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VLANs provide basic traffic separation. Network slices go much further — they are complete end-to-end virtual networks.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72768"/>
          <a:ext cx="8229600" cy="3154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VLAN (Virtual LAN)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Slice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only (Ethernet)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End-to-end: radio + transport + core + compute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Shared, best-effort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Dedicated, guaranteed per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just switching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set of VNFs per service 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separation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resource and failure isolation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VLAN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lifecycle: create, scale, tear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slice is essentially a private, end-to-end virtual mobile network — complete with its own VNFs, topology, and SLA.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and the Three Slice Classes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3GPP standard for 5G defines three canonical service categories, each requiring a fundamentally different network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32004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— Enhanced Mobile Broadband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23500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4K/8K video, AR/VR headsets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very high bandwidth (up to 20 Gbps peak)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Latency-tolerant: 10–50 ms is fine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allocating bandwidth efficiently during peak hours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46120" y="1572768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46120" y="1572768"/>
            <a:ext cx="64008" cy="3200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10712" y="166420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— Ultra-Reliable Low-Latency Comms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10712" y="2029968"/>
            <a:ext cx="23500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vehicles, remote surgery, factory automation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&lt; 1 ms end-to-end latency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Reliability: 99.9999% packet delivery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guaranteeing hard real-time in a shared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35040" y="1572768"/>
            <a:ext cx="2606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35040" y="1572768"/>
            <a:ext cx="64008" cy="32004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99632" y="166420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 — Massive Machine-Type Communications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99632" y="2029968"/>
            <a:ext cx="2350008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smart meters, agricultural monitors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Requires: supports millions of devices per km²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data rate per device (bytes/hour)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connection density, not raw speed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3 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Application to Its Slice Class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line connecting each application on the left to the correct 5G slice class on the right.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74904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4K sports stream on your phone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374904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electricity meter reporting usage every hour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734056"/>
            <a:ext cx="3749040" cy="438912"/>
          </a:xfrm>
          <a:prstGeom prst="rect">
            <a:avLst/>
          </a:prstGeom>
          <a:solidFill>
            <a:srgbClr val="D97706">
              <a:alpha val="12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340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remotely operating a robot from 200 km away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374904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552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cloud backup of your company's database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76472"/>
            <a:ext cx="3749040" cy="438912"/>
          </a:xfrm>
          <a:prstGeom prst="rect">
            <a:avLst/>
          </a:prstGeom>
          <a:solidFill>
            <a:srgbClr val="7C3AED">
              <a:alpha val="12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76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soil sensors in a smart farm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4297680"/>
            <a:ext cx="3749040" cy="438912"/>
          </a:xfrm>
          <a:prstGeom prst="rect">
            <a:avLst/>
          </a:prstGeom>
          <a:solidFill>
            <a:srgbClr val="0D9488">
              <a:alpha val="12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2976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 in a crowded stadium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2029968"/>
            <a:ext cx="3749040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24140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bandwidth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latency-tolerance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37760" y="3035808"/>
            <a:ext cx="3749040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37760" y="30358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41985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 latency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reliability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4041648"/>
            <a:ext cx="3749040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40416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4256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device count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Write your answers on paper or discuss in pairs.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3  — Answers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Matches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749040" cy="47548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4K sports stream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06240" y="1499616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06240" y="133502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3931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— high bandwidth needed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374904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4708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electricity meter (hourly)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06240" y="2084832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06240" y="1920240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1847088"/>
            <a:ext cx="39319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847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 — low rate, massive scale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3749040" cy="47548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4323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robot surgery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2670048"/>
            <a:ext cx="4572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06240" y="250545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54880" y="2432304"/>
            <a:ext cx="3931920" cy="475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243230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URLLC — &lt; 1 ms, 99.9999% reliability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3749040" cy="47548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cloud backup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3255264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06240" y="30906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754880" y="3017520"/>
            <a:ext cx="3931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54880" y="301752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— bulk throughput, delay-tolerant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02736"/>
            <a:ext cx="3749040" cy="47548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6027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sensors in smart farm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06240" y="384048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206240" y="3675888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880" y="3602736"/>
            <a:ext cx="3931920" cy="47548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60273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mMTC — many devices, tiny data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187952"/>
            <a:ext cx="3749040" cy="47548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8795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headset in stadium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4425696"/>
            <a:ext cx="457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206240" y="426110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754880" y="4187952"/>
            <a:ext cx="3931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418795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eMBB — very high bandwidth per device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818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cloud backup maps to eMBB (bulk throughput) — not mMTC. mMTC is about massive numbers of devices, not large file sizes.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Service Function Chains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pipelines of virtual network functions</a:t>
            </a:r>
            <a:endParaRPr lang="en-US" sz="1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Function Chains (SFCs)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Function Chain is an ordered sequence of Virtual Network Functions that a traffic flow must traverse — from source to destination.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99616"/>
            <a:ext cx="1261872" cy="749808"/>
          </a:xfrm>
          <a:prstGeom prst="line">
            <a:avLst/>
          </a:prstGeom>
          <a:solidFill>
            <a:srgbClr val="1C2D5E"/>
          </a:solidFill>
          <a:ln w="19050">
            <a:solidFill>
              <a:srgbClr val="1C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499616"/>
            <a:ext cx="1261872" cy="749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27632" y="187452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83080" y="1499616"/>
            <a:ext cx="1261872" cy="749808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83080" y="1499616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44952" y="187452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499616"/>
            <a:ext cx="1261872" cy="749808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499616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187452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499616"/>
            <a:ext cx="1261872" cy="749808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17720" y="1499616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79592" y="187452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499616"/>
            <a:ext cx="1261872" cy="749808"/>
          </a:xfrm>
          <a:prstGeom prst="rect">
            <a:avLst/>
          </a:prstGeom>
          <a:solidFill>
            <a:srgbClr val="0D9488">
              <a:alpha val="2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499616"/>
            <a:ext cx="126187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96912" y="1874520"/>
            <a:ext cx="155448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52360" y="1499616"/>
            <a:ext cx="1261872" cy="749808"/>
          </a:xfrm>
          <a:prstGeom prst="line">
            <a:avLst/>
          </a:prstGeom>
          <a:solidFill>
            <a:srgbClr val="1C2D5E"/>
          </a:solidFill>
          <a:ln w="19050">
            <a:solidFill>
              <a:srgbClr val="1C2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52360" y="1499616"/>
            <a:ext cx="1261872" cy="7498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2951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VNF processes the traffic and passes it to the next function in the chain.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5875" y="2670046"/>
            <a:ext cx="2606040" cy="227228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5875" y="2670047"/>
            <a:ext cx="73152" cy="22722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0467" y="2761487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Ordering Matters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0467" y="3127247"/>
            <a:ext cx="2350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must run before load balancer (malicious traffic should be dropped first)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Transcoding must run before encryption (cannot transcode encrypted data)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order = security holes or wasted compute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209075" y="2670047"/>
            <a:ext cx="2834640" cy="22722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9075" y="2670046"/>
            <a:ext cx="73152" cy="2272283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73667" y="2761487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SFC + Slicing Together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73667" y="3127247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network slice hosts one or more SFCs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slices can have entirely different SFC topologies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of SFC to physical resources is the "slice embedding" problem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80875" y="2670047"/>
            <a:ext cx="2514600" cy="22722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80875" y="2670046"/>
            <a:ext cx="73152" cy="2272281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45467" y="2761487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45467" y="3127247"/>
            <a:ext cx="225856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VNF needs: compute (CPU/RAM) at a node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link between VNFs needs: bandwidth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latency budget must not be exceeded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Slice Embedding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slice request (topology + resource requirements), how do we map it onto the physical network? This is an NP-hard optimization problem.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solidFill>
            <a:srgbClr val="0D9488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Request Arrives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915668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Feasible Path(s)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1915668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VNF Instances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915668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Bandwidth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76288" y="1915668"/>
            <a:ext cx="164592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64008" cy="14173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248716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Must Decide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2852928"/>
            <a:ext cx="35844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physical nodes host each VNF (compute placement)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physical links carry each virtual link (routing)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bandwidth to allocate on each link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path to use when multiple exist (k-shortest paths)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2395728"/>
            <a:ext cx="4251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34840" y="2395728"/>
            <a:ext cx="64008" cy="14173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9432" y="248716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to Satisfy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9432" y="2852928"/>
            <a:ext cx="3995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capacity: compute at each physical node is finite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capacity: bandwidth on each link is finite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total end-to-end delay must meet SLA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Availability: redundancy required for critical slices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1480" y="38496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made once at admission time. Getting it wrong wastes resources or violates SLAs — neither is acceptable.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70248"/>
            <a:ext cx="8183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4270248"/>
            <a:ext cx="64008" cy="65836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" y="4361688"/>
            <a:ext cx="7927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Trade-off: Acceptance Rate vs Resource Efficiency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1792" y="4654295"/>
            <a:ext cx="7927848" cy="242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more requests increases revenue — but also increases congestion and the risk of future blocking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5: Elastic Traffic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bandwidth demand is not fixed — it fluctuates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Elastic Traffic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early slice research assumed static traffic — a slice consumes a fixed bandwidth for its entire lifetime. Real workloads do not behave this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3840480" cy="2729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73152" cy="2729484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Traffic (Simple)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2029968"/>
            <a:ext cx="358444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is fixed at slice setup time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10 Gbps video stream that always uses 10 Gbps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control is straightforward: check if 10 Gbps is available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reservation is simple: hold 10 Gbps for the slice lifetime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tool: LP (Linear Programming) to minimize cost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Underestimates the complexity of real workloads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572768"/>
            <a:ext cx="4251960" cy="2729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1572768"/>
            <a:ext cx="73152" cy="27294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99432" y="1664208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Traffic (Realistic)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2029968"/>
            <a:ext cx="3995928" cy="249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alternates between a BASE level and a PEAK level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is normally at base — then bursts to peak on demand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cannot predict exactly when the burst will happen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enterprise sync (base) → nightly backup (peak)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cell tower (base) → concert crowd surge (peak)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how many elastic slices can safely share a link?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2488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traffic is more efficient but introduces a new risk: if too many slices burst simultaneously, none of them can reach peak — a "peak-state blocking" event.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Elastic Slices: Continuous-Time Markov Chain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accepted slice request independently transitions between BASE and PEAK state. We model this with a CTMC — a probabilistic model of state transitions over continuous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3840480" cy="19248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73152" cy="19248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310896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Probabilities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" y="3474720"/>
            <a:ext cx="35844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π_peak = λbp / (λbp + λpb) = 5/15 = 1/3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π_base = 2/3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instant: roughly 1/3 of all active slices are in PEAK state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fraction fluctuates — it cannot be predicted with certainty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unpredictability is the root cause of peak-blocking under high 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34840" y="3017519"/>
            <a:ext cx="4251960" cy="19248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434840" y="3017520"/>
            <a:ext cx="73152" cy="192481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99432" y="310896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Admission Hard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99432" y="3435369"/>
            <a:ext cx="39959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slice you admit adds future peak demand to every link on its path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demand materializes at a random future time — not now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slices you admit, the higher the risk of simultaneous peak bursts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"accept everything" policy leads to catastrophic blocking under load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396AD9-5DB5-4EDB-BD1E-BB587B6A0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891" y="1382893"/>
            <a:ext cx="4308231" cy="167542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Peak-State Blocking: The Core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peak-state blocking event occurs when an active slice tries to upgrade to peak bandwidth — but the network cannot accommodate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9204" y="142646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example: 4 slices sharing a 100 Gbps link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97764" y="1737360"/>
            <a:ext cx="822960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6052" y="1737360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capacity: 100 Gbps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7764" y="2313432"/>
            <a:ext cx="1371600" cy="4572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7764" y="2313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60804" y="23865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20 Gbps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52444" y="238658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tries to burst to Peak 40 Gbps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32804" y="2386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succeeds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" y="2830186"/>
            <a:ext cx="1371600" cy="4572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7764" y="2863479"/>
            <a:ext cx="1371600" cy="4100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37944" y="288950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20 Gbps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52444" y="2903923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tries to burst to Peak 40 Gbps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32804" y="294436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BLOCKED (only 40 Gbps left after 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" y="3355145"/>
            <a:ext cx="1371600" cy="4572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7764" y="3366400"/>
            <a:ext cx="1371600" cy="436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37944" y="3414229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20 Gbps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52444" y="342126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stays at base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" y="3893937"/>
            <a:ext cx="1371600" cy="4572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7764" y="3904488"/>
            <a:ext cx="1371600" cy="4466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37944" y="3957945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20 Gbps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552444" y="3957945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stays at base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7764" y="4407408"/>
            <a:ext cx="8183880" cy="69213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7764" y="4407407"/>
            <a:ext cx="59436" cy="692123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5780" y="4396857"/>
            <a:ext cx="7927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expensive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" y="4677038"/>
            <a:ext cx="7927848" cy="343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bandwidth commands premium pricing — 5–10× the rate of base service.</a:t>
            </a:r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peak = direct revenue loss + SLA breach.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Network in Trouble?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scenario below with your neighbour. All calculations can be done mentally.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1207008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956816"/>
            <a:ext cx="7863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100 Gbps fiber link carries 12 accepted elastic slice requests. Each request uses 5 Gbps at base state and 10 Gbps at peak state. The base→peak transition rate λbp = 5.0 and peak→base rate λpb = 10.0.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294436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steady-state probability that any one slice is in the peak state?  (Recall: π_peak = λbp / (λbp + λpb))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5029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649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340156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how many of the 12 slices are simultaneously in peak state?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5029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385876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all 12 slices happened to burst at the same time, how much bandwidth would be needed? Would the link survive?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50292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2793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78992" y="4315968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operator accept a 13th request? What additional information would you want to know?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4  — Answers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Network in Trouble? — Worked Answers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621792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07008" y="1298448"/>
            <a:ext cx="7479792" cy="749808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3898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π_peak = 5.0 / (5.0 + 10.0) = 5/15 = 1/3  ≈  33%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621792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07008" y="2212848"/>
            <a:ext cx="7479792" cy="749808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53312" y="23042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simultaneous peak = 12 × 1/3 = 4 slices in peak state on average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621792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07008" y="3127248"/>
            <a:ext cx="7479792" cy="749808"/>
          </a:xfrm>
          <a:prstGeom prst="rect">
            <a:avLst/>
          </a:prstGeom>
          <a:solidFill>
            <a:srgbClr val="D97706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53312" y="32186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12 peak simultaneously: 12 × 10 Gbps = 120 Gbps &gt; 100 Gbps link capacity. The link would be overloaded — 12 simultaneous peaks is a worst-case scenario, but it CAN happen.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621792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07008" y="4041648"/>
            <a:ext cx="7479792" cy="749808"/>
          </a:xfrm>
          <a:prstGeom prst="rect">
            <a:avLst/>
          </a:prstGeom>
          <a:solidFill>
            <a:srgbClr val="7C3AED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53312" y="41330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13th request adds more peak risk. Need to know: current number of slices already in peak state, per-link utilization across the path, and the expected revenue vs. blocking penalty trade-off. This is exactly the admission control problem RL solves!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6: Admission Control &amp; Our Lab Work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RL agent learns to accept or reject slice requests</a:t>
            </a:r>
            <a:endParaRPr lang="en-US" sz="1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Strategies for Elastic Slice Admission Control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lab compared four approaches across a wide range of arrival rates on the 14-node NSFNet topology.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920240" cy="502920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39696"/>
            <a:ext cx="1920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any request that fits at the base level. No peak bandwidth reserved. Simple, but peak blocking explodes under load.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572768"/>
            <a:ext cx="192024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2139696"/>
            <a:ext cx="1920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full peak bandwidth at admission time. Zero peak blocking guaranteed — but acceptance rate crashes because capacity is locked out.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72768"/>
            <a:ext cx="192024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(60%)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139696"/>
            <a:ext cx="1920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requests when per-link utilization exceeds 60%. Simple gate — but ignores mix of base/peak requests and cannot adapt to load changes.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572768"/>
            <a:ext cx="192024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Admission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(PPO)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2139696"/>
            <a:ext cx="192024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agent observes the full 51-dimensional network state and learns a load-adaptive accept/reject policy. Our proposed approach.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714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tension: accepting more = more revenue now but more peak blocking later. RL learns to balance this dynamically.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Agent: 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frame admission control as a Markov Decision Process (MDP) and train an agent using Proximal Policy Optimization (PPO).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1536192" cy="804672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47672" y="1975104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30552" y="1572768"/>
            <a:ext cx="153619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30552" y="1572768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(51-dim)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66744" y="1975104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9624" y="1572768"/>
            <a:ext cx="1536192" cy="80467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9624" y="1572768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85816" y="1975104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68696" y="1572768"/>
            <a:ext cx="1536192" cy="80467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68696" y="1572768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04888" y="1975104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87768" y="1572768"/>
            <a:ext cx="1536192" cy="8046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87768" y="1572768"/>
            <a:ext cx="1536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2450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Feedback: reward shapes future policy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24912"/>
            <a:ext cx="2606040" cy="2217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724912"/>
            <a:ext cx="73152" cy="22174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1792" y="2816352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(51 dims)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" y="3182112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Per-link utilization — total and base-only — for all 21 NSFNet links (42 values)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features: source, destination, path length, arrival rate (7 values)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occupancy: normalized base-state and peak-state request counts (2 values)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2606040" cy="2217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724912"/>
            <a:ext cx="73152" cy="22174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64992" y="2816352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Function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64992" y="3182112"/>
            <a:ext cx="2350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on departure: +proportional to bandwidth × time served at base and peak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blocking penalty: −40 per blocked BTP event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penalty: exponentially growing negative signal when avg utilization &gt; 40%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0" y="2724912"/>
            <a:ext cx="2743200" cy="22174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0" y="2724912"/>
            <a:ext cx="73152" cy="22174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08192" y="28163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108192" y="3182112"/>
            <a:ext cx="2487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PPO with clip ratio 0.2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network: 2-layer MLP, 256 units each, ReLU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200k timesteps at λ=20, then fine-tuned per evaluation rate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Topology: 14-node NSFNet, 100 Gbps per link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RL vs Baselines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across arrival rates λ ∈ [1, 50] req/unit-time on the NSFNet topology. Key findings at high load (λ = 50):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468880" cy="118872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3×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peak blocking vs No Admission at λ=50 (15% vs 45%)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536192"/>
            <a:ext cx="2468880" cy="1188720"/>
          </a:xfrm>
          <a:prstGeom prst="rect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127%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06324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net revenue vs No Admission at high load ($295k vs $130k)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1536192"/>
            <a:ext cx="2468880" cy="118872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Capacity-based rejection under RL — links never saturate</a:t>
            </a:r>
            <a:endParaRPr lang="en-US" sz="11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9504"/>
          <a:ext cx="8229600" cy="17526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Blocking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(λ=50)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Utilization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D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Admission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~$130,000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Threshold (60%)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~$228,000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— Our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~$295,000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 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 Heuristic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~$305,000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54855" y="4665316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dominates No Admission and Dynamic Threshold at all moderate-to-high loads, and matches the Reservation Heuristic on peak blocking at λ ≥ 30 while requiring no upfront bandwidth reservation.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Own Admission Policy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groups of 3–4, imagine you are the network operator. You must decide a rule for accepting or rejecting incoming slice requests.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0784"/>
            <a:ext cx="8229600" cy="868680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73736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Network:  14-node topology  ·  100 Gbps per link  ·  Requests arrive randomly, each wanting 5–15 Gbps base, 10–30 Gbps peak  ·  Peak penalty is 4× worse than base rejection penalty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06624"/>
            <a:ext cx="384048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rule: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26080" y="2743200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English: what condition must be met for you to say YES to a new request? E.g., "Accept if link utilization is below X% AND…"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84048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7355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3310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weakness: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26080" y="3310128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fixed rule has a failure case. When does your rule make the wrong decision — admitting a request it should reject, or rejecting one it should accept?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84048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8770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strategies: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926080" y="3877056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your rule compare to the four strategies in the seminar? Is it closest to No Admission, Reservation, Dynamic Threshold, or RL?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407408"/>
            <a:ext cx="384048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40740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44398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it: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926080" y="4443984"/>
            <a:ext cx="5715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per group: state your rule and its biggest weakness. Class votes on which group's rule they'd trust with their own network.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828800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23160" y="1298448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60320" y="1389888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agent reduces peak blocking from 45% to 15% at high load — but it still blocks 15% of peak-state upgrades. Is 15% acceptable? What kind of service would you refuse to run on a network with 15% peak blocking?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1828800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Question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23160" y="2185416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2276856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RL agent's reward function maximizes net revenue — not fairness. Could it learn to reject requests from low-revenue slices to protect high-revenue ones? Is that a problem? How would you fix it?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828800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23160" y="3072384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60320" y="3163824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RL agent was trained in simulation. What could go wrong when you deploy a simulation-trained agent on a real network? What information from the real world is NOT captured in our model?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59352"/>
            <a:ext cx="1828800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593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423160" y="3959352"/>
            <a:ext cx="6263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60320" y="4050792"/>
            <a:ext cx="5989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2 will add optical networks to the picture — the actual fiber links carrying your slices. How do you think optical constraints (like limited spectrum slots) will change the admission control problem?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1 — Key Takeaways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The Internet carries radically different traffic types that need different performance guarantees.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NFV virtualizes network functions as software on commodity servers — enabling flexible, software-driven networks.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Network slicing creates logically isolated virtual networks on shared physical infrastructure, each with its own SLA.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0449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Service Function Chains define the ordered sequence of VNFs that traffic must traverse per service.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 Elastic traffic fluctuates between a base and a peak bandwidth level — modeled as a two-state CTMC.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Our RL agent (PPO) learns a congestion-aware admission policy that cuts peak blocking 3× vs no admission, achieving up to 127% higher revenue at high load.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Seminar 2 — Optical Networks (Fiber physics · WDM · SDM · RMCSA · VONE)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3870</Words>
  <Application>Microsoft Macintosh PowerPoint</Application>
  <PresentationFormat>On-screen Show (16:9)</PresentationFormat>
  <Paragraphs>512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1 — Network Slicing</dc:title>
  <dc:subject>PptxGenJS Presentation</dc:subject>
  <dc:creator>PptxGenJS</dc:creator>
  <cp:lastModifiedBy>Khanure, Divya</cp:lastModifiedBy>
  <cp:revision>11</cp:revision>
  <dcterms:created xsi:type="dcterms:W3CDTF">2026-06-03T20:30:15Z</dcterms:created>
  <dcterms:modified xsi:type="dcterms:W3CDTF">2026-06-05T18:26:23Z</dcterms:modified>
</cp:coreProperties>
</file>