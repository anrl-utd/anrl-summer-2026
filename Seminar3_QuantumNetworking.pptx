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83" r:id="rId6"/>
    <p:sldId id="260" r:id="rId7"/>
    <p:sldId id="261" r:id="rId8"/>
    <p:sldId id="280" r:id="rId9"/>
    <p:sldId id="284" r:id="rId10"/>
    <p:sldId id="285" r:id="rId11"/>
    <p:sldId id="262" r:id="rId12"/>
    <p:sldId id="263" r:id="rId13"/>
    <p:sldId id="281" r:id="rId14"/>
    <p:sldId id="286" r:id="rId15"/>
    <p:sldId id="287" r:id="rId16"/>
    <p:sldId id="264" r:id="rId17"/>
    <p:sldId id="282" r:id="rId18"/>
    <p:sldId id="288" r:id="rId19"/>
    <p:sldId id="289" r:id="rId20"/>
    <p:sldId id="266" r:id="rId21"/>
    <p:sldId id="267" r:id="rId22"/>
    <p:sldId id="268" r:id="rId23"/>
    <p:sldId id="269" r:id="rId24"/>
    <p:sldId id="270" r:id="rId25"/>
    <p:sldId id="271" r:id="rId26"/>
    <p:sldId id="272" r:id="rId27"/>
    <p:sldId id="273" r:id="rId28"/>
    <p:sldId id="290" r:id="rId29"/>
    <p:sldId id="265" r:id="rId30"/>
    <p:sldId id="274" r:id="rId31"/>
    <p:sldId id="275" r:id="rId32"/>
    <p:sldId id="276" r:id="rId33"/>
    <p:sldId id="278" r:id="rId34"/>
    <p:sldId id="291" r:id="rId35"/>
    <p:sldId id="279"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52"/>
    <p:restoredTop sz="94610"/>
  </p:normalViewPr>
  <p:slideViewPr>
    <p:cSldViewPr snapToGrid="0" snapToObjects="1">
      <p:cViewPr varScale="1">
        <p:scale>
          <a:sx n="164" d="100"/>
          <a:sy n="164" d="100"/>
        </p:scale>
        <p:origin x="30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5930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CE596-85FE-5BA9-DDF9-462E24E8F0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4D4D41-78CC-F6C7-98DB-17A20D9308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137D3E-E13F-481C-4744-5DCF03F0BA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F7EE82-05CA-AF75-AB7C-3136702A3761}"/>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165921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4B90A-AC79-BFC0-4CAA-A5EED28CE1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FC0AD-41F8-4A87-D247-9CAE22469B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AE98D1-5D9F-BD85-02EE-52D1E0C9CB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4A4D26-9E5A-3BCA-E08D-15B118A65C63}"/>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0298120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93CB8-7E1E-7DBB-EF7D-BB25EE4E8C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8200C-F5B0-5304-D488-CE892B1D34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DFC63C-3F86-5496-5B85-8F81D3CC73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E0021A-A46B-D4EB-47D5-74B410E1193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0345055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D5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7C3AED"/>
          </a:solidFill>
          <a:ln/>
        </p:spPr>
        <p:txBody>
          <a:bodyPr/>
          <a:lstStyle/>
          <a:p>
            <a:endParaRPr lang="en-US"/>
          </a:p>
        </p:txBody>
      </p:sp>
      <p:sp>
        <p:nvSpPr>
          <p:cNvPr id="3" name="Shape 1"/>
          <p:cNvSpPr/>
          <p:nvPr/>
        </p:nvSpPr>
        <p:spPr>
          <a:xfrm>
            <a:off x="201168" y="0"/>
            <a:ext cx="73152" cy="5143500"/>
          </a:xfrm>
          <a:prstGeom prst="rect">
            <a:avLst/>
          </a:prstGeom>
          <a:solidFill>
            <a:srgbClr val="0D9488"/>
          </a:solidFill>
          <a:ln/>
        </p:spPr>
        <p:txBody>
          <a:bodyPr/>
          <a:lstStyle/>
          <a:p>
            <a:endParaRPr lang="en-US"/>
          </a:p>
        </p:txBody>
      </p:sp>
      <p:sp>
        <p:nvSpPr>
          <p:cNvPr id="4" name="Shape 2"/>
          <p:cNvSpPr/>
          <p:nvPr/>
        </p:nvSpPr>
        <p:spPr>
          <a:xfrm>
            <a:off x="0" y="0"/>
            <a:ext cx="45720" cy="5143500"/>
          </a:xfrm>
          <a:prstGeom prst="rect">
            <a:avLst/>
          </a:prstGeom>
          <a:solidFill>
            <a:srgbClr val="D97706"/>
          </a:solidFill>
          <a:ln/>
        </p:spPr>
        <p:txBody>
          <a:bodyPr/>
          <a:lstStyle/>
          <a:p>
            <a:endParaRPr lang="en-US"/>
          </a:p>
        </p:txBody>
      </p:sp>
      <p:sp>
        <p:nvSpPr>
          <p:cNvPr id="5" name="Text 3"/>
          <p:cNvSpPr/>
          <p:nvPr/>
        </p:nvSpPr>
        <p:spPr>
          <a:xfrm>
            <a:off x="548640" y="777240"/>
            <a:ext cx="8229600" cy="914400"/>
          </a:xfrm>
          <a:prstGeom prst="rect">
            <a:avLst/>
          </a:prstGeom>
          <a:noFill/>
          <a:ln/>
        </p:spPr>
        <p:txBody>
          <a:bodyPr wrap="square"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Quantum Networking</a:t>
            </a:r>
            <a:endParaRPr lang="en-US" sz="4800" dirty="0"/>
          </a:p>
        </p:txBody>
      </p:sp>
      <p:sp>
        <p:nvSpPr>
          <p:cNvPr id="6" name="Text 4"/>
          <p:cNvSpPr/>
          <p:nvPr/>
        </p:nvSpPr>
        <p:spPr>
          <a:xfrm>
            <a:off x="548640" y="1755648"/>
            <a:ext cx="8229600" cy="502920"/>
          </a:xfrm>
          <a:prstGeom prst="rect">
            <a:avLst/>
          </a:prstGeom>
          <a:noFill/>
          <a:ln/>
        </p:spPr>
        <p:txBody>
          <a:bodyPr wrap="square" rtlCol="0" anchor="ctr"/>
          <a:lstStyle/>
          <a:p>
            <a:pPr marL="0" indent="0">
              <a:buNone/>
            </a:pPr>
            <a:r>
              <a:rPr lang="en-US" sz="1700" dirty="0">
                <a:solidFill>
                  <a:srgbClr val="DDD6FE"/>
                </a:solidFill>
                <a:latin typeface="Calibri" pitchFamily="34" charset="0"/>
                <a:ea typeface="Calibri" pitchFamily="34" charset="-122"/>
                <a:cs typeface="Calibri" pitchFamily="34" charset="-120"/>
              </a:rPr>
              <a:t>Using quantum physics to build the next-generation internet — where security is a law of nature</a:t>
            </a:r>
            <a:endParaRPr lang="en-US" sz="1700" dirty="0"/>
          </a:p>
        </p:txBody>
      </p:sp>
      <p:sp>
        <p:nvSpPr>
          <p:cNvPr id="7" name="Text 5"/>
          <p:cNvSpPr/>
          <p:nvPr/>
        </p:nvSpPr>
        <p:spPr>
          <a:xfrm>
            <a:off x="548640" y="4434840"/>
            <a:ext cx="8229600" cy="347472"/>
          </a:xfrm>
          <a:prstGeom prst="rect">
            <a:avLst/>
          </a:prstGeom>
          <a:noFill/>
          <a:ln/>
        </p:spPr>
        <p:txBody>
          <a:bodyPr wrap="square" rtlCol="0" anchor="ctr"/>
          <a:lstStyle/>
          <a:p>
            <a:pPr marL="0" indent="0">
              <a:buNone/>
            </a:pPr>
            <a:r>
              <a:rPr lang="en-US" sz="1300" dirty="0">
                <a:solidFill>
                  <a:srgbClr val="94A3B8"/>
                </a:solidFill>
                <a:latin typeface="Calibri" pitchFamily="34" charset="0"/>
                <a:ea typeface="Calibri" pitchFamily="34" charset="-122"/>
                <a:cs typeface="Calibri" pitchFamily="34" charset="-120"/>
              </a:rPr>
              <a:t>Advanced Networks Research Lab  ·  UT Dallas  ·  2026</a:t>
            </a:r>
            <a:endParaRPr lang="en-US" sz="1300" dirty="0"/>
          </a:p>
        </p:txBody>
      </p:sp>
      <p:sp>
        <p:nvSpPr>
          <p:cNvPr id="8" name="Shape 6"/>
          <p:cNvSpPr/>
          <p:nvPr/>
        </p:nvSpPr>
        <p:spPr>
          <a:xfrm>
            <a:off x="548640" y="2468880"/>
            <a:ext cx="2148840" cy="384048"/>
          </a:xfrm>
          <a:prstGeom prst="rect">
            <a:avLst/>
          </a:prstGeom>
          <a:solidFill>
            <a:srgbClr val="7C3AED"/>
          </a:solidFill>
          <a:ln/>
        </p:spPr>
        <p:txBody>
          <a:bodyPr/>
          <a:lstStyle/>
          <a:p>
            <a:endParaRPr lang="en-US"/>
          </a:p>
        </p:txBody>
      </p:sp>
      <p:sp>
        <p:nvSpPr>
          <p:cNvPr id="9" name="Text 7"/>
          <p:cNvSpPr/>
          <p:nvPr/>
        </p:nvSpPr>
        <p:spPr>
          <a:xfrm>
            <a:off x="548640" y="2468880"/>
            <a:ext cx="2148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Quantum Basics</a:t>
            </a:r>
            <a:endParaRPr lang="en-US" sz="1200" dirty="0"/>
          </a:p>
        </p:txBody>
      </p:sp>
      <p:sp>
        <p:nvSpPr>
          <p:cNvPr id="10" name="Shape 8"/>
          <p:cNvSpPr/>
          <p:nvPr/>
        </p:nvSpPr>
        <p:spPr>
          <a:xfrm>
            <a:off x="2788920" y="2468880"/>
            <a:ext cx="2148840" cy="384048"/>
          </a:xfrm>
          <a:prstGeom prst="rect">
            <a:avLst/>
          </a:prstGeom>
          <a:solidFill>
            <a:srgbClr val="0D9488"/>
          </a:solidFill>
          <a:ln/>
        </p:spPr>
        <p:txBody>
          <a:bodyPr/>
          <a:lstStyle/>
          <a:p>
            <a:endParaRPr lang="en-US"/>
          </a:p>
        </p:txBody>
      </p:sp>
      <p:sp>
        <p:nvSpPr>
          <p:cNvPr id="11" name="Text 9"/>
          <p:cNvSpPr/>
          <p:nvPr/>
        </p:nvSpPr>
        <p:spPr>
          <a:xfrm>
            <a:off x="2788920" y="2468880"/>
            <a:ext cx="2148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EPR &amp; Entanglement</a:t>
            </a:r>
            <a:endParaRPr lang="en-US" sz="1200" dirty="0"/>
          </a:p>
        </p:txBody>
      </p:sp>
      <p:sp>
        <p:nvSpPr>
          <p:cNvPr id="12" name="Shape 10"/>
          <p:cNvSpPr/>
          <p:nvPr/>
        </p:nvSpPr>
        <p:spPr>
          <a:xfrm>
            <a:off x="5166360" y="2468880"/>
            <a:ext cx="2148840" cy="384048"/>
          </a:xfrm>
          <a:prstGeom prst="rect">
            <a:avLst/>
          </a:prstGeom>
          <a:solidFill>
            <a:srgbClr val="D97706"/>
          </a:solidFill>
          <a:ln/>
        </p:spPr>
        <p:txBody>
          <a:bodyPr/>
          <a:lstStyle/>
          <a:p>
            <a:endParaRPr lang="en-US"/>
          </a:p>
        </p:txBody>
      </p:sp>
      <p:sp>
        <p:nvSpPr>
          <p:cNvPr id="13" name="Text 11"/>
          <p:cNvSpPr/>
          <p:nvPr/>
        </p:nvSpPr>
        <p:spPr>
          <a:xfrm>
            <a:off x="5166360" y="2468880"/>
            <a:ext cx="2148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Joint RSA + Lab Work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3000" b="1" dirty="0">
                <a:solidFill>
                  <a:srgbClr val="7C3AED"/>
                </a:solidFill>
                <a:latin typeface="Calibri" pitchFamily="34" charset="0"/>
                <a:ea typeface="Calibri" pitchFamily="34" charset="-122"/>
                <a:cs typeface="Calibri" pitchFamily="34" charset="-120"/>
              </a:rPr>
              <a:t>Seminar Roadmap</a:t>
            </a:r>
            <a:endParaRPr lang="en-US" sz="3000" dirty="0"/>
          </a:p>
        </p:txBody>
      </p:sp>
      <p:sp>
        <p:nvSpPr>
          <p:cNvPr id="3" name="Shape 1"/>
          <p:cNvSpPr/>
          <p:nvPr/>
        </p:nvSpPr>
        <p:spPr>
          <a:xfrm>
            <a:off x="457200" y="841248"/>
            <a:ext cx="8229600" cy="27432"/>
          </a:xfrm>
          <a:prstGeom prst="rect">
            <a:avLst/>
          </a:prstGeom>
          <a:solidFill>
            <a:srgbClr val="7C3AED"/>
          </a:solidFill>
          <a:ln/>
        </p:spPr>
        <p:txBody>
          <a:bodyPr/>
          <a:lstStyle/>
          <a:p>
            <a:endParaRPr lang="en-US"/>
          </a:p>
        </p:txBody>
      </p:sp>
      <p:sp>
        <p:nvSpPr>
          <p:cNvPr id="4" name="Text 2"/>
          <p:cNvSpPr/>
          <p:nvPr/>
        </p:nvSpPr>
        <p:spPr>
          <a:xfrm>
            <a:off x="457200" y="987552"/>
            <a:ext cx="8229600" cy="457200"/>
          </a:xfrm>
          <a:prstGeom prst="rect">
            <a:avLst/>
          </a:prstGeom>
          <a:noFill/>
          <a:ln/>
        </p:spPr>
        <p:txBody>
          <a:bodyPr wrap="square" rtlCol="0" anchor="ctr"/>
          <a:lstStyle/>
          <a:p>
            <a:pPr marL="0" indent="0">
              <a:buNone/>
            </a:pPr>
            <a:r>
              <a:rPr lang="en-US" sz="1400" i="1" dirty="0">
                <a:solidFill>
                  <a:srgbClr val="475569"/>
                </a:solidFill>
                <a:latin typeface="Calibri" pitchFamily="34" charset="0"/>
                <a:ea typeface="Calibri" pitchFamily="34" charset="-122"/>
                <a:cs typeface="Calibri" pitchFamily="34" charset="-120"/>
              </a:rPr>
              <a:t>We build on Seminars 1 and 2. The optical fiber network is now the physical layer for quantum photon transmission. The "spectrum" is still real — we allocate the same 6.25 GHz flex-grid slots.</a:t>
            </a:r>
            <a:endParaRPr lang="en-US" sz="1400" dirty="0"/>
          </a:p>
        </p:txBody>
      </p:sp>
      <p:sp>
        <p:nvSpPr>
          <p:cNvPr id="5" name="Shape 3"/>
          <p:cNvSpPr/>
          <p:nvPr/>
        </p:nvSpPr>
        <p:spPr>
          <a:xfrm>
            <a:off x="457200" y="1600200"/>
            <a:ext cx="530352" cy="676656"/>
          </a:xfrm>
          <a:prstGeom prst="rect">
            <a:avLst/>
          </a:prstGeom>
          <a:solidFill>
            <a:srgbClr val="7C3AED"/>
          </a:solidFill>
          <a:ln/>
        </p:spPr>
        <p:txBody>
          <a:bodyPr/>
          <a:lstStyle/>
          <a:p>
            <a:endParaRPr lang="en-US"/>
          </a:p>
        </p:txBody>
      </p:sp>
      <p:sp>
        <p:nvSpPr>
          <p:cNvPr id="6" name="Text 4"/>
          <p:cNvSpPr/>
          <p:nvPr/>
        </p:nvSpPr>
        <p:spPr>
          <a:xfrm>
            <a:off x="457200" y="1600200"/>
            <a:ext cx="530352" cy="67665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01</a:t>
            </a:r>
            <a:endParaRPr lang="en-US" sz="2000" dirty="0"/>
          </a:p>
        </p:txBody>
      </p:sp>
      <p:sp>
        <p:nvSpPr>
          <p:cNvPr id="7" name="Text 5"/>
          <p:cNvSpPr/>
          <p:nvPr/>
        </p:nvSpPr>
        <p:spPr>
          <a:xfrm>
            <a:off x="1115568" y="1645920"/>
            <a:ext cx="3200400" cy="310896"/>
          </a:xfrm>
          <a:prstGeom prst="rect">
            <a:avLst/>
          </a:prstGeom>
          <a:noFill/>
          <a:ln/>
        </p:spPr>
        <p:txBody>
          <a:bodyPr wrap="square" lIns="0" tIns="0" rIns="0" bIns="0" rtlCol="0" anchor="ctr"/>
          <a:lstStyle/>
          <a:p>
            <a:pPr marL="0" indent="0">
              <a:buNone/>
            </a:pPr>
            <a:r>
              <a:rPr lang="en-US" sz="1500" b="1" dirty="0">
                <a:solidFill>
                  <a:srgbClr val="7C3AED"/>
                </a:solidFill>
                <a:latin typeface="Calibri" pitchFamily="34" charset="0"/>
                <a:ea typeface="Calibri" pitchFamily="34" charset="-122"/>
                <a:cs typeface="Calibri" pitchFamily="34" charset="-120"/>
              </a:rPr>
              <a:t>Quantum Mechanics Crash Course</a:t>
            </a:r>
            <a:endParaRPr lang="en-US" sz="1500" dirty="0"/>
          </a:p>
        </p:txBody>
      </p:sp>
      <p:sp>
        <p:nvSpPr>
          <p:cNvPr id="8" name="Text 6"/>
          <p:cNvSpPr/>
          <p:nvPr/>
        </p:nvSpPr>
        <p:spPr>
          <a:xfrm>
            <a:off x="1115568" y="1947672"/>
            <a:ext cx="7406640" cy="256032"/>
          </a:xfrm>
          <a:prstGeom prst="rect">
            <a:avLst/>
          </a:prstGeom>
          <a:noFill/>
          <a:ln/>
        </p:spPr>
        <p:txBody>
          <a:bodyPr wrap="square" lIns="0" tIns="0" rIns="0" bIns="0" rtlCol="0" anchor="ctr"/>
          <a:lstStyle/>
          <a:p>
            <a:pPr marL="0" indent="0">
              <a:buNone/>
            </a:pPr>
            <a:r>
              <a:rPr lang="en-US" sz="1250" dirty="0">
                <a:solidFill>
                  <a:srgbClr val="475569"/>
                </a:solidFill>
                <a:latin typeface="Calibri" pitchFamily="34" charset="0"/>
                <a:ea typeface="Calibri" pitchFamily="34" charset="-122"/>
                <a:cs typeface="Calibri" pitchFamily="34" charset="-120"/>
              </a:rPr>
              <a:t>Superposition, measurement, qubits, and no-cloning</a:t>
            </a:r>
            <a:endParaRPr lang="en-US" sz="1250" dirty="0"/>
          </a:p>
        </p:txBody>
      </p:sp>
      <p:sp>
        <p:nvSpPr>
          <p:cNvPr id="9" name="Shape 7"/>
          <p:cNvSpPr/>
          <p:nvPr/>
        </p:nvSpPr>
        <p:spPr>
          <a:xfrm>
            <a:off x="457200" y="2176272"/>
            <a:ext cx="530352" cy="676656"/>
          </a:xfrm>
          <a:prstGeom prst="rect">
            <a:avLst/>
          </a:prstGeom>
          <a:solidFill>
            <a:srgbClr val="7C3AED"/>
          </a:solidFill>
          <a:ln/>
        </p:spPr>
        <p:txBody>
          <a:bodyPr/>
          <a:lstStyle/>
          <a:p>
            <a:endParaRPr lang="en-US"/>
          </a:p>
        </p:txBody>
      </p:sp>
      <p:sp>
        <p:nvSpPr>
          <p:cNvPr id="10" name="Text 8"/>
          <p:cNvSpPr/>
          <p:nvPr/>
        </p:nvSpPr>
        <p:spPr>
          <a:xfrm>
            <a:off x="457200" y="2176272"/>
            <a:ext cx="530352" cy="67665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02</a:t>
            </a:r>
            <a:endParaRPr lang="en-US" sz="2000" dirty="0"/>
          </a:p>
        </p:txBody>
      </p:sp>
      <p:sp>
        <p:nvSpPr>
          <p:cNvPr id="11" name="Text 9"/>
          <p:cNvSpPr/>
          <p:nvPr/>
        </p:nvSpPr>
        <p:spPr>
          <a:xfrm>
            <a:off x="1115568" y="2221992"/>
            <a:ext cx="3200400" cy="310896"/>
          </a:xfrm>
          <a:prstGeom prst="rect">
            <a:avLst/>
          </a:prstGeom>
          <a:noFill/>
          <a:ln/>
        </p:spPr>
        <p:txBody>
          <a:bodyPr wrap="square" lIns="0" tIns="0" rIns="0" bIns="0" rtlCol="0" anchor="ctr"/>
          <a:lstStyle/>
          <a:p>
            <a:pPr marL="0" indent="0">
              <a:buNone/>
            </a:pPr>
            <a:r>
              <a:rPr lang="en-US" sz="1500" b="1" dirty="0">
                <a:solidFill>
                  <a:srgbClr val="7C3AED"/>
                </a:solidFill>
                <a:latin typeface="Calibri" pitchFamily="34" charset="0"/>
                <a:ea typeface="Calibri" pitchFamily="34" charset="-122"/>
                <a:cs typeface="Calibri" pitchFamily="34" charset="-120"/>
              </a:rPr>
              <a:t>Quantum Entanglement</a:t>
            </a:r>
            <a:endParaRPr lang="en-US" sz="1500" dirty="0"/>
          </a:p>
        </p:txBody>
      </p:sp>
      <p:sp>
        <p:nvSpPr>
          <p:cNvPr id="12" name="Text 10"/>
          <p:cNvSpPr/>
          <p:nvPr/>
        </p:nvSpPr>
        <p:spPr>
          <a:xfrm>
            <a:off x="1115568" y="2523744"/>
            <a:ext cx="7406640" cy="256032"/>
          </a:xfrm>
          <a:prstGeom prst="rect">
            <a:avLst/>
          </a:prstGeom>
          <a:noFill/>
          <a:ln/>
        </p:spPr>
        <p:txBody>
          <a:bodyPr wrap="square" lIns="0" tIns="0" rIns="0" bIns="0" rtlCol="0" anchor="ctr"/>
          <a:lstStyle/>
          <a:p>
            <a:pPr marL="0" indent="0">
              <a:buNone/>
            </a:pPr>
            <a:r>
              <a:rPr lang="en-US" sz="1250" dirty="0">
                <a:solidFill>
                  <a:srgbClr val="475569"/>
                </a:solidFill>
                <a:latin typeface="Calibri" pitchFamily="34" charset="0"/>
                <a:ea typeface="Calibri" pitchFamily="34" charset="-122"/>
                <a:cs typeface="Calibri" pitchFamily="34" charset="-120"/>
              </a:rPr>
              <a:t>What it is, why it matters, and EPR pairs</a:t>
            </a:r>
            <a:endParaRPr lang="en-US" sz="1250" dirty="0"/>
          </a:p>
        </p:txBody>
      </p:sp>
      <p:sp>
        <p:nvSpPr>
          <p:cNvPr id="13" name="Shape 11"/>
          <p:cNvSpPr/>
          <p:nvPr/>
        </p:nvSpPr>
        <p:spPr>
          <a:xfrm>
            <a:off x="457200" y="2752344"/>
            <a:ext cx="530352" cy="676656"/>
          </a:xfrm>
          <a:prstGeom prst="rect">
            <a:avLst/>
          </a:prstGeom>
          <a:solidFill>
            <a:srgbClr val="7C3AED"/>
          </a:solidFill>
          <a:ln/>
        </p:spPr>
        <p:txBody>
          <a:bodyPr/>
          <a:lstStyle/>
          <a:p>
            <a:endParaRPr lang="en-US"/>
          </a:p>
        </p:txBody>
      </p:sp>
      <p:sp>
        <p:nvSpPr>
          <p:cNvPr id="14" name="Text 12"/>
          <p:cNvSpPr/>
          <p:nvPr/>
        </p:nvSpPr>
        <p:spPr>
          <a:xfrm>
            <a:off x="457200" y="2752344"/>
            <a:ext cx="530352" cy="67665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03</a:t>
            </a:r>
            <a:endParaRPr lang="en-US" sz="2000" dirty="0"/>
          </a:p>
        </p:txBody>
      </p:sp>
      <p:sp>
        <p:nvSpPr>
          <p:cNvPr id="15" name="Text 13"/>
          <p:cNvSpPr/>
          <p:nvPr/>
        </p:nvSpPr>
        <p:spPr>
          <a:xfrm>
            <a:off x="1115568" y="2798064"/>
            <a:ext cx="3200400" cy="310896"/>
          </a:xfrm>
          <a:prstGeom prst="rect">
            <a:avLst/>
          </a:prstGeom>
          <a:noFill/>
          <a:ln/>
        </p:spPr>
        <p:txBody>
          <a:bodyPr wrap="square" lIns="0" tIns="0" rIns="0" bIns="0" rtlCol="0" anchor="ctr"/>
          <a:lstStyle/>
          <a:p>
            <a:pPr marL="0" indent="0">
              <a:buNone/>
            </a:pPr>
            <a:r>
              <a:rPr lang="en-US" sz="1500" b="1" dirty="0">
                <a:solidFill>
                  <a:srgbClr val="7C3AED"/>
                </a:solidFill>
                <a:latin typeface="Calibri" pitchFamily="34" charset="0"/>
                <a:ea typeface="Calibri" pitchFamily="34" charset="-122"/>
                <a:cs typeface="Calibri" pitchFamily="34" charset="-120"/>
              </a:rPr>
              <a:t>Quantum Networks</a:t>
            </a:r>
            <a:endParaRPr lang="en-US" sz="1500" dirty="0"/>
          </a:p>
        </p:txBody>
      </p:sp>
      <p:sp>
        <p:nvSpPr>
          <p:cNvPr id="16" name="Text 14"/>
          <p:cNvSpPr/>
          <p:nvPr/>
        </p:nvSpPr>
        <p:spPr>
          <a:xfrm>
            <a:off x="1115568" y="3099816"/>
            <a:ext cx="7406640" cy="256032"/>
          </a:xfrm>
          <a:prstGeom prst="rect">
            <a:avLst/>
          </a:prstGeom>
          <a:noFill/>
          <a:ln/>
        </p:spPr>
        <p:txBody>
          <a:bodyPr wrap="square" lIns="0" tIns="0" rIns="0" bIns="0" rtlCol="0" anchor="ctr"/>
          <a:lstStyle/>
          <a:p>
            <a:pPr marL="0" indent="0">
              <a:buNone/>
            </a:pPr>
            <a:r>
              <a:rPr lang="en-US" sz="1250" dirty="0">
                <a:solidFill>
                  <a:srgbClr val="475569"/>
                </a:solidFill>
                <a:latin typeface="Calibri" pitchFamily="34" charset="0"/>
                <a:ea typeface="Calibri" pitchFamily="34" charset="-122"/>
                <a:cs typeface="Calibri" pitchFamily="34" charset="-120"/>
              </a:rPr>
              <a:t>Architecture, components, and current state of deployment</a:t>
            </a:r>
            <a:endParaRPr lang="en-US" sz="1250" dirty="0"/>
          </a:p>
        </p:txBody>
      </p:sp>
      <p:sp>
        <p:nvSpPr>
          <p:cNvPr id="17" name="Shape 15"/>
          <p:cNvSpPr/>
          <p:nvPr/>
        </p:nvSpPr>
        <p:spPr>
          <a:xfrm>
            <a:off x="457200" y="3328416"/>
            <a:ext cx="530352" cy="676656"/>
          </a:xfrm>
          <a:prstGeom prst="rect">
            <a:avLst/>
          </a:prstGeom>
          <a:solidFill>
            <a:srgbClr val="7C3AED"/>
          </a:solidFill>
          <a:ln/>
        </p:spPr>
        <p:txBody>
          <a:bodyPr/>
          <a:lstStyle/>
          <a:p>
            <a:endParaRPr lang="en-US"/>
          </a:p>
        </p:txBody>
      </p:sp>
      <p:sp>
        <p:nvSpPr>
          <p:cNvPr id="18" name="Text 16"/>
          <p:cNvSpPr/>
          <p:nvPr/>
        </p:nvSpPr>
        <p:spPr>
          <a:xfrm>
            <a:off x="457200" y="3328416"/>
            <a:ext cx="530352" cy="67665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04</a:t>
            </a:r>
            <a:endParaRPr lang="en-US" sz="2000" dirty="0"/>
          </a:p>
        </p:txBody>
      </p:sp>
      <p:sp>
        <p:nvSpPr>
          <p:cNvPr id="19" name="Text 17"/>
          <p:cNvSpPr/>
          <p:nvPr/>
        </p:nvSpPr>
        <p:spPr>
          <a:xfrm>
            <a:off x="1115568" y="3374136"/>
            <a:ext cx="3200400" cy="310896"/>
          </a:xfrm>
          <a:prstGeom prst="rect">
            <a:avLst/>
          </a:prstGeom>
          <a:noFill/>
          <a:ln/>
        </p:spPr>
        <p:txBody>
          <a:bodyPr wrap="square" lIns="0" tIns="0" rIns="0" bIns="0" rtlCol="0" anchor="ctr"/>
          <a:lstStyle/>
          <a:p>
            <a:pPr marL="0" indent="0">
              <a:buNone/>
            </a:pPr>
            <a:r>
              <a:rPr lang="en-US" sz="1500" b="1" dirty="0">
                <a:solidFill>
                  <a:srgbClr val="7C3AED"/>
                </a:solidFill>
                <a:latin typeface="Calibri" pitchFamily="34" charset="0"/>
                <a:ea typeface="Calibri" pitchFamily="34" charset="-122"/>
                <a:cs typeface="Calibri" pitchFamily="34" charset="-120"/>
              </a:rPr>
              <a:t>Entanglement Distribution</a:t>
            </a:r>
            <a:endParaRPr lang="en-US" sz="1500" dirty="0"/>
          </a:p>
        </p:txBody>
      </p:sp>
      <p:sp>
        <p:nvSpPr>
          <p:cNvPr id="20" name="Text 18"/>
          <p:cNvSpPr/>
          <p:nvPr/>
        </p:nvSpPr>
        <p:spPr>
          <a:xfrm>
            <a:off x="1115568" y="3675888"/>
            <a:ext cx="7406640" cy="256032"/>
          </a:xfrm>
          <a:prstGeom prst="rect">
            <a:avLst/>
          </a:prstGeom>
          <a:noFill/>
          <a:ln/>
        </p:spPr>
        <p:txBody>
          <a:bodyPr wrap="square" lIns="0" tIns="0" rIns="0" bIns="0" rtlCol="0" anchor="ctr"/>
          <a:lstStyle/>
          <a:p>
            <a:pPr marL="0" indent="0">
              <a:buNone/>
            </a:pPr>
            <a:r>
              <a:rPr lang="en-US" sz="1250" dirty="0">
                <a:solidFill>
                  <a:srgbClr val="475569"/>
                </a:solidFill>
                <a:latin typeface="Calibri" pitchFamily="34" charset="0"/>
                <a:ea typeface="Calibri" pitchFamily="34" charset="-122"/>
                <a:cs typeface="Calibri" pitchFamily="34" charset="-120"/>
              </a:rPr>
              <a:t>Routing two photons from a source to consumer nodes</a:t>
            </a:r>
            <a:endParaRPr lang="en-US" sz="1250" dirty="0"/>
          </a:p>
        </p:txBody>
      </p:sp>
      <p:sp>
        <p:nvSpPr>
          <p:cNvPr id="21" name="Shape 19"/>
          <p:cNvSpPr/>
          <p:nvPr/>
        </p:nvSpPr>
        <p:spPr>
          <a:xfrm>
            <a:off x="457200" y="3904488"/>
            <a:ext cx="530352" cy="676656"/>
          </a:xfrm>
          <a:prstGeom prst="rect">
            <a:avLst/>
          </a:prstGeom>
          <a:solidFill>
            <a:srgbClr val="7C3AED"/>
          </a:solidFill>
          <a:ln/>
        </p:spPr>
        <p:txBody>
          <a:bodyPr/>
          <a:lstStyle/>
          <a:p>
            <a:endParaRPr lang="en-US"/>
          </a:p>
        </p:txBody>
      </p:sp>
      <p:sp>
        <p:nvSpPr>
          <p:cNvPr id="22" name="Text 20"/>
          <p:cNvSpPr/>
          <p:nvPr/>
        </p:nvSpPr>
        <p:spPr>
          <a:xfrm>
            <a:off x="457200" y="3904488"/>
            <a:ext cx="530352" cy="67665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05</a:t>
            </a:r>
            <a:endParaRPr lang="en-US" sz="2000" dirty="0"/>
          </a:p>
        </p:txBody>
      </p:sp>
      <p:sp>
        <p:nvSpPr>
          <p:cNvPr id="23" name="Text 21"/>
          <p:cNvSpPr/>
          <p:nvPr/>
        </p:nvSpPr>
        <p:spPr>
          <a:xfrm>
            <a:off x="1115568" y="3950208"/>
            <a:ext cx="3200400" cy="310896"/>
          </a:xfrm>
          <a:prstGeom prst="rect">
            <a:avLst/>
          </a:prstGeom>
          <a:noFill/>
          <a:ln/>
        </p:spPr>
        <p:txBody>
          <a:bodyPr wrap="square" lIns="0" tIns="0" rIns="0" bIns="0" rtlCol="0" anchor="ctr"/>
          <a:lstStyle/>
          <a:p>
            <a:pPr marL="0" indent="0">
              <a:buNone/>
            </a:pPr>
            <a:r>
              <a:rPr lang="en-US" sz="1500" b="1" dirty="0">
                <a:solidFill>
                  <a:srgbClr val="7C3AED"/>
                </a:solidFill>
                <a:latin typeface="Calibri" pitchFamily="34" charset="0"/>
                <a:ea typeface="Calibri" pitchFamily="34" charset="-122"/>
                <a:cs typeface="Calibri" pitchFamily="34" charset="-120"/>
              </a:rPr>
              <a:t>Joint RSA Problem</a:t>
            </a:r>
            <a:endParaRPr lang="en-US" sz="1500" dirty="0"/>
          </a:p>
        </p:txBody>
      </p:sp>
      <p:sp>
        <p:nvSpPr>
          <p:cNvPr id="24" name="Text 22"/>
          <p:cNvSpPr/>
          <p:nvPr/>
        </p:nvSpPr>
        <p:spPr>
          <a:xfrm>
            <a:off x="1115568" y="4251960"/>
            <a:ext cx="7406640" cy="256032"/>
          </a:xfrm>
          <a:prstGeom prst="rect">
            <a:avLst/>
          </a:prstGeom>
          <a:noFill/>
          <a:ln/>
        </p:spPr>
        <p:txBody>
          <a:bodyPr wrap="square" lIns="0" tIns="0" rIns="0" bIns="0" rtlCol="0" anchor="ctr"/>
          <a:lstStyle/>
          <a:p>
            <a:pPr marL="0" indent="0">
              <a:buNone/>
            </a:pPr>
            <a:r>
              <a:rPr lang="en-US" sz="1250" dirty="0">
                <a:solidFill>
                  <a:srgbClr val="475569"/>
                </a:solidFill>
                <a:latin typeface="Calibri" pitchFamily="34" charset="0"/>
                <a:ea typeface="Calibri" pitchFamily="34" charset="-122"/>
                <a:cs typeface="Calibri" pitchFamily="34" charset="-120"/>
              </a:rPr>
              <a:t>Why routing and spectrum must be solved together</a:t>
            </a:r>
            <a:endParaRPr lang="en-US" sz="1250" dirty="0"/>
          </a:p>
        </p:txBody>
      </p:sp>
      <p:sp>
        <p:nvSpPr>
          <p:cNvPr id="25" name="Shape 23"/>
          <p:cNvSpPr/>
          <p:nvPr/>
        </p:nvSpPr>
        <p:spPr>
          <a:xfrm>
            <a:off x="457200" y="4480560"/>
            <a:ext cx="530352" cy="676656"/>
          </a:xfrm>
          <a:prstGeom prst="rect">
            <a:avLst/>
          </a:prstGeom>
          <a:solidFill>
            <a:srgbClr val="7C3AED"/>
          </a:solidFill>
          <a:ln/>
        </p:spPr>
        <p:txBody>
          <a:bodyPr/>
          <a:lstStyle/>
          <a:p>
            <a:endParaRPr lang="en-US"/>
          </a:p>
        </p:txBody>
      </p:sp>
      <p:sp>
        <p:nvSpPr>
          <p:cNvPr id="26" name="Text 24"/>
          <p:cNvSpPr/>
          <p:nvPr/>
        </p:nvSpPr>
        <p:spPr>
          <a:xfrm>
            <a:off x="457200" y="4480560"/>
            <a:ext cx="530352" cy="676656"/>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06</a:t>
            </a:r>
            <a:endParaRPr lang="en-US" sz="2000" dirty="0"/>
          </a:p>
        </p:txBody>
      </p:sp>
      <p:sp>
        <p:nvSpPr>
          <p:cNvPr id="27" name="Text 25"/>
          <p:cNvSpPr/>
          <p:nvPr/>
        </p:nvSpPr>
        <p:spPr>
          <a:xfrm>
            <a:off x="1115568" y="4526280"/>
            <a:ext cx="3200400" cy="310896"/>
          </a:xfrm>
          <a:prstGeom prst="rect">
            <a:avLst/>
          </a:prstGeom>
          <a:noFill/>
          <a:ln/>
        </p:spPr>
        <p:txBody>
          <a:bodyPr wrap="square" lIns="0" tIns="0" rIns="0" bIns="0" rtlCol="0" anchor="ctr"/>
          <a:lstStyle/>
          <a:p>
            <a:pPr marL="0" indent="0">
              <a:buNone/>
            </a:pPr>
            <a:r>
              <a:rPr lang="en-US" sz="1500" b="1" dirty="0">
                <a:solidFill>
                  <a:srgbClr val="7C3AED"/>
                </a:solidFill>
                <a:latin typeface="Calibri" pitchFamily="34" charset="0"/>
                <a:ea typeface="Calibri" pitchFamily="34" charset="-122"/>
                <a:cs typeface="Calibri" pitchFamily="34" charset="-120"/>
              </a:rPr>
              <a:t>Lab Work &amp; Future Research</a:t>
            </a:r>
            <a:endParaRPr lang="en-US" sz="1500" dirty="0"/>
          </a:p>
        </p:txBody>
      </p:sp>
      <p:sp>
        <p:nvSpPr>
          <p:cNvPr id="28" name="Text 26"/>
          <p:cNvSpPr/>
          <p:nvPr/>
        </p:nvSpPr>
        <p:spPr>
          <a:xfrm>
            <a:off x="1115568" y="4828032"/>
            <a:ext cx="7406640" cy="256032"/>
          </a:xfrm>
          <a:prstGeom prst="rect">
            <a:avLst/>
          </a:prstGeom>
          <a:noFill/>
          <a:ln/>
        </p:spPr>
        <p:txBody>
          <a:bodyPr wrap="square" lIns="0" tIns="0" rIns="0" bIns="0" rtlCol="0" anchor="ctr"/>
          <a:lstStyle/>
          <a:p>
            <a:pPr marL="0" indent="0">
              <a:buNone/>
            </a:pPr>
            <a:r>
              <a:rPr lang="en-US" sz="1250" dirty="0">
                <a:solidFill>
                  <a:srgbClr val="475569"/>
                </a:solidFill>
                <a:latin typeface="Calibri" pitchFamily="34" charset="0"/>
                <a:ea typeface="Calibri" pitchFamily="34" charset="-122"/>
                <a:cs typeface="Calibri" pitchFamily="34" charset="-120"/>
              </a:rPr>
              <a:t>Our RCH heuristic results + multi-source placement problem</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7C3AED"/>
        </a:solidFill>
        <a:effectLst/>
      </p:bgPr>
    </p:bg>
    <p:spTree>
      <p:nvGrpSpPr>
        <p:cNvPr id="1" name=""/>
        <p:cNvGrpSpPr/>
        <p:nvPr/>
      </p:nvGrpSpPr>
      <p:grpSpPr>
        <a:xfrm>
          <a:off x="0" y="0"/>
          <a:ext cx="0" cy="0"/>
          <a:chOff x="0" y="0"/>
          <a:chExt cx="0" cy="0"/>
        </a:xfrm>
      </p:grpSpPr>
      <p:sp>
        <p:nvSpPr>
          <p:cNvPr id="2" name="Text 0"/>
          <p:cNvSpPr/>
          <p:nvPr/>
        </p:nvSpPr>
        <p:spPr>
          <a:xfrm>
            <a:off x="640080" y="1554480"/>
            <a:ext cx="7863840" cy="1097280"/>
          </a:xfrm>
          <a:prstGeom prst="rect">
            <a:avLst/>
          </a:prstGeom>
          <a:noFill/>
          <a:ln/>
        </p:spPr>
        <p:txBody>
          <a:bodyPr wrap="square"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Part 1: Quantum Mechanics Crash Course</a:t>
            </a:r>
            <a:endParaRPr lang="en-US" sz="4200" dirty="0"/>
          </a:p>
        </p:txBody>
      </p:sp>
      <p:sp>
        <p:nvSpPr>
          <p:cNvPr id="3" name="Text 1"/>
          <p:cNvSpPr/>
          <p:nvPr/>
        </p:nvSpPr>
        <p:spPr>
          <a:xfrm>
            <a:off x="640080" y="2743200"/>
            <a:ext cx="7863840" cy="640080"/>
          </a:xfrm>
          <a:prstGeom prst="rect">
            <a:avLst/>
          </a:prstGeom>
          <a:noFill/>
          <a:ln/>
        </p:spPr>
        <p:txBody>
          <a:bodyPr wrap="square" rtlCol="0" anchor="ctr"/>
          <a:lstStyle/>
          <a:p>
            <a:pPr marL="0" indent="0" algn="l">
              <a:buNone/>
            </a:pPr>
            <a:r>
              <a:rPr lang="en-US" sz="1900" dirty="0">
                <a:solidFill>
                  <a:srgbClr val="DBEAFE"/>
                </a:solidFill>
                <a:latin typeface="Calibri" pitchFamily="34" charset="0"/>
                <a:ea typeface="Calibri" pitchFamily="34" charset="-122"/>
                <a:cs typeface="Calibri" pitchFamily="34" charset="-120"/>
              </a:rPr>
              <a:t>The physics that makes quantum networking possible — and provably secure</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3000" b="1" dirty="0">
                <a:solidFill>
                  <a:srgbClr val="7C3AED"/>
                </a:solidFill>
                <a:latin typeface="Calibri" pitchFamily="34" charset="0"/>
                <a:ea typeface="Calibri" pitchFamily="34" charset="-122"/>
                <a:cs typeface="Calibri" pitchFamily="34" charset="-120"/>
              </a:rPr>
              <a:t>From Classical Bits to Qubits</a:t>
            </a:r>
            <a:endParaRPr lang="en-US" sz="3000" dirty="0"/>
          </a:p>
        </p:txBody>
      </p:sp>
      <p:sp>
        <p:nvSpPr>
          <p:cNvPr id="3" name="Shape 1"/>
          <p:cNvSpPr/>
          <p:nvPr/>
        </p:nvSpPr>
        <p:spPr>
          <a:xfrm>
            <a:off x="457200" y="841248"/>
            <a:ext cx="8229600" cy="27432"/>
          </a:xfrm>
          <a:prstGeom prst="rect">
            <a:avLst/>
          </a:prstGeom>
          <a:solidFill>
            <a:srgbClr val="7C3AED"/>
          </a:solidFill>
          <a:ln/>
        </p:spPr>
        <p:txBody>
          <a:bodyPr/>
          <a:lstStyle/>
          <a:p>
            <a:endParaRPr lang="en-US"/>
          </a:p>
        </p:txBody>
      </p:sp>
      <p:sp>
        <p:nvSpPr>
          <p:cNvPr id="4" name="Text 2"/>
          <p:cNvSpPr/>
          <p:nvPr/>
        </p:nvSpPr>
        <p:spPr>
          <a:xfrm>
            <a:off x="457200" y="1005840"/>
            <a:ext cx="8229600" cy="420624"/>
          </a:xfrm>
          <a:prstGeom prst="rect">
            <a:avLst/>
          </a:prstGeom>
          <a:noFill/>
          <a:ln/>
        </p:spPr>
        <p:txBody>
          <a:bodyPr wrap="square" rtlCol="0" anchor="ctr"/>
          <a:lstStyle/>
          <a:p>
            <a:pPr marL="0" indent="0">
              <a:buNone/>
            </a:pPr>
            <a:r>
              <a:rPr lang="en-US" sz="1400" dirty="0">
                <a:solidFill>
                  <a:srgbClr val="475569"/>
                </a:solidFill>
                <a:latin typeface="Calibri" pitchFamily="34" charset="0"/>
                <a:ea typeface="Calibri" pitchFamily="34" charset="-122"/>
                <a:cs typeface="Calibri" pitchFamily="34" charset="-120"/>
              </a:rPr>
              <a:t>Classical bits are deterministic and copyable. Qubits obey quantum mechanics — enabling a new paradigm for computing and communication.</a:t>
            </a:r>
            <a:endParaRPr lang="en-US" sz="1400" dirty="0"/>
          </a:p>
        </p:txBody>
      </p:sp>
      <p:sp>
        <p:nvSpPr>
          <p:cNvPr id="5" name="Shape 3"/>
          <p:cNvSpPr/>
          <p:nvPr/>
        </p:nvSpPr>
        <p:spPr>
          <a:xfrm>
            <a:off x="457200" y="1441894"/>
            <a:ext cx="5178810" cy="1729931"/>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6" name="Shape 4"/>
          <p:cNvSpPr/>
          <p:nvPr/>
        </p:nvSpPr>
        <p:spPr>
          <a:xfrm>
            <a:off x="461772" y="1441894"/>
            <a:ext cx="105156" cy="1729931"/>
          </a:xfrm>
          <a:prstGeom prst="rect">
            <a:avLst/>
          </a:prstGeom>
          <a:solidFill>
            <a:srgbClr val="475569"/>
          </a:solidFill>
          <a:ln/>
        </p:spPr>
        <p:txBody>
          <a:bodyPr/>
          <a:lstStyle/>
          <a:p>
            <a:endParaRPr lang="en-US"/>
          </a:p>
        </p:txBody>
      </p:sp>
      <p:sp>
        <p:nvSpPr>
          <p:cNvPr id="7" name="Text 5"/>
          <p:cNvSpPr/>
          <p:nvPr/>
        </p:nvSpPr>
        <p:spPr>
          <a:xfrm>
            <a:off x="617220" y="1426464"/>
            <a:ext cx="3493008" cy="329184"/>
          </a:xfrm>
          <a:prstGeom prst="rect">
            <a:avLst/>
          </a:prstGeom>
          <a:noFill/>
          <a:ln/>
        </p:spPr>
        <p:txBody>
          <a:bodyPr wrap="square" lIns="0" tIns="0" rIns="0" bIns="0" rtlCol="0" anchor="ctr"/>
          <a:lstStyle/>
          <a:p>
            <a:pPr marL="0" indent="0">
              <a:buNone/>
            </a:pPr>
            <a:r>
              <a:rPr lang="en-US" sz="1200" b="1" dirty="0">
                <a:solidFill>
                  <a:srgbClr val="475569"/>
                </a:solidFill>
                <a:latin typeface="Calibri" pitchFamily="34" charset="0"/>
                <a:ea typeface="Calibri" pitchFamily="34" charset="-122"/>
                <a:cs typeface="Calibri" pitchFamily="34" charset="-120"/>
              </a:rPr>
              <a:t>Classical Bit</a:t>
            </a:r>
            <a:endParaRPr lang="en-US" sz="1200" dirty="0"/>
          </a:p>
        </p:txBody>
      </p:sp>
      <p:sp>
        <p:nvSpPr>
          <p:cNvPr id="8" name="Text 6"/>
          <p:cNvSpPr/>
          <p:nvPr/>
        </p:nvSpPr>
        <p:spPr>
          <a:xfrm>
            <a:off x="630936" y="1702641"/>
            <a:ext cx="5005074" cy="1642205"/>
          </a:xfrm>
          <a:prstGeom prst="rect">
            <a:avLst/>
          </a:prstGeom>
          <a:noFill/>
          <a:ln/>
        </p:spPr>
        <p:txBody>
          <a:bodyPr wrap="square" lIns="0" tIns="0" rIns="0" bIns="0" rtlCol="0" anchor="t"/>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Can be exactly 0 or exactly 1 — nothing in between</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Reading a bit does not change it — completely deterministic</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Can be perfectly copied: send the same bit to a thousand places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Security is based on computational hardness: RSA relies on the difficulty of factoring large numbers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Quantum computers (once mature) can factor large numbers efficiently → RSA is vulnerable</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Examples: every transistor in your CPU or phone stores a classical bit</a:t>
            </a:r>
            <a:endParaRPr lang="en-US" sz="1100" dirty="0"/>
          </a:p>
        </p:txBody>
      </p:sp>
      <p:sp>
        <p:nvSpPr>
          <p:cNvPr id="9" name="Shape 7"/>
          <p:cNvSpPr/>
          <p:nvPr/>
        </p:nvSpPr>
        <p:spPr>
          <a:xfrm>
            <a:off x="457200" y="3187255"/>
            <a:ext cx="5178810" cy="1956245"/>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0" name="Shape 8"/>
          <p:cNvSpPr/>
          <p:nvPr/>
        </p:nvSpPr>
        <p:spPr>
          <a:xfrm>
            <a:off x="457200" y="3187255"/>
            <a:ext cx="96012" cy="1956245"/>
          </a:xfrm>
          <a:prstGeom prst="rect">
            <a:avLst/>
          </a:prstGeom>
          <a:solidFill>
            <a:srgbClr val="7C3AED"/>
          </a:solidFill>
          <a:ln/>
        </p:spPr>
        <p:txBody>
          <a:bodyPr/>
          <a:lstStyle/>
          <a:p>
            <a:endParaRPr lang="en-US"/>
          </a:p>
        </p:txBody>
      </p:sp>
      <p:sp>
        <p:nvSpPr>
          <p:cNvPr id="11" name="Text 9"/>
          <p:cNvSpPr/>
          <p:nvPr/>
        </p:nvSpPr>
        <p:spPr>
          <a:xfrm>
            <a:off x="617220" y="3195684"/>
            <a:ext cx="3995928" cy="329184"/>
          </a:xfrm>
          <a:prstGeom prst="rect">
            <a:avLst/>
          </a:prstGeom>
          <a:noFill/>
          <a:ln/>
        </p:spPr>
        <p:txBody>
          <a:bodyPr wrap="square" lIns="0" tIns="0" rIns="0" bIns="0"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Qubit (Quantum Bit)</a:t>
            </a:r>
            <a:endParaRPr lang="en-US" sz="1200" dirty="0"/>
          </a:p>
        </p:txBody>
      </p:sp>
      <p:sp>
        <p:nvSpPr>
          <p:cNvPr id="12" name="Text 10"/>
          <p:cNvSpPr/>
          <p:nvPr/>
        </p:nvSpPr>
        <p:spPr>
          <a:xfrm>
            <a:off x="621792" y="3524868"/>
            <a:ext cx="5014218" cy="1618632"/>
          </a:xfrm>
          <a:prstGeom prst="rect">
            <a:avLst/>
          </a:prstGeom>
          <a:noFill/>
          <a:ln/>
        </p:spPr>
        <p:txBody>
          <a:bodyPr wrap="square" lIns="0" tIns="0" rIns="0" bIns="0" rtlCol="0" anchor="t"/>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Can be in a superposition: simultaneously "0" and "1" — until measured</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Superposition is a real physical state, not just "we don't know which it is"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The act of measurement collapses the qubit to either 0 or 1 — and destroys the superposition</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Cannot be perfectly copied — this is the no-cloning theorem (a proven law of physics)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No-cloning → any eavesdropper attempting to intercept a qubit disturbs it detectably</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Examples: photon polarization, electron spin, superconducting circuits</a:t>
            </a:r>
            <a:endParaRPr lang="en-US" sz="1100" dirty="0"/>
          </a:p>
        </p:txBody>
      </p:sp>
      <p:pic>
        <p:nvPicPr>
          <p:cNvPr id="13" name="BitVsQubit"/>
          <p:cNvPicPr>
            <a:picLocks noChangeAspect="1"/>
          </p:cNvPicPr>
          <p:nvPr/>
        </p:nvPicPr>
        <p:blipFill>
          <a:blip r:embed="rId3"/>
          <a:stretch>
            <a:fillRect/>
          </a:stretch>
        </p:blipFill>
        <p:spPr>
          <a:xfrm>
            <a:off x="5700018" y="1755648"/>
            <a:ext cx="3221881" cy="28097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D97706"/>
          </a:solidFill>
          <a:ln/>
        </p:spPr>
        <p:txBody>
          <a:bodyPr/>
          <a:lstStyle/>
          <a:p>
            <a:endParaRPr lang="en-US"/>
          </a:p>
        </p:txBody>
      </p:sp>
      <p:sp>
        <p:nvSpPr>
          <p:cNvPr id="3" name="Text 1"/>
          <p:cNvSpPr/>
          <p:nvPr/>
        </p:nvSpPr>
        <p:spPr>
          <a:xfrm>
            <a:off x="320040" y="0"/>
            <a:ext cx="8503920" cy="50292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Activity 1</a:t>
            </a:r>
            <a:endParaRPr lang="en-US" sz="1500" dirty="0"/>
          </a:p>
        </p:txBody>
      </p:sp>
      <p:sp>
        <p:nvSpPr>
          <p:cNvPr id="4" name="Text 2"/>
          <p:cNvSpPr/>
          <p:nvPr/>
        </p:nvSpPr>
        <p:spPr>
          <a:xfrm>
            <a:off x="457200" y="658368"/>
            <a:ext cx="8229600" cy="502920"/>
          </a:xfrm>
          <a:prstGeom prst="rect">
            <a:avLst/>
          </a:prstGeom>
          <a:noFill/>
          <a:ln/>
        </p:spPr>
        <p:txBody>
          <a:bodyPr wrap="square" rtlCol="0" anchor="ctr"/>
          <a:lstStyle/>
          <a:p>
            <a:pPr marL="0" indent="0">
              <a:buNone/>
            </a:pPr>
            <a:r>
              <a:rPr lang="en-US" sz="2600" b="1" dirty="0">
                <a:solidFill>
                  <a:srgbClr val="D97706"/>
                </a:solidFill>
                <a:latin typeface="Calibri" pitchFamily="34" charset="0"/>
                <a:ea typeface="Calibri" pitchFamily="34" charset="-122"/>
                <a:cs typeface="Calibri" pitchFamily="34" charset="-120"/>
              </a:rPr>
              <a:t>What Makes a Qubit Strange?</a:t>
            </a:r>
            <a:endParaRPr lang="en-US" sz="2600" dirty="0"/>
          </a:p>
        </p:txBody>
      </p:sp>
      <p:sp>
        <p:nvSpPr>
          <p:cNvPr id="5" name="Text 3"/>
          <p:cNvSpPr/>
          <p:nvPr/>
        </p:nvSpPr>
        <p:spPr>
          <a:xfrm>
            <a:off x="457200" y="1234440"/>
            <a:ext cx="8229600" cy="347472"/>
          </a:xfrm>
          <a:prstGeom prst="rect">
            <a:avLst/>
          </a:prstGeom>
          <a:noFill/>
          <a:ln/>
        </p:spPr>
        <p:txBody>
          <a:bodyPr wrap="square" rtlCol="0" anchor="ctr"/>
          <a:lstStyle/>
          <a:p>
            <a:pPr marL="0" indent="0">
              <a:buNone/>
            </a:pPr>
            <a:r>
              <a:rPr lang="en-US" sz="1400" i="1" dirty="0">
                <a:solidFill>
                  <a:srgbClr val="475569"/>
                </a:solidFill>
                <a:latin typeface="Calibri" pitchFamily="34" charset="0"/>
                <a:ea typeface="Calibri" pitchFamily="34" charset="-122"/>
                <a:cs typeface="Calibri" pitchFamily="34" charset="-120"/>
              </a:rPr>
              <a:t>Qubits break two things we take for granted about information. Discuss these thought experiments in pairs:</a:t>
            </a:r>
            <a:endParaRPr lang="en-US" sz="1400" dirty="0"/>
          </a:p>
        </p:txBody>
      </p:sp>
      <p:sp>
        <p:nvSpPr>
          <p:cNvPr id="6" name="Shape 4"/>
          <p:cNvSpPr/>
          <p:nvPr/>
        </p:nvSpPr>
        <p:spPr>
          <a:xfrm>
            <a:off x="457200" y="1719072"/>
            <a:ext cx="1554480" cy="804672"/>
          </a:xfrm>
          <a:prstGeom prst="rect">
            <a:avLst/>
          </a:prstGeom>
          <a:solidFill>
            <a:srgbClr val="D97706"/>
          </a:solidFill>
          <a:ln/>
        </p:spPr>
        <p:txBody>
          <a:bodyPr/>
          <a:lstStyle/>
          <a:p>
            <a:endParaRPr lang="en-US"/>
          </a:p>
        </p:txBody>
      </p:sp>
      <p:sp>
        <p:nvSpPr>
          <p:cNvPr id="7" name="Text 5"/>
          <p:cNvSpPr/>
          <p:nvPr/>
        </p:nvSpPr>
        <p:spPr>
          <a:xfrm>
            <a:off x="457200" y="1719072"/>
            <a:ext cx="1554480" cy="8046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The Coin Analogy</a:t>
            </a:r>
            <a:endParaRPr lang="en-US" sz="1200" dirty="0"/>
          </a:p>
        </p:txBody>
      </p:sp>
      <p:sp>
        <p:nvSpPr>
          <p:cNvPr id="8" name="Shape 6"/>
          <p:cNvSpPr/>
          <p:nvPr/>
        </p:nvSpPr>
        <p:spPr>
          <a:xfrm>
            <a:off x="2148840" y="1719072"/>
            <a:ext cx="6537960" cy="804672"/>
          </a:xfrm>
          <a:prstGeom prst="rect">
            <a:avLst/>
          </a:prstGeom>
          <a:solidFill>
            <a:srgbClr val="FFFFFF"/>
          </a:solidFill>
          <a:ln w="12700">
            <a:solidFill>
              <a:srgbClr val="E2E8F0"/>
            </a:solidFill>
            <a:prstDash val="solid"/>
          </a:ln>
        </p:spPr>
        <p:txBody>
          <a:bodyPr/>
          <a:lstStyle/>
          <a:p>
            <a:endParaRPr lang="en-US"/>
          </a:p>
        </p:txBody>
      </p:sp>
      <p:sp>
        <p:nvSpPr>
          <p:cNvPr id="9" name="Text 7"/>
          <p:cNvSpPr/>
          <p:nvPr/>
        </p:nvSpPr>
        <p:spPr>
          <a:xfrm>
            <a:off x="2286000" y="1828800"/>
            <a:ext cx="6309360" cy="594360"/>
          </a:xfrm>
          <a:prstGeom prst="rect">
            <a:avLst/>
          </a:prstGeom>
          <a:noFill/>
          <a:ln/>
        </p:spPr>
        <p:txBody>
          <a:bodyPr wrap="square" rtlCol="0" anchor="ctr"/>
          <a:lstStyle/>
          <a:p>
            <a:pPr marL="0" indent="0">
              <a:buNone/>
            </a:pPr>
            <a:r>
              <a:rPr lang="en-US" sz="1300" dirty="0">
                <a:solidFill>
                  <a:srgbClr val="475569"/>
                </a:solidFill>
                <a:latin typeface="Calibri" pitchFamily="34" charset="0"/>
                <a:ea typeface="Calibri" pitchFamily="34" charset="-122"/>
                <a:cs typeface="Calibri" pitchFamily="34" charset="-120"/>
              </a:rPr>
              <a:t>A spinning coin is "heads and tails at once" — is this the same as superposition? Why or why not? (Hint: what happens when the coin lands vs. when you measure a qubit?)</a:t>
            </a:r>
            <a:endParaRPr lang="en-US" sz="1300" dirty="0"/>
          </a:p>
        </p:txBody>
      </p:sp>
      <p:sp>
        <p:nvSpPr>
          <p:cNvPr id="10" name="Shape 8"/>
          <p:cNvSpPr/>
          <p:nvPr/>
        </p:nvSpPr>
        <p:spPr>
          <a:xfrm>
            <a:off x="457200" y="2679192"/>
            <a:ext cx="1554480" cy="804672"/>
          </a:xfrm>
          <a:prstGeom prst="rect">
            <a:avLst/>
          </a:prstGeom>
          <a:solidFill>
            <a:srgbClr val="D97706"/>
          </a:solidFill>
          <a:ln/>
        </p:spPr>
        <p:txBody>
          <a:bodyPr/>
          <a:lstStyle/>
          <a:p>
            <a:endParaRPr lang="en-US"/>
          </a:p>
        </p:txBody>
      </p:sp>
      <p:sp>
        <p:nvSpPr>
          <p:cNvPr id="11" name="Text 9"/>
          <p:cNvSpPr/>
          <p:nvPr/>
        </p:nvSpPr>
        <p:spPr>
          <a:xfrm>
            <a:off x="457200" y="2679192"/>
            <a:ext cx="1554480" cy="8046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The Copy Machine Test</a:t>
            </a:r>
            <a:endParaRPr lang="en-US" sz="1200" dirty="0"/>
          </a:p>
        </p:txBody>
      </p:sp>
      <p:sp>
        <p:nvSpPr>
          <p:cNvPr id="12" name="Shape 10"/>
          <p:cNvSpPr/>
          <p:nvPr/>
        </p:nvSpPr>
        <p:spPr>
          <a:xfrm>
            <a:off x="2148840" y="2679192"/>
            <a:ext cx="6537960" cy="804672"/>
          </a:xfrm>
          <a:prstGeom prst="rect">
            <a:avLst/>
          </a:prstGeom>
          <a:solidFill>
            <a:srgbClr val="FFFFFF"/>
          </a:solidFill>
          <a:ln w="12700">
            <a:solidFill>
              <a:srgbClr val="E2E8F0"/>
            </a:solidFill>
            <a:prstDash val="solid"/>
          </a:ln>
        </p:spPr>
        <p:txBody>
          <a:bodyPr/>
          <a:lstStyle/>
          <a:p>
            <a:endParaRPr lang="en-US"/>
          </a:p>
        </p:txBody>
      </p:sp>
      <p:sp>
        <p:nvSpPr>
          <p:cNvPr id="13" name="Text 11"/>
          <p:cNvSpPr/>
          <p:nvPr/>
        </p:nvSpPr>
        <p:spPr>
          <a:xfrm>
            <a:off x="2286000" y="2788920"/>
            <a:ext cx="6309360" cy="594360"/>
          </a:xfrm>
          <a:prstGeom prst="rect">
            <a:avLst/>
          </a:prstGeom>
          <a:noFill/>
          <a:ln/>
        </p:spPr>
        <p:txBody>
          <a:bodyPr wrap="square" rtlCol="0" anchor="ctr"/>
          <a:lstStyle/>
          <a:p>
            <a:pPr marL="0" indent="0">
              <a:buNone/>
            </a:pPr>
            <a:r>
              <a:rPr lang="en-US" sz="1300" dirty="0">
                <a:solidFill>
                  <a:srgbClr val="475569"/>
                </a:solidFill>
                <a:latin typeface="Calibri" pitchFamily="34" charset="0"/>
                <a:ea typeface="Calibri" pitchFamily="34" charset="-122"/>
                <a:cs typeface="Calibri" pitchFamily="34" charset="-120"/>
              </a:rPr>
              <a:t>You receive a sealed envelope with a qubit inside. You want to open it, read it, copy it, reseal it, and forward it without the sender knowing. Why is this impossible for qubits but trivially easy for classical bits?</a:t>
            </a:r>
            <a:endParaRPr lang="en-US" sz="1300" dirty="0"/>
          </a:p>
        </p:txBody>
      </p:sp>
      <p:sp>
        <p:nvSpPr>
          <p:cNvPr id="14" name="Shape 12"/>
          <p:cNvSpPr/>
          <p:nvPr/>
        </p:nvSpPr>
        <p:spPr>
          <a:xfrm>
            <a:off x="457200" y="3639312"/>
            <a:ext cx="1554480" cy="804672"/>
          </a:xfrm>
          <a:prstGeom prst="rect">
            <a:avLst/>
          </a:prstGeom>
          <a:solidFill>
            <a:srgbClr val="D97706"/>
          </a:solidFill>
          <a:ln/>
        </p:spPr>
        <p:txBody>
          <a:bodyPr/>
          <a:lstStyle/>
          <a:p>
            <a:endParaRPr lang="en-US"/>
          </a:p>
        </p:txBody>
      </p:sp>
      <p:sp>
        <p:nvSpPr>
          <p:cNvPr id="15" name="Text 13"/>
          <p:cNvSpPr/>
          <p:nvPr/>
        </p:nvSpPr>
        <p:spPr>
          <a:xfrm>
            <a:off x="457200" y="3639312"/>
            <a:ext cx="1554480" cy="8046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The Security Implication</a:t>
            </a:r>
            <a:endParaRPr lang="en-US" sz="1200" dirty="0"/>
          </a:p>
        </p:txBody>
      </p:sp>
      <p:sp>
        <p:nvSpPr>
          <p:cNvPr id="16" name="Shape 14"/>
          <p:cNvSpPr/>
          <p:nvPr/>
        </p:nvSpPr>
        <p:spPr>
          <a:xfrm>
            <a:off x="2148840" y="3639312"/>
            <a:ext cx="6537960" cy="804672"/>
          </a:xfrm>
          <a:prstGeom prst="rect">
            <a:avLst/>
          </a:prstGeom>
          <a:solidFill>
            <a:srgbClr val="FFFFFF"/>
          </a:solidFill>
          <a:ln w="12700">
            <a:solidFill>
              <a:srgbClr val="E2E8F0"/>
            </a:solidFill>
            <a:prstDash val="solid"/>
          </a:ln>
        </p:spPr>
        <p:txBody>
          <a:bodyPr/>
          <a:lstStyle/>
          <a:p>
            <a:endParaRPr lang="en-US"/>
          </a:p>
        </p:txBody>
      </p:sp>
      <p:sp>
        <p:nvSpPr>
          <p:cNvPr id="17" name="Text 15"/>
          <p:cNvSpPr/>
          <p:nvPr/>
        </p:nvSpPr>
        <p:spPr>
          <a:xfrm>
            <a:off x="2286000" y="3749040"/>
            <a:ext cx="6309360" cy="594360"/>
          </a:xfrm>
          <a:prstGeom prst="rect">
            <a:avLst/>
          </a:prstGeom>
          <a:noFill/>
          <a:ln/>
        </p:spPr>
        <p:txBody>
          <a:bodyPr wrap="square" rtlCol="0" anchor="ctr"/>
          <a:lstStyle/>
          <a:p>
            <a:pPr marL="0" indent="0">
              <a:buNone/>
            </a:pPr>
            <a:r>
              <a:rPr lang="en-US" sz="1300" dirty="0">
                <a:solidFill>
                  <a:srgbClr val="475569"/>
                </a:solidFill>
                <a:latin typeface="Calibri" pitchFamily="34" charset="0"/>
                <a:ea typeface="Calibri" pitchFamily="34" charset="-122"/>
                <a:cs typeface="Calibri" pitchFamily="34" charset="-120"/>
              </a:rPr>
              <a:t>Your bank currently relies on RSA encryption. A quantum computer that can run Shor's algorithm is turned on tomorrow. What does that mean for your savings account? What would the bank need to do?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3000" b="1" dirty="0">
                <a:solidFill>
                  <a:srgbClr val="7C3AED"/>
                </a:solidFill>
                <a:latin typeface="Calibri" pitchFamily="34" charset="0"/>
                <a:ea typeface="Calibri" pitchFamily="34" charset="-122"/>
                <a:cs typeface="Calibri" pitchFamily="34" charset="-120"/>
              </a:rPr>
              <a:t>Superposition, Measurement, and the Bloch Sphere</a:t>
            </a:r>
            <a:endParaRPr lang="en-US" sz="3000" dirty="0"/>
          </a:p>
        </p:txBody>
      </p:sp>
      <p:sp>
        <p:nvSpPr>
          <p:cNvPr id="3" name="Shape 1"/>
          <p:cNvSpPr/>
          <p:nvPr/>
        </p:nvSpPr>
        <p:spPr>
          <a:xfrm>
            <a:off x="457200" y="841248"/>
            <a:ext cx="8229600" cy="27432"/>
          </a:xfrm>
          <a:prstGeom prst="rect">
            <a:avLst/>
          </a:prstGeom>
          <a:solidFill>
            <a:srgbClr val="7C3AED"/>
          </a:solidFill>
          <a:ln/>
        </p:spPr>
        <p:txBody>
          <a:bodyPr/>
          <a:lstStyle/>
          <a:p>
            <a:endParaRPr lang="en-US"/>
          </a:p>
        </p:txBody>
      </p:sp>
      <p:sp>
        <p:nvSpPr>
          <p:cNvPr id="4" name="Text 2"/>
          <p:cNvSpPr/>
          <p:nvPr/>
        </p:nvSpPr>
        <p:spPr>
          <a:xfrm>
            <a:off x="457200" y="1005840"/>
            <a:ext cx="8229600" cy="420624"/>
          </a:xfrm>
          <a:prstGeom prst="rect">
            <a:avLst/>
          </a:prstGeom>
          <a:noFill/>
          <a:ln/>
        </p:spPr>
        <p:txBody>
          <a:bodyPr wrap="square" rtlCol="0" anchor="ctr"/>
          <a:lstStyle/>
          <a:p>
            <a:pPr marL="0" indent="0">
              <a:buNone/>
            </a:pPr>
            <a:r>
              <a:rPr lang="en-US" sz="1400" dirty="0">
                <a:solidFill>
                  <a:srgbClr val="475569"/>
                </a:solidFill>
                <a:latin typeface="Calibri" pitchFamily="34" charset="0"/>
                <a:ea typeface="Calibri" pitchFamily="34" charset="-122"/>
                <a:cs typeface="Calibri" pitchFamily="34" charset="-120"/>
              </a:rPr>
              <a:t>A qubit exists in superposition of |0⟩ and |1⟩. Measurement collapses it — irreversibly — to one classical outcome.</a:t>
            </a:r>
            <a:endParaRPr lang="en-US" sz="1400" dirty="0"/>
          </a:p>
        </p:txBody>
      </p:sp>
      <p:sp>
        <p:nvSpPr>
          <p:cNvPr id="12" name="Shape 10"/>
          <p:cNvSpPr/>
          <p:nvPr/>
        </p:nvSpPr>
        <p:spPr>
          <a:xfrm>
            <a:off x="3749040" y="1572768"/>
            <a:ext cx="4937760" cy="1124712"/>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3" name="Shape 11"/>
          <p:cNvSpPr/>
          <p:nvPr/>
        </p:nvSpPr>
        <p:spPr>
          <a:xfrm>
            <a:off x="3749040" y="1572768"/>
            <a:ext cx="91440" cy="1124712"/>
          </a:xfrm>
          <a:prstGeom prst="rect">
            <a:avLst/>
          </a:prstGeom>
          <a:solidFill>
            <a:srgbClr val="7C3AED"/>
          </a:solidFill>
          <a:ln/>
        </p:spPr>
        <p:txBody>
          <a:bodyPr/>
          <a:lstStyle/>
          <a:p>
            <a:endParaRPr lang="en-US"/>
          </a:p>
        </p:txBody>
      </p:sp>
      <p:sp>
        <p:nvSpPr>
          <p:cNvPr id="14" name="Text 12"/>
          <p:cNvSpPr/>
          <p:nvPr/>
        </p:nvSpPr>
        <p:spPr>
          <a:xfrm>
            <a:off x="3909060" y="1572768"/>
            <a:ext cx="4681728" cy="329184"/>
          </a:xfrm>
          <a:prstGeom prst="rect">
            <a:avLst/>
          </a:prstGeom>
          <a:noFill/>
          <a:ln/>
        </p:spPr>
        <p:txBody>
          <a:bodyPr wrap="square" lIns="0" tIns="0" rIns="0" bIns="0"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Superposition State</a:t>
            </a:r>
            <a:endParaRPr lang="en-US" sz="1400" dirty="0"/>
          </a:p>
        </p:txBody>
      </p:sp>
      <p:sp>
        <p:nvSpPr>
          <p:cNvPr id="15" name="Text 13"/>
          <p:cNvSpPr/>
          <p:nvPr/>
        </p:nvSpPr>
        <p:spPr>
          <a:xfrm>
            <a:off x="3909060" y="1901952"/>
            <a:ext cx="4681728" cy="822960"/>
          </a:xfrm>
          <a:prstGeom prst="rect">
            <a:avLst/>
          </a:prstGeom>
          <a:noFill/>
          <a:ln/>
        </p:spPr>
        <p:txBody>
          <a:bodyPr wrap="square" lIns="0" tIns="0" rIns="0" bIns="0" rtlCol="0" anchor="t"/>
          <a:lstStyle/>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|ψ⟩ = α|0⟩ + β|1⟩ where |α|² + |β|² = 1</a:t>
            </a:r>
            <a:endParaRPr lang="en-US" sz="1200" dirty="0"/>
          </a:p>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|α|² = probability of measuring 0 ;  |β|² = probability of measuring 1</a:t>
            </a:r>
            <a:endParaRPr lang="en-US" sz="1200" dirty="0"/>
          </a:p>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Before measurement: the qubit is genuinely in both states at once — not just "unknown"</a:t>
            </a:r>
            <a:endParaRPr lang="en-US" sz="1200" dirty="0"/>
          </a:p>
        </p:txBody>
      </p:sp>
      <p:sp>
        <p:nvSpPr>
          <p:cNvPr id="16" name="Shape 14"/>
          <p:cNvSpPr/>
          <p:nvPr/>
        </p:nvSpPr>
        <p:spPr>
          <a:xfrm>
            <a:off x="3749040" y="2779490"/>
            <a:ext cx="4937760" cy="1389888"/>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7" name="Shape 15"/>
          <p:cNvSpPr/>
          <p:nvPr/>
        </p:nvSpPr>
        <p:spPr>
          <a:xfrm>
            <a:off x="3758184" y="2777776"/>
            <a:ext cx="91440" cy="1389888"/>
          </a:xfrm>
          <a:prstGeom prst="rect">
            <a:avLst/>
          </a:prstGeom>
          <a:solidFill>
            <a:srgbClr val="7C3AED"/>
          </a:solidFill>
          <a:ln/>
        </p:spPr>
        <p:txBody>
          <a:bodyPr/>
          <a:lstStyle/>
          <a:p>
            <a:endParaRPr lang="en-US"/>
          </a:p>
        </p:txBody>
      </p:sp>
      <p:sp>
        <p:nvSpPr>
          <p:cNvPr id="18" name="Text 16"/>
          <p:cNvSpPr/>
          <p:nvPr/>
        </p:nvSpPr>
        <p:spPr>
          <a:xfrm>
            <a:off x="3909060" y="2734056"/>
            <a:ext cx="4681728" cy="329184"/>
          </a:xfrm>
          <a:prstGeom prst="rect">
            <a:avLst/>
          </a:prstGeom>
          <a:noFill/>
          <a:ln/>
        </p:spPr>
        <p:txBody>
          <a:bodyPr wrap="square" lIns="0" tIns="0" rIns="0" bIns="0"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Measurement Collapses the State</a:t>
            </a:r>
            <a:endParaRPr lang="en-US" sz="1400" dirty="0"/>
          </a:p>
        </p:txBody>
      </p:sp>
      <p:sp>
        <p:nvSpPr>
          <p:cNvPr id="19" name="Text 17"/>
          <p:cNvSpPr/>
          <p:nvPr/>
        </p:nvSpPr>
        <p:spPr>
          <a:xfrm>
            <a:off x="3886200" y="3026664"/>
            <a:ext cx="4681728" cy="822960"/>
          </a:xfrm>
          <a:prstGeom prst="rect">
            <a:avLst/>
          </a:prstGeom>
          <a:noFill/>
          <a:ln/>
        </p:spPr>
        <p:txBody>
          <a:bodyPr wrap="square" lIns="0" tIns="0" rIns="0" bIns="0" rtlCol="0" anchor="t"/>
          <a:lstStyle/>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Once measured, |ψ⟩ collapses to |0⟩ or |1⟩ — never seen as ½ |0⟩ + ½ |1⟩</a:t>
            </a:r>
            <a:endParaRPr lang="en-US" sz="1200" dirty="0"/>
          </a:p>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The probabilistic outcome is fundamentally random — not due to ignorance</a:t>
            </a:r>
            <a:endParaRPr lang="en-US" sz="1200" dirty="0"/>
          </a:p>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This irreversibility is why no-cloning holds: to clone, you would need to know the full state</a:t>
            </a:r>
            <a:endParaRPr lang="en-US" sz="1200" dirty="0"/>
          </a:p>
        </p:txBody>
      </p:sp>
      <p:sp>
        <p:nvSpPr>
          <p:cNvPr id="20" name="Shape 18"/>
          <p:cNvSpPr/>
          <p:nvPr/>
        </p:nvSpPr>
        <p:spPr>
          <a:xfrm>
            <a:off x="3758184" y="4247960"/>
            <a:ext cx="4937760" cy="621792"/>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21" name="Shape 19"/>
          <p:cNvSpPr/>
          <p:nvPr/>
        </p:nvSpPr>
        <p:spPr>
          <a:xfrm>
            <a:off x="3758184" y="4247960"/>
            <a:ext cx="91440" cy="621792"/>
          </a:xfrm>
          <a:prstGeom prst="rect">
            <a:avLst/>
          </a:prstGeom>
          <a:solidFill>
            <a:srgbClr val="0D9488"/>
          </a:solidFill>
          <a:ln/>
        </p:spPr>
        <p:txBody>
          <a:bodyPr/>
          <a:lstStyle/>
          <a:p>
            <a:endParaRPr lang="en-US"/>
          </a:p>
        </p:txBody>
      </p:sp>
      <p:sp>
        <p:nvSpPr>
          <p:cNvPr id="22" name="Text 20"/>
          <p:cNvSpPr/>
          <p:nvPr/>
        </p:nvSpPr>
        <p:spPr>
          <a:xfrm>
            <a:off x="3918204" y="4247960"/>
            <a:ext cx="4681728" cy="329184"/>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Why This Matters for Networking</a:t>
            </a:r>
            <a:endParaRPr lang="en-US" sz="1400" dirty="0"/>
          </a:p>
        </p:txBody>
      </p:sp>
      <p:sp>
        <p:nvSpPr>
          <p:cNvPr id="23" name="Text 21"/>
          <p:cNvSpPr/>
          <p:nvPr/>
        </p:nvSpPr>
        <p:spPr>
          <a:xfrm>
            <a:off x="3922776" y="4498848"/>
            <a:ext cx="4681728" cy="370904"/>
          </a:xfrm>
          <a:prstGeom prst="rect">
            <a:avLst/>
          </a:prstGeom>
          <a:noFill/>
          <a:ln/>
        </p:spPr>
        <p:txBody>
          <a:bodyPr wrap="square" lIns="0" tIns="0" rIns="0" bIns="0" rtlCol="0" anchor="t"/>
          <a:lstStyle/>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Any attempt to eavesdrop on a qubit = measure it = collapse its state = detectable disturbance</a:t>
            </a:r>
            <a:endParaRPr lang="en-US" sz="1200" dirty="0"/>
          </a:p>
        </p:txBody>
      </p:sp>
      <p:pic>
        <p:nvPicPr>
          <p:cNvPr id="24" name="BlochSphere"/>
          <p:cNvPicPr>
            <a:picLocks noChangeAspect="1"/>
          </p:cNvPicPr>
          <p:nvPr/>
        </p:nvPicPr>
        <p:blipFill>
          <a:blip r:embed="rId3"/>
          <a:srcRect l="19135" t="17162" r="16610" b="16304"/>
          <a:stretch>
            <a:fillRect/>
          </a:stretch>
        </p:blipFill>
        <p:spPr>
          <a:xfrm>
            <a:off x="1064419" y="1426464"/>
            <a:ext cx="1471613" cy="2002884"/>
          </a:xfrm>
          <a:prstGeom prst="rect">
            <a:avLst/>
          </a:prstGeom>
        </p:spPr>
      </p:pic>
      <p:pic>
        <p:nvPicPr>
          <p:cNvPr id="25" name="MeasurementCollapse"/>
          <p:cNvPicPr>
            <a:picLocks noChangeAspect="1"/>
          </p:cNvPicPr>
          <p:nvPr/>
        </p:nvPicPr>
        <p:blipFill>
          <a:blip r:embed="rId4"/>
          <a:srcRect b="6476"/>
          <a:stretch>
            <a:fillRect/>
          </a:stretch>
        </p:blipFill>
        <p:spPr>
          <a:xfrm>
            <a:off x="215742" y="3435573"/>
            <a:ext cx="3414426" cy="15815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3000" b="1" dirty="0">
                <a:solidFill>
                  <a:srgbClr val="7C3AED"/>
                </a:solidFill>
                <a:latin typeface="Calibri" pitchFamily="34" charset="0"/>
                <a:ea typeface="Calibri" pitchFamily="34" charset="-122"/>
                <a:cs typeface="Calibri" pitchFamily="34" charset="-120"/>
              </a:rPr>
              <a:t>The No-Cloning Theorem: Why Quantum = Secure</a:t>
            </a:r>
            <a:endParaRPr lang="en-US" sz="3000" dirty="0"/>
          </a:p>
        </p:txBody>
      </p:sp>
      <p:sp>
        <p:nvSpPr>
          <p:cNvPr id="3" name="Shape 1"/>
          <p:cNvSpPr/>
          <p:nvPr/>
        </p:nvSpPr>
        <p:spPr>
          <a:xfrm>
            <a:off x="457200" y="841248"/>
            <a:ext cx="8229600" cy="27432"/>
          </a:xfrm>
          <a:prstGeom prst="rect">
            <a:avLst/>
          </a:prstGeom>
          <a:solidFill>
            <a:srgbClr val="7C3AED"/>
          </a:solidFill>
          <a:ln/>
        </p:spPr>
        <p:txBody>
          <a:bodyPr/>
          <a:lstStyle/>
          <a:p>
            <a:endParaRPr lang="en-US"/>
          </a:p>
        </p:txBody>
      </p:sp>
      <p:sp>
        <p:nvSpPr>
          <p:cNvPr id="4" name="Text 2"/>
          <p:cNvSpPr/>
          <p:nvPr/>
        </p:nvSpPr>
        <p:spPr>
          <a:xfrm>
            <a:off x="457200" y="1005840"/>
            <a:ext cx="8229600" cy="420624"/>
          </a:xfrm>
          <a:prstGeom prst="rect">
            <a:avLst/>
          </a:prstGeom>
          <a:noFill/>
          <a:ln/>
        </p:spPr>
        <p:txBody>
          <a:bodyPr wrap="square" rtlCol="0" anchor="ctr"/>
          <a:lstStyle/>
          <a:p>
            <a:pPr marL="0" indent="0">
              <a:buNone/>
            </a:pPr>
            <a:r>
              <a:rPr lang="en-US" sz="1400" dirty="0">
                <a:solidFill>
                  <a:srgbClr val="475569"/>
                </a:solidFill>
                <a:latin typeface="Calibri" pitchFamily="34" charset="0"/>
                <a:ea typeface="Calibri" pitchFamily="34" charset="-122"/>
                <a:cs typeface="Calibri" pitchFamily="34" charset="-120"/>
              </a:rPr>
              <a:t>Classical information can be copied freely. Quantum information cannot — this is the no-cloning theorem, proven in 1982 by Wootters and Zurek.</a:t>
            </a:r>
            <a:endParaRPr lang="en-US" sz="1400" dirty="0"/>
          </a:p>
        </p:txBody>
      </p:sp>
      <p:sp>
        <p:nvSpPr>
          <p:cNvPr id="5" name="Shape 3"/>
          <p:cNvSpPr/>
          <p:nvPr/>
        </p:nvSpPr>
        <p:spPr>
          <a:xfrm>
            <a:off x="457200" y="1508760"/>
            <a:ext cx="3749040" cy="1463040"/>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6" name="Shape 4"/>
          <p:cNvSpPr/>
          <p:nvPr/>
        </p:nvSpPr>
        <p:spPr>
          <a:xfrm>
            <a:off x="457200" y="1508760"/>
            <a:ext cx="64008" cy="1463040"/>
          </a:xfrm>
          <a:prstGeom prst="rect">
            <a:avLst/>
          </a:prstGeom>
          <a:solidFill>
            <a:srgbClr val="7C3AED"/>
          </a:solidFill>
          <a:ln/>
        </p:spPr>
        <p:txBody>
          <a:bodyPr/>
          <a:lstStyle/>
          <a:p>
            <a:endParaRPr lang="en-US"/>
          </a:p>
        </p:txBody>
      </p:sp>
      <p:sp>
        <p:nvSpPr>
          <p:cNvPr id="7" name="Text 5"/>
          <p:cNvSpPr/>
          <p:nvPr/>
        </p:nvSpPr>
        <p:spPr>
          <a:xfrm>
            <a:off x="585216" y="1499616"/>
            <a:ext cx="3493008" cy="329184"/>
          </a:xfrm>
          <a:prstGeom prst="rect">
            <a:avLst/>
          </a:prstGeom>
          <a:noFill/>
          <a:ln/>
        </p:spPr>
        <p:txBody>
          <a:bodyPr wrap="square" lIns="0" tIns="0" rIns="0" bIns="0"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The Theorem (Informal)</a:t>
            </a:r>
            <a:endParaRPr lang="en-US" sz="1200" dirty="0"/>
          </a:p>
        </p:txBody>
      </p:sp>
      <p:sp>
        <p:nvSpPr>
          <p:cNvPr id="8" name="Text 6"/>
          <p:cNvSpPr/>
          <p:nvPr/>
        </p:nvSpPr>
        <p:spPr>
          <a:xfrm>
            <a:off x="585216" y="1783080"/>
            <a:ext cx="3493008" cy="1005840"/>
          </a:xfrm>
          <a:prstGeom prst="rect">
            <a:avLst/>
          </a:prstGeom>
          <a:noFill/>
          <a:ln/>
        </p:spPr>
        <p:txBody>
          <a:bodyPr wrap="square" lIns="0" tIns="0" rIns="0" bIns="0" rtlCol="0" anchor="t"/>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It is physically impossible to create a perfect independent copy of an unknown quantum state</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Any copying attempt requires measuring the qubit — which collapses it</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After measurement, you get one classical bit (0 or 1), not the full superposition state</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The original qubit has been irreversibly disturbed</a:t>
            </a:r>
            <a:endParaRPr lang="en-US" sz="1100" dirty="0"/>
          </a:p>
        </p:txBody>
      </p:sp>
      <p:sp>
        <p:nvSpPr>
          <p:cNvPr id="9" name="Shape 7"/>
          <p:cNvSpPr/>
          <p:nvPr/>
        </p:nvSpPr>
        <p:spPr>
          <a:xfrm>
            <a:off x="4343400" y="1508760"/>
            <a:ext cx="4343400" cy="1463040"/>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0" name="Shape 8"/>
          <p:cNvSpPr/>
          <p:nvPr/>
        </p:nvSpPr>
        <p:spPr>
          <a:xfrm>
            <a:off x="4343400" y="1508760"/>
            <a:ext cx="64008" cy="1463040"/>
          </a:xfrm>
          <a:prstGeom prst="rect">
            <a:avLst/>
          </a:prstGeom>
          <a:solidFill>
            <a:srgbClr val="0D9488"/>
          </a:solidFill>
          <a:ln/>
        </p:spPr>
        <p:txBody>
          <a:bodyPr/>
          <a:lstStyle/>
          <a:p>
            <a:endParaRPr lang="en-US"/>
          </a:p>
        </p:txBody>
      </p:sp>
      <p:sp>
        <p:nvSpPr>
          <p:cNvPr id="11" name="Text 9"/>
          <p:cNvSpPr/>
          <p:nvPr/>
        </p:nvSpPr>
        <p:spPr>
          <a:xfrm>
            <a:off x="4503420" y="1499616"/>
            <a:ext cx="4087368" cy="329184"/>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Why It Matters for Security</a:t>
            </a:r>
            <a:endParaRPr lang="en-US" sz="1200" dirty="0"/>
          </a:p>
        </p:txBody>
      </p:sp>
      <p:sp>
        <p:nvSpPr>
          <p:cNvPr id="12" name="Text 10"/>
          <p:cNvSpPr/>
          <p:nvPr/>
        </p:nvSpPr>
        <p:spPr>
          <a:xfrm>
            <a:off x="4503420" y="1792224"/>
            <a:ext cx="4087368" cy="1005840"/>
          </a:xfrm>
          <a:prstGeom prst="rect">
            <a:avLst/>
          </a:prstGeom>
          <a:noFill/>
          <a:ln/>
        </p:spPr>
        <p:txBody>
          <a:bodyPr wrap="square" lIns="0" tIns="0" rIns="0" bIns="0" rtlCol="0" anchor="t"/>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Classical eavesdrop: attacker copies the bit, reads it, forwards the copy — sender never knows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Quantum eavesdrop: attacker must measure the qubit — which collapses it and disturbs the state</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The legitimate receiver detects the disturbance — the eavesdrop is revealed</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Security is guaranteed by physics, not by computational hardness</a:t>
            </a:r>
            <a:endParaRPr lang="en-US" sz="1100" dirty="0"/>
          </a:p>
        </p:txBody>
      </p:sp>
      <p:pic>
        <p:nvPicPr>
          <p:cNvPr id="21" name="NoCloning"/>
          <p:cNvPicPr>
            <a:picLocks noChangeAspect="1"/>
          </p:cNvPicPr>
          <p:nvPr/>
        </p:nvPicPr>
        <p:blipFill>
          <a:blip r:embed="rId3"/>
          <a:stretch>
            <a:fillRect/>
          </a:stretch>
        </p:blipFill>
        <p:spPr>
          <a:xfrm>
            <a:off x="950404" y="3044952"/>
            <a:ext cx="6741413" cy="19662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1FD5DEF4-F371-973F-343F-05B432DAB4E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6AD255E-4219-4BE0-F465-0DE89CCB8BCD}"/>
              </a:ext>
            </a:extLst>
          </p:cNvPr>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3000" b="1" dirty="0">
                <a:solidFill>
                  <a:srgbClr val="7C3AED"/>
                </a:solidFill>
                <a:latin typeface="Calibri" pitchFamily="34" charset="0"/>
                <a:ea typeface="Calibri" pitchFamily="34" charset="-122"/>
                <a:cs typeface="Calibri" pitchFamily="34" charset="-120"/>
              </a:rPr>
              <a:t>The No-Cloning Theorem: Why Quantum = Secure</a:t>
            </a:r>
            <a:endParaRPr lang="en-US" sz="3000" dirty="0"/>
          </a:p>
        </p:txBody>
      </p:sp>
      <p:sp>
        <p:nvSpPr>
          <p:cNvPr id="3" name="Shape 1">
            <a:extLst>
              <a:ext uri="{FF2B5EF4-FFF2-40B4-BE49-F238E27FC236}">
                <a16:creationId xmlns:a16="http://schemas.microsoft.com/office/drawing/2014/main" id="{51F8016F-4863-ABD6-3D6B-EF018AAE6F65}"/>
              </a:ext>
            </a:extLst>
          </p:cNvPr>
          <p:cNvSpPr/>
          <p:nvPr/>
        </p:nvSpPr>
        <p:spPr>
          <a:xfrm>
            <a:off x="457200" y="841248"/>
            <a:ext cx="8229600" cy="27432"/>
          </a:xfrm>
          <a:prstGeom prst="rect">
            <a:avLst/>
          </a:prstGeom>
          <a:solidFill>
            <a:srgbClr val="7C3AED"/>
          </a:solidFill>
          <a:ln/>
        </p:spPr>
        <p:txBody>
          <a:bodyPr/>
          <a:lstStyle/>
          <a:p>
            <a:endParaRPr lang="en-US"/>
          </a:p>
        </p:txBody>
      </p:sp>
      <p:sp>
        <p:nvSpPr>
          <p:cNvPr id="13" name="Shape 11">
            <a:extLst>
              <a:ext uri="{FF2B5EF4-FFF2-40B4-BE49-F238E27FC236}">
                <a16:creationId xmlns:a16="http://schemas.microsoft.com/office/drawing/2014/main" id="{741DF257-71CE-AA4C-4599-D83F27612A3F}"/>
              </a:ext>
            </a:extLst>
          </p:cNvPr>
          <p:cNvSpPr/>
          <p:nvPr/>
        </p:nvSpPr>
        <p:spPr>
          <a:xfrm>
            <a:off x="457199" y="1241298"/>
            <a:ext cx="7979569" cy="1428754"/>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4" name="Shape 12">
            <a:extLst>
              <a:ext uri="{FF2B5EF4-FFF2-40B4-BE49-F238E27FC236}">
                <a16:creationId xmlns:a16="http://schemas.microsoft.com/office/drawing/2014/main" id="{EB647C2A-8EFD-4041-C6BF-8BEB95BD5E6B}"/>
              </a:ext>
            </a:extLst>
          </p:cNvPr>
          <p:cNvSpPr/>
          <p:nvPr/>
        </p:nvSpPr>
        <p:spPr>
          <a:xfrm>
            <a:off x="457200" y="1241298"/>
            <a:ext cx="64008" cy="1428754"/>
          </a:xfrm>
          <a:prstGeom prst="rect">
            <a:avLst/>
          </a:prstGeom>
          <a:solidFill>
            <a:srgbClr val="D97706"/>
          </a:solidFill>
          <a:ln/>
        </p:spPr>
        <p:txBody>
          <a:bodyPr/>
          <a:lstStyle/>
          <a:p>
            <a:endParaRPr lang="en-US"/>
          </a:p>
        </p:txBody>
      </p:sp>
      <p:sp>
        <p:nvSpPr>
          <p:cNvPr id="15" name="Text 13">
            <a:extLst>
              <a:ext uri="{FF2B5EF4-FFF2-40B4-BE49-F238E27FC236}">
                <a16:creationId xmlns:a16="http://schemas.microsoft.com/office/drawing/2014/main" id="{460D9FB9-91F2-78C5-CFCE-B3E8AEABF32D}"/>
              </a:ext>
            </a:extLst>
          </p:cNvPr>
          <p:cNvSpPr/>
          <p:nvPr/>
        </p:nvSpPr>
        <p:spPr>
          <a:xfrm>
            <a:off x="707232" y="1299305"/>
            <a:ext cx="3493008" cy="329184"/>
          </a:xfrm>
          <a:prstGeom prst="rect">
            <a:avLst/>
          </a:prstGeom>
          <a:noFill/>
          <a:ln/>
        </p:spPr>
        <p:txBody>
          <a:bodyPr wrap="square" lIns="0" tIns="0" rIns="0" bIns="0" rtlCol="0" anchor="ctr"/>
          <a:lstStyle/>
          <a:p>
            <a:pPr marL="0" indent="0">
              <a:buNone/>
            </a:pPr>
            <a:r>
              <a:rPr lang="en-US" sz="1400" b="1" dirty="0">
                <a:solidFill>
                  <a:srgbClr val="D97706"/>
                </a:solidFill>
                <a:latin typeface="Calibri" pitchFamily="34" charset="0"/>
                <a:ea typeface="Calibri" pitchFamily="34" charset="-122"/>
                <a:cs typeface="Calibri" pitchFamily="34" charset="-120"/>
              </a:rPr>
              <a:t>Quantum Key Distribution (QKD)</a:t>
            </a:r>
            <a:endParaRPr lang="en-US" sz="1400" dirty="0"/>
          </a:p>
        </p:txBody>
      </p:sp>
      <p:sp>
        <p:nvSpPr>
          <p:cNvPr id="16" name="Text 14">
            <a:extLst>
              <a:ext uri="{FF2B5EF4-FFF2-40B4-BE49-F238E27FC236}">
                <a16:creationId xmlns:a16="http://schemas.microsoft.com/office/drawing/2014/main" id="{F9040328-2AD8-28FE-37AC-5A6F5D9EEA50}"/>
              </a:ext>
            </a:extLst>
          </p:cNvPr>
          <p:cNvSpPr/>
          <p:nvPr/>
        </p:nvSpPr>
        <p:spPr>
          <a:xfrm>
            <a:off x="617220" y="1709500"/>
            <a:ext cx="7507796" cy="921544"/>
          </a:xfrm>
          <a:prstGeom prst="rect">
            <a:avLst/>
          </a:prstGeom>
          <a:noFill/>
          <a:ln/>
        </p:spPr>
        <p:txBody>
          <a:bodyPr wrap="square" lIns="0" tIns="0" rIns="0" bIns="0" rtlCol="0" anchor="t"/>
          <a:lstStyle/>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QKD uses quantum states to establish a shared secret key between two parties</a:t>
            </a:r>
            <a:endParaRPr lang="en-US" sz="1200" dirty="0"/>
          </a:p>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BB84 protocol (1984): uses photon polarization to distribute key bits</a:t>
            </a:r>
            <a:endParaRPr lang="en-US" sz="1200" dirty="0"/>
          </a:p>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Any eavesdropper disturbs the photons — detected by a statistical test</a:t>
            </a:r>
            <a:endParaRPr lang="en-US" sz="1200" dirty="0"/>
          </a:p>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Result: unconditionally secure key exchange (proven against all attacks)</a:t>
            </a:r>
            <a:endParaRPr lang="en-US" sz="1200" dirty="0"/>
          </a:p>
        </p:txBody>
      </p:sp>
      <p:sp>
        <p:nvSpPr>
          <p:cNvPr id="17" name="Shape 15">
            <a:extLst>
              <a:ext uri="{FF2B5EF4-FFF2-40B4-BE49-F238E27FC236}">
                <a16:creationId xmlns:a16="http://schemas.microsoft.com/office/drawing/2014/main" id="{2C6EE3CA-3267-2B4A-8CFD-E015C280D135}"/>
              </a:ext>
            </a:extLst>
          </p:cNvPr>
          <p:cNvSpPr/>
          <p:nvPr/>
        </p:nvSpPr>
        <p:spPr>
          <a:xfrm>
            <a:off x="457199" y="2910086"/>
            <a:ext cx="7979568" cy="1483320"/>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8" name="Shape 16">
            <a:extLst>
              <a:ext uri="{FF2B5EF4-FFF2-40B4-BE49-F238E27FC236}">
                <a16:creationId xmlns:a16="http://schemas.microsoft.com/office/drawing/2014/main" id="{5BF4987A-6034-0123-58AE-3B2F6F44E174}"/>
              </a:ext>
            </a:extLst>
          </p:cNvPr>
          <p:cNvSpPr/>
          <p:nvPr/>
        </p:nvSpPr>
        <p:spPr>
          <a:xfrm>
            <a:off x="457199" y="2910086"/>
            <a:ext cx="64008" cy="1483320"/>
          </a:xfrm>
          <a:prstGeom prst="rect">
            <a:avLst/>
          </a:prstGeom>
          <a:solidFill>
            <a:srgbClr val="D97706"/>
          </a:solidFill>
          <a:ln/>
        </p:spPr>
        <p:txBody>
          <a:bodyPr/>
          <a:lstStyle/>
          <a:p>
            <a:endParaRPr lang="en-US"/>
          </a:p>
        </p:txBody>
      </p:sp>
      <p:sp>
        <p:nvSpPr>
          <p:cNvPr id="19" name="Text 17">
            <a:extLst>
              <a:ext uri="{FF2B5EF4-FFF2-40B4-BE49-F238E27FC236}">
                <a16:creationId xmlns:a16="http://schemas.microsoft.com/office/drawing/2014/main" id="{95B8A2CE-841C-F8D9-9B21-6CCEE3FCDBF3}"/>
              </a:ext>
            </a:extLst>
          </p:cNvPr>
          <p:cNvSpPr/>
          <p:nvPr/>
        </p:nvSpPr>
        <p:spPr>
          <a:xfrm>
            <a:off x="707232" y="2923798"/>
            <a:ext cx="4087368" cy="329184"/>
          </a:xfrm>
          <a:prstGeom prst="rect">
            <a:avLst/>
          </a:prstGeom>
          <a:noFill/>
          <a:ln/>
        </p:spPr>
        <p:txBody>
          <a:bodyPr wrap="square" lIns="0" tIns="0" rIns="0" bIns="0" rtlCol="0" anchor="ctr"/>
          <a:lstStyle/>
          <a:p>
            <a:pPr marL="0" indent="0">
              <a:buNone/>
            </a:pPr>
            <a:r>
              <a:rPr lang="en-US" sz="1400" b="1" dirty="0">
                <a:solidFill>
                  <a:srgbClr val="D97706"/>
                </a:solidFill>
                <a:latin typeface="Calibri" pitchFamily="34" charset="0"/>
                <a:ea typeface="Calibri" pitchFamily="34" charset="-122"/>
                <a:cs typeface="Calibri" pitchFamily="34" charset="-120"/>
              </a:rPr>
              <a:t>The RSA Threat</a:t>
            </a:r>
            <a:endParaRPr lang="en-US" sz="1400" dirty="0"/>
          </a:p>
        </p:txBody>
      </p:sp>
      <p:sp>
        <p:nvSpPr>
          <p:cNvPr id="20" name="Text 18">
            <a:extLst>
              <a:ext uri="{FF2B5EF4-FFF2-40B4-BE49-F238E27FC236}">
                <a16:creationId xmlns:a16="http://schemas.microsoft.com/office/drawing/2014/main" id="{95E71B41-4B1D-7CAB-E729-A5E39134173B}"/>
              </a:ext>
            </a:extLst>
          </p:cNvPr>
          <p:cNvSpPr/>
          <p:nvPr/>
        </p:nvSpPr>
        <p:spPr>
          <a:xfrm>
            <a:off x="617219" y="3387852"/>
            <a:ext cx="7507797" cy="914400"/>
          </a:xfrm>
          <a:prstGeom prst="rect">
            <a:avLst/>
          </a:prstGeom>
          <a:noFill/>
          <a:ln/>
        </p:spPr>
        <p:txBody>
          <a:bodyPr wrap="square" lIns="0" tIns="0" rIns="0" bIns="0" rtlCol="0" anchor="t"/>
          <a:lstStyle/>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Today's internet security (HTTPS, banking, VPNs) relies on RSA or Elliptic Curve Cryptography</a:t>
            </a:r>
            <a:endParaRPr lang="en-US" sz="1200" dirty="0"/>
          </a:p>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These are secure against classical computers</a:t>
            </a:r>
            <a:endParaRPr lang="en-US" sz="1200" dirty="0"/>
          </a:p>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But Shor's quantum algorithm (1994) can factor large numbers in polynomial time</a:t>
            </a:r>
            <a:endParaRPr lang="en-US" sz="1200" dirty="0"/>
          </a:p>
          <a:p>
            <a:pPr marL="342900" indent="-342900">
              <a:buSzPct val="100000"/>
              <a:buChar char="•"/>
            </a:pPr>
            <a:r>
              <a:rPr lang="en-US" sz="1200" dirty="0">
                <a:solidFill>
                  <a:srgbClr val="475569"/>
                </a:solidFill>
                <a:latin typeface="Calibri" pitchFamily="34" charset="0"/>
                <a:ea typeface="Calibri" pitchFamily="34" charset="-122"/>
                <a:cs typeface="Calibri" pitchFamily="34" charset="-120"/>
              </a:rPr>
              <a:t>A sufficiently powerful quantum computer breaks RSA — QKD is post-quantum secure</a:t>
            </a:r>
            <a:endParaRPr lang="en-US" sz="1200" dirty="0"/>
          </a:p>
        </p:txBody>
      </p:sp>
    </p:spTree>
    <p:extLst>
      <p:ext uri="{BB962C8B-B14F-4D97-AF65-F5344CB8AC3E}">
        <p14:creationId xmlns:p14="http://schemas.microsoft.com/office/powerpoint/2010/main" val="382465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7C3AED"/>
          </a:solidFill>
          <a:ln/>
        </p:spPr>
        <p:txBody>
          <a:bodyPr/>
          <a:lstStyle/>
          <a:p>
            <a:endParaRPr lang="en-US"/>
          </a:p>
        </p:txBody>
      </p:sp>
      <p:sp>
        <p:nvSpPr>
          <p:cNvPr id="3" name="Text 1"/>
          <p:cNvSpPr/>
          <p:nvPr/>
        </p:nvSpPr>
        <p:spPr>
          <a:xfrm>
            <a:off x="320040" y="0"/>
            <a:ext cx="8503920" cy="502920"/>
          </a:xfrm>
          <a:prstGeom prst="rect">
            <a:avLst/>
          </a:prstGeom>
          <a:noFill/>
          <a:ln/>
        </p:spPr>
        <p:txBody>
          <a:bodyPr wrap="square" lIns="0" tIns="0" rIns="0" bIns="0" rtlCol="0" anchor="ctr"/>
          <a:lstStyle/>
          <a:p>
            <a:r>
              <a:rPr lang="en-US" sz="1500" b="1" dirty="0">
                <a:solidFill>
                  <a:srgbClr val="FFFFFF"/>
                </a:solidFill>
                <a:latin typeface="Calibri" pitchFamily="34" charset="0"/>
                <a:ea typeface="Calibri" pitchFamily="34" charset="-122"/>
                <a:cs typeface="Calibri" pitchFamily="34" charset="-120"/>
              </a:rPr>
              <a:t>Activity 2</a:t>
            </a:r>
            <a:endParaRPr lang="en-US" sz="1500" dirty="0"/>
          </a:p>
        </p:txBody>
      </p:sp>
      <p:sp>
        <p:nvSpPr>
          <p:cNvPr id="4" name="Text 2"/>
          <p:cNvSpPr/>
          <p:nvPr/>
        </p:nvSpPr>
        <p:spPr>
          <a:xfrm>
            <a:off x="457200" y="566928"/>
            <a:ext cx="8229600" cy="804672"/>
          </a:xfrm>
          <a:prstGeom prst="rect">
            <a:avLst/>
          </a:prstGeom>
          <a:noFill/>
          <a:ln/>
        </p:spPr>
        <p:txBody>
          <a:bodyPr wrap="square" rtlCol="0" anchor="ctr"/>
          <a:lstStyle/>
          <a:p>
            <a:pPr marL="0" indent="0">
              <a:buNone/>
            </a:pPr>
            <a:r>
              <a:rPr lang="en-US" sz="2100" b="1" dirty="0">
                <a:solidFill>
                  <a:srgbClr val="1C2D5E"/>
                </a:solidFill>
                <a:latin typeface="Calibri" pitchFamily="34" charset="0"/>
                <a:ea typeface="Calibri" pitchFamily="34" charset="-122"/>
                <a:cs typeface="Calibri" pitchFamily="34" charset="-120"/>
              </a:rPr>
              <a:t>An attacker intercepts a qubit being transmitted over a quantum network. They measure it, record the result, and forward it.</a:t>
            </a:r>
            <a:endParaRPr lang="en-US" sz="2100" dirty="0"/>
          </a:p>
          <a:p>
            <a:pPr marL="0" indent="0">
              <a:buNone/>
            </a:pPr>
            <a:r>
              <a:rPr lang="en-US" sz="2100" b="1" dirty="0">
                <a:solidFill>
                  <a:srgbClr val="1C2D5E"/>
                </a:solidFill>
                <a:latin typeface="Calibri" pitchFamily="34" charset="0"/>
                <a:ea typeface="Calibri" pitchFamily="34" charset="-122"/>
                <a:cs typeface="Calibri" pitchFamily="34" charset="-120"/>
              </a:rPr>
              <a:t>What is the consequence?</a:t>
            </a:r>
            <a:endParaRPr lang="en-US" sz="2100" dirty="0"/>
          </a:p>
        </p:txBody>
      </p:sp>
      <p:sp>
        <p:nvSpPr>
          <p:cNvPr id="5" name="Shape 3"/>
          <p:cNvSpPr/>
          <p:nvPr/>
        </p:nvSpPr>
        <p:spPr>
          <a:xfrm>
            <a:off x="457200" y="1481328"/>
            <a:ext cx="8229600" cy="658368"/>
          </a:xfrm>
          <a:prstGeom prst="rect">
            <a:avLst/>
          </a:prstGeom>
          <a:solidFill>
            <a:srgbClr val="1C2D5E"/>
          </a:solidFill>
          <a:ln w="10160">
            <a:solidFill>
              <a:srgbClr val="334155"/>
            </a:solidFill>
            <a:prstDash val="solid"/>
          </a:ln>
        </p:spPr>
        <p:txBody>
          <a:bodyPr/>
          <a:lstStyle/>
          <a:p>
            <a:endParaRPr lang="en-US"/>
          </a:p>
        </p:txBody>
      </p:sp>
      <p:sp>
        <p:nvSpPr>
          <p:cNvPr id="6" name="Text 4"/>
          <p:cNvSpPr/>
          <p:nvPr/>
        </p:nvSpPr>
        <p:spPr>
          <a:xfrm>
            <a:off x="548640" y="1481328"/>
            <a:ext cx="502920" cy="658368"/>
          </a:xfrm>
          <a:prstGeom prst="rect">
            <a:avLst/>
          </a:prstGeom>
          <a:noFill/>
          <a:ln/>
        </p:spPr>
        <p:txBody>
          <a:bodyPr wrap="square" lIns="0" tIns="0" rIns="0" bIns="0" rtlCol="0" anchor="ctr"/>
          <a:lstStyle/>
          <a:p>
            <a:pPr marL="0" indent="0" algn="ctr">
              <a:buNone/>
            </a:pPr>
            <a:r>
              <a:rPr lang="en-US" sz="1700" b="1" dirty="0">
                <a:solidFill>
                  <a:srgbClr val="C4B5FD"/>
                </a:solidFill>
                <a:latin typeface="Calibri" pitchFamily="34" charset="0"/>
                <a:ea typeface="Calibri" pitchFamily="34" charset="-122"/>
                <a:cs typeface="Calibri" pitchFamily="34" charset="-120"/>
              </a:rPr>
              <a:t>A</a:t>
            </a:r>
            <a:endParaRPr lang="en-US" sz="1700" dirty="0"/>
          </a:p>
        </p:txBody>
      </p:sp>
      <p:sp>
        <p:nvSpPr>
          <p:cNvPr id="7" name="Text 5"/>
          <p:cNvSpPr/>
          <p:nvPr/>
        </p:nvSpPr>
        <p:spPr>
          <a:xfrm>
            <a:off x="1115568" y="1572768"/>
            <a:ext cx="7479792"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Nothing — a qubit is just a bit, so the attacker gets the bit value and the receiver gets an identical copy</a:t>
            </a:r>
            <a:endParaRPr lang="en-US" sz="1300" dirty="0"/>
          </a:p>
        </p:txBody>
      </p:sp>
      <p:sp>
        <p:nvSpPr>
          <p:cNvPr id="8" name="Shape 6"/>
          <p:cNvSpPr/>
          <p:nvPr/>
        </p:nvSpPr>
        <p:spPr>
          <a:xfrm>
            <a:off x="457200" y="2286000"/>
            <a:ext cx="8229600" cy="658368"/>
          </a:xfrm>
          <a:prstGeom prst="rect">
            <a:avLst/>
          </a:prstGeom>
          <a:solidFill>
            <a:srgbClr val="1C2D5E"/>
          </a:solidFill>
          <a:ln w="10160">
            <a:solidFill>
              <a:srgbClr val="334155"/>
            </a:solidFill>
            <a:prstDash val="solid"/>
          </a:ln>
        </p:spPr>
        <p:txBody>
          <a:bodyPr/>
          <a:lstStyle/>
          <a:p>
            <a:endParaRPr lang="en-US"/>
          </a:p>
        </p:txBody>
      </p:sp>
      <p:sp>
        <p:nvSpPr>
          <p:cNvPr id="9" name="Text 7"/>
          <p:cNvSpPr/>
          <p:nvPr/>
        </p:nvSpPr>
        <p:spPr>
          <a:xfrm>
            <a:off x="548640" y="2286000"/>
            <a:ext cx="502920" cy="658368"/>
          </a:xfrm>
          <a:prstGeom prst="rect">
            <a:avLst/>
          </a:prstGeom>
          <a:noFill/>
          <a:ln/>
        </p:spPr>
        <p:txBody>
          <a:bodyPr wrap="square" lIns="0" tIns="0" rIns="0" bIns="0" rtlCol="0" anchor="ctr"/>
          <a:lstStyle/>
          <a:p>
            <a:pPr marL="0" indent="0" algn="ctr">
              <a:buNone/>
            </a:pPr>
            <a:r>
              <a:rPr lang="en-US" sz="1700" b="1" dirty="0">
                <a:solidFill>
                  <a:srgbClr val="C4B5FD"/>
                </a:solidFill>
                <a:latin typeface="Calibri" pitchFamily="34" charset="0"/>
                <a:ea typeface="Calibri" pitchFamily="34" charset="-122"/>
                <a:cs typeface="Calibri" pitchFamily="34" charset="-120"/>
              </a:rPr>
              <a:t>B</a:t>
            </a:r>
            <a:endParaRPr lang="en-US" sz="1700" dirty="0"/>
          </a:p>
        </p:txBody>
      </p:sp>
      <p:sp>
        <p:nvSpPr>
          <p:cNvPr id="10" name="Text 8"/>
          <p:cNvSpPr/>
          <p:nvPr/>
        </p:nvSpPr>
        <p:spPr>
          <a:xfrm>
            <a:off x="1115568" y="2377440"/>
            <a:ext cx="7479792"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attacker learns the bit value, but the qubit arrives at the receiver unchanged, so the eavesdrop goes undetected</a:t>
            </a:r>
            <a:endParaRPr lang="en-US" sz="1300" dirty="0"/>
          </a:p>
        </p:txBody>
      </p:sp>
      <p:sp>
        <p:nvSpPr>
          <p:cNvPr id="11" name="Shape 9"/>
          <p:cNvSpPr/>
          <p:nvPr/>
        </p:nvSpPr>
        <p:spPr>
          <a:xfrm>
            <a:off x="457200" y="3090672"/>
            <a:ext cx="8229600" cy="658368"/>
          </a:xfrm>
          <a:prstGeom prst="rect">
            <a:avLst/>
          </a:prstGeom>
          <a:solidFill>
            <a:srgbClr val="1C2D5E"/>
          </a:solidFill>
          <a:ln w="10160">
            <a:solidFill>
              <a:srgbClr val="334155"/>
            </a:solidFill>
            <a:prstDash val="solid"/>
          </a:ln>
        </p:spPr>
        <p:txBody>
          <a:bodyPr/>
          <a:lstStyle/>
          <a:p>
            <a:endParaRPr lang="en-US"/>
          </a:p>
        </p:txBody>
      </p:sp>
      <p:sp>
        <p:nvSpPr>
          <p:cNvPr id="12" name="Text 10"/>
          <p:cNvSpPr/>
          <p:nvPr/>
        </p:nvSpPr>
        <p:spPr>
          <a:xfrm>
            <a:off x="548640" y="3090672"/>
            <a:ext cx="502920" cy="658368"/>
          </a:xfrm>
          <a:prstGeom prst="rect">
            <a:avLst/>
          </a:prstGeom>
          <a:noFill/>
          <a:ln/>
        </p:spPr>
        <p:txBody>
          <a:bodyPr wrap="square" lIns="0" tIns="0" rIns="0" bIns="0" rtlCol="0" anchor="ctr"/>
          <a:lstStyle/>
          <a:p>
            <a:pPr marL="0" indent="0" algn="ctr">
              <a:buNone/>
            </a:pPr>
            <a:r>
              <a:rPr lang="en-US" sz="1700" b="1" dirty="0">
                <a:solidFill>
                  <a:srgbClr val="C4B5FD"/>
                </a:solidFill>
                <a:latin typeface="Calibri" pitchFamily="34" charset="0"/>
                <a:ea typeface="Calibri" pitchFamily="34" charset="-122"/>
                <a:cs typeface="Calibri" pitchFamily="34" charset="-120"/>
              </a:rPr>
              <a:t>C</a:t>
            </a:r>
            <a:endParaRPr lang="en-US" sz="1700" dirty="0"/>
          </a:p>
        </p:txBody>
      </p:sp>
      <p:sp>
        <p:nvSpPr>
          <p:cNvPr id="13" name="Text 11"/>
          <p:cNvSpPr/>
          <p:nvPr/>
        </p:nvSpPr>
        <p:spPr>
          <a:xfrm>
            <a:off x="1115568" y="3182112"/>
            <a:ext cx="7479792"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Measuring the qubit collapses its superposition — the receiver detects a disturbed state, revealing the eavesdrop</a:t>
            </a:r>
            <a:endParaRPr lang="en-US" sz="1300" dirty="0"/>
          </a:p>
        </p:txBody>
      </p:sp>
      <p:sp>
        <p:nvSpPr>
          <p:cNvPr id="14" name="Shape 12"/>
          <p:cNvSpPr/>
          <p:nvPr/>
        </p:nvSpPr>
        <p:spPr>
          <a:xfrm>
            <a:off x="457200" y="3895344"/>
            <a:ext cx="8229600" cy="658368"/>
          </a:xfrm>
          <a:prstGeom prst="rect">
            <a:avLst/>
          </a:prstGeom>
          <a:solidFill>
            <a:srgbClr val="1C2D5E"/>
          </a:solidFill>
          <a:ln w="10160">
            <a:solidFill>
              <a:srgbClr val="334155"/>
            </a:solidFill>
            <a:prstDash val="solid"/>
          </a:ln>
        </p:spPr>
        <p:txBody>
          <a:bodyPr/>
          <a:lstStyle/>
          <a:p>
            <a:endParaRPr lang="en-US"/>
          </a:p>
        </p:txBody>
      </p:sp>
      <p:sp>
        <p:nvSpPr>
          <p:cNvPr id="15" name="Text 13"/>
          <p:cNvSpPr/>
          <p:nvPr/>
        </p:nvSpPr>
        <p:spPr>
          <a:xfrm>
            <a:off x="548640" y="3895344"/>
            <a:ext cx="502920" cy="658368"/>
          </a:xfrm>
          <a:prstGeom prst="rect">
            <a:avLst/>
          </a:prstGeom>
          <a:noFill/>
          <a:ln/>
        </p:spPr>
        <p:txBody>
          <a:bodyPr wrap="square" lIns="0" tIns="0" rIns="0" bIns="0" rtlCol="0" anchor="ctr"/>
          <a:lstStyle/>
          <a:p>
            <a:pPr marL="0" indent="0" algn="ctr">
              <a:buNone/>
            </a:pPr>
            <a:r>
              <a:rPr lang="en-US" sz="1700" b="1" dirty="0">
                <a:solidFill>
                  <a:srgbClr val="C4B5FD"/>
                </a:solidFill>
                <a:latin typeface="Calibri" pitchFamily="34" charset="0"/>
                <a:ea typeface="Calibri" pitchFamily="34" charset="-122"/>
                <a:cs typeface="Calibri" pitchFamily="34" charset="-120"/>
              </a:rPr>
              <a:t>D</a:t>
            </a:r>
            <a:endParaRPr lang="en-US" sz="1700" dirty="0"/>
          </a:p>
        </p:txBody>
      </p:sp>
      <p:sp>
        <p:nvSpPr>
          <p:cNvPr id="16" name="Text 14"/>
          <p:cNvSpPr/>
          <p:nvPr/>
        </p:nvSpPr>
        <p:spPr>
          <a:xfrm>
            <a:off x="1115568" y="3986784"/>
            <a:ext cx="7479792"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qubit is destroyed in transit — the receiver gets nothing and knows the link is broken</a:t>
            </a:r>
            <a:endParaRPr lang="en-US" sz="1300" dirty="0"/>
          </a:p>
        </p:txBody>
      </p:sp>
      <p:sp>
        <p:nvSpPr>
          <p:cNvPr id="17" name="Text 15"/>
          <p:cNvSpPr/>
          <p:nvPr/>
        </p:nvSpPr>
        <p:spPr>
          <a:xfrm>
            <a:off x="457200" y="4681728"/>
            <a:ext cx="8229600" cy="329184"/>
          </a:xfrm>
          <a:prstGeom prst="rect">
            <a:avLst/>
          </a:prstGeom>
          <a:noFill/>
          <a:ln/>
        </p:spPr>
        <p:txBody>
          <a:bodyPr wrap="square" rtlCol="0" anchor="ctr"/>
          <a:lstStyle/>
          <a:p>
            <a:pPr marL="0" indent="0">
              <a:buNone/>
            </a:pPr>
            <a:r>
              <a:rPr lang="en-US" sz="1300" i="1" dirty="0">
                <a:solidFill>
                  <a:srgbClr val="7C3AED"/>
                </a:solidFill>
                <a:latin typeface="Calibri" pitchFamily="34" charset="0"/>
                <a:ea typeface="Calibri" pitchFamily="34" charset="-122"/>
                <a:cs typeface="Calibri" pitchFamily="34" charset="-120"/>
              </a:rPr>
              <a:t>💬  Think about what "measurement collapses superposition" means for a qubit already in a known state.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7C3AED"/>
          </a:solidFill>
          <a:ln/>
        </p:spPr>
        <p:txBody>
          <a:bodyPr/>
          <a:lstStyle/>
          <a:p>
            <a:endParaRPr lang="en-US"/>
          </a:p>
        </p:txBody>
      </p:sp>
      <p:sp>
        <p:nvSpPr>
          <p:cNvPr id="3" name="Text 1"/>
          <p:cNvSpPr/>
          <p:nvPr/>
        </p:nvSpPr>
        <p:spPr>
          <a:xfrm>
            <a:off x="320040" y="0"/>
            <a:ext cx="8503920" cy="502920"/>
          </a:xfrm>
          <a:prstGeom prst="rect">
            <a:avLst/>
          </a:prstGeom>
          <a:noFill/>
          <a:ln/>
        </p:spPr>
        <p:txBody>
          <a:bodyPr wrap="square" lIns="0" tIns="0" rIns="0" bIns="0" rtlCol="0" anchor="ctr"/>
          <a:lstStyle/>
          <a:p>
            <a:r>
              <a:rPr lang="en-US" sz="1500" b="1" dirty="0">
                <a:solidFill>
                  <a:srgbClr val="FFFFFF"/>
                </a:solidFill>
                <a:latin typeface="Calibri" pitchFamily="34" charset="0"/>
                <a:ea typeface="Calibri" pitchFamily="34" charset="-122"/>
                <a:cs typeface="Calibri" pitchFamily="34" charset="-120"/>
              </a:rPr>
              <a:t>Activity 2 - Answer</a:t>
            </a:r>
            <a:endParaRPr lang="en-US" sz="1500" dirty="0"/>
          </a:p>
        </p:txBody>
      </p:sp>
      <p:sp>
        <p:nvSpPr>
          <p:cNvPr id="4" name="Text 2"/>
          <p:cNvSpPr/>
          <p:nvPr/>
        </p:nvSpPr>
        <p:spPr>
          <a:xfrm>
            <a:off x="457200" y="566928"/>
            <a:ext cx="8229600" cy="685800"/>
          </a:xfrm>
          <a:prstGeom prst="rect">
            <a:avLst/>
          </a:prstGeom>
          <a:noFill/>
          <a:ln/>
        </p:spPr>
        <p:txBody>
          <a:bodyPr wrap="square" rtlCol="0" anchor="ctr"/>
          <a:lstStyle/>
          <a:p>
            <a:pPr marL="0" indent="0">
              <a:buNone/>
            </a:pPr>
            <a:r>
              <a:rPr lang="en-US" sz="2100" b="1" dirty="0">
                <a:solidFill>
                  <a:srgbClr val="1C2D5E"/>
                </a:solidFill>
                <a:latin typeface="Calibri" pitchFamily="34" charset="0"/>
                <a:ea typeface="Calibri" pitchFamily="34" charset="-122"/>
                <a:cs typeface="Calibri" pitchFamily="34" charset="-120"/>
              </a:rPr>
              <a:t>An attacker intercepts a qubit, measures it, records the result, and forwards it.</a:t>
            </a:r>
            <a:endParaRPr lang="en-US" sz="2100" dirty="0"/>
          </a:p>
          <a:p>
            <a:pPr marL="0" indent="0">
              <a:buNone/>
            </a:pPr>
            <a:r>
              <a:rPr lang="en-US" sz="2100" b="1" dirty="0">
                <a:solidFill>
                  <a:srgbClr val="1C2D5E"/>
                </a:solidFill>
                <a:latin typeface="Calibri" pitchFamily="34" charset="0"/>
                <a:ea typeface="Calibri" pitchFamily="34" charset="-122"/>
                <a:cs typeface="Calibri" pitchFamily="34" charset="-120"/>
              </a:rPr>
              <a:t>What is the consequence?</a:t>
            </a:r>
            <a:endParaRPr lang="en-US" sz="2100" dirty="0"/>
          </a:p>
        </p:txBody>
      </p:sp>
      <p:sp>
        <p:nvSpPr>
          <p:cNvPr id="5" name="Shape 3"/>
          <p:cNvSpPr/>
          <p:nvPr/>
        </p:nvSpPr>
        <p:spPr>
          <a:xfrm>
            <a:off x="457200" y="1371600"/>
            <a:ext cx="8229600" cy="658368"/>
          </a:xfrm>
          <a:prstGeom prst="rect">
            <a:avLst/>
          </a:prstGeom>
          <a:solidFill>
            <a:srgbClr val="450A0A"/>
          </a:solidFill>
          <a:ln w="25400">
            <a:solidFill>
              <a:srgbClr val="FCA5A5"/>
            </a:solidFill>
            <a:prstDash val="solid"/>
          </a:ln>
        </p:spPr>
        <p:txBody>
          <a:bodyPr/>
          <a:lstStyle/>
          <a:p>
            <a:endParaRPr lang="en-US"/>
          </a:p>
        </p:txBody>
      </p:sp>
      <p:sp>
        <p:nvSpPr>
          <p:cNvPr id="6" name="Text 4"/>
          <p:cNvSpPr/>
          <p:nvPr/>
        </p:nvSpPr>
        <p:spPr>
          <a:xfrm>
            <a:off x="548640" y="1371600"/>
            <a:ext cx="502920" cy="658368"/>
          </a:xfrm>
          <a:prstGeom prst="rect">
            <a:avLst/>
          </a:prstGeom>
          <a:noFill/>
          <a:ln/>
        </p:spPr>
        <p:txBody>
          <a:bodyPr wrap="square" lIns="0" tIns="0" rIns="0" bIns="0" rtlCol="0" anchor="ctr"/>
          <a:lstStyle/>
          <a:p>
            <a:pPr marL="0" indent="0" algn="ctr">
              <a:buNone/>
            </a:pPr>
            <a:r>
              <a:rPr lang="en-US" sz="1700" b="1" dirty="0">
                <a:solidFill>
                  <a:srgbClr val="FCA5A5"/>
                </a:solidFill>
                <a:latin typeface="Calibri" pitchFamily="34" charset="0"/>
                <a:ea typeface="Calibri" pitchFamily="34" charset="-122"/>
                <a:cs typeface="Calibri" pitchFamily="34" charset="-120"/>
              </a:rPr>
              <a:t>A</a:t>
            </a:r>
            <a:endParaRPr lang="en-US" sz="1700" dirty="0"/>
          </a:p>
        </p:txBody>
      </p:sp>
      <p:sp>
        <p:nvSpPr>
          <p:cNvPr id="7" name="Text 5"/>
          <p:cNvSpPr/>
          <p:nvPr/>
        </p:nvSpPr>
        <p:spPr>
          <a:xfrm>
            <a:off x="1115568" y="1463040"/>
            <a:ext cx="7479792"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Nothing — a qubit is just a bit, so the attacker gets the bit value and the receiver gets an identical copy</a:t>
            </a:r>
            <a:endParaRPr lang="en-US" sz="1300" dirty="0"/>
          </a:p>
        </p:txBody>
      </p:sp>
      <p:sp>
        <p:nvSpPr>
          <p:cNvPr id="8" name="Shape 6"/>
          <p:cNvSpPr/>
          <p:nvPr/>
        </p:nvSpPr>
        <p:spPr>
          <a:xfrm>
            <a:off x="457200" y="2176272"/>
            <a:ext cx="8229600" cy="658368"/>
          </a:xfrm>
          <a:prstGeom prst="rect">
            <a:avLst/>
          </a:prstGeom>
          <a:solidFill>
            <a:srgbClr val="450A0A"/>
          </a:solidFill>
          <a:ln w="25400">
            <a:solidFill>
              <a:srgbClr val="FCA5A5"/>
            </a:solidFill>
            <a:prstDash val="solid"/>
          </a:ln>
        </p:spPr>
        <p:txBody>
          <a:bodyPr/>
          <a:lstStyle/>
          <a:p>
            <a:endParaRPr lang="en-US"/>
          </a:p>
        </p:txBody>
      </p:sp>
      <p:sp>
        <p:nvSpPr>
          <p:cNvPr id="9" name="Text 7"/>
          <p:cNvSpPr/>
          <p:nvPr/>
        </p:nvSpPr>
        <p:spPr>
          <a:xfrm>
            <a:off x="548640" y="2176272"/>
            <a:ext cx="502920" cy="658368"/>
          </a:xfrm>
          <a:prstGeom prst="rect">
            <a:avLst/>
          </a:prstGeom>
          <a:noFill/>
          <a:ln/>
        </p:spPr>
        <p:txBody>
          <a:bodyPr wrap="square" lIns="0" tIns="0" rIns="0" bIns="0" rtlCol="0" anchor="ctr"/>
          <a:lstStyle/>
          <a:p>
            <a:pPr marL="0" indent="0" algn="ctr">
              <a:buNone/>
            </a:pPr>
            <a:r>
              <a:rPr lang="en-US" sz="1700" b="1" dirty="0">
                <a:solidFill>
                  <a:srgbClr val="FCA5A5"/>
                </a:solidFill>
                <a:latin typeface="Calibri" pitchFamily="34" charset="0"/>
                <a:ea typeface="Calibri" pitchFamily="34" charset="-122"/>
                <a:cs typeface="Calibri" pitchFamily="34" charset="-120"/>
              </a:rPr>
              <a:t>B</a:t>
            </a:r>
            <a:endParaRPr lang="en-US" sz="1700" dirty="0"/>
          </a:p>
        </p:txBody>
      </p:sp>
      <p:sp>
        <p:nvSpPr>
          <p:cNvPr id="10" name="Text 8"/>
          <p:cNvSpPr/>
          <p:nvPr/>
        </p:nvSpPr>
        <p:spPr>
          <a:xfrm>
            <a:off x="1115568" y="2267712"/>
            <a:ext cx="7479792"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attacker learns the bit value, but the qubit arrives at the receiver unchanged, so the eavesdrop goes undetected</a:t>
            </a:r>
            <a:endParaRPr lang="en-US" sz="1300" dirty="0"/>
          </a:p>
        </p:txBody>
      </p:sp>
      <p:sp>
        <p:nvSpPr>
          <p:cNvPr id="11" name="Shape 9"/>
          <p:cNvSpPr/>
          <p:nvPr/>
        </p:nvSpPr>
        <p:spPr>
          <a:xfrm>
            <a:off x="457200" y="2980944"/>
            <a:ext cx="8229600" cy="658368"/>
          </a:xfrm>
          <a:prstGeom prst="rect">
            <a:avLst/>
          </a:prstGeom>
          <a:solidFill>
            <a:srgbClr val="064E3B"/>
          </a:solidFill>
          <a:ln w="25400">
            <a:solidFill>
              <a:srgbClr val="6EE7B7"/>
            </a:solidFill>
            <a:prstDash val="solid"/>
          </a:ln>
        </p:spPr>
        <p:txBody>
          <a:bodyPr/>
          <a:lstStyle/>
          <a:p>
            <a:endParaRPr lang="en-US"/>
          </a:p>
        </p:txBody>
      </p:sp>
      <p:sp>
        <p:nvSpPr>
          <p:cNvPr id="12" name="Text 10"/>
          <p:cNvSpPr/>
          <p:nvPr/>
        </p:nvSpPr>
        <p:spPr>
          <a:xfrm>
            <a:off x="548640" y="2980944"/>
            <a:ext cx="502920" cy="658368"/>
          </a:xfrm>
          <a:prstGeom prst="rect">
            <a:avLst/>
          </a:prstGeom>
          <a:noFill/>
          <a:ln/>
        </p:spPr>
        <p:txBody>
          <a:bodyPr wrap="square" lIns="0" tIns="0" rIns="0" bIns="0" rtlCol="0" anchor="ctr"/>
          <a:lstStyle/>
          <a:p>
            <a:pPr marL="0" indent="0" algn="ctr">
              <a:buNone/>
            </a:pPr>
            <a:r>
              <a:rPr lang="en-US" sz="1700" b="1" dirty="0">
                <a:solidFill>
                  <a:srgbClr val="6EE7B7"/>
                </a:solidFill>
                <a:latin typeface="Calibri" pitchFamily="34" charset="0"/>
                <a:ea typeface="Calibri" pitchFamily="34" charset="-122"/>
                <a:cs typeface="Calibri" pitchFamily="34" charset="-120"/>
              </a:rPr>
              <a:t>C</a:t>
            </a:r>
            <a:endParaRPr lang="en-US" sz="1700" dirty="0"/>
          </a:p>
        </p:txBody>
      </p:sp>
      <p:sp>
        <p:nvSpPr>
          <p:cNvPr id="13" name="Text 11"/>
          <p:cNvSpPr/>
          <p:nvPr/>
        </p:nvSpPr>
        <p:spPr>
          <a:xfrm>
            <a:off x="1115568" y="3072384"/>
            <a:ext cx="7479792"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Measuring the qubit collapses its superposition — the receiver detects a disturbed state, revealing the eavesdrop</a:t>
            </a:r>
            <a:endParaRPr lang="en-US" sz="1300" dirty="0"/>
          </a:p>
        </p:txBody>
      </p:sp>
      <p:sp>
        <p:nvSpPr>
          <p:cNvPr id="14" name="Shape 12"/>
          <p:cNvSpPr/>
          <p:nvPr/>
        </p:nvSpPr>
        <p:spPr>
          <a:xfrm>
            <a:off x="457200" y="3785616"/>
            <a:ext cx="8229600" cy="658368"/>
          </a:xfrm>
          <a:prstGeom prst="rect">
            <a:avLst/>
          </a:prstGeom>
          <a:solidFill>
            <a:srgbClr val="450A0A"/>
          </a:solidFill>
          <a:ln w="25400">
            <a:solidFill>
              <a:srgbClr val="FCA5A5"/>
            </a:solidFill>
            <a:prstDash val="solid"/>
          </a:ln>
        </p:spPr>
        <p:txBody>
          <a:bodyPr/>
          <a:lstStyle/>
          <a:p>
            <a:endParaRPr lang="en-US"/>
          </a:p>
        </p:txBody>
      </p:sp>
      <p:sp>
        <p:nvSpPr>
          <p:cNvPr id="15" name="Text 13"/>
          <p:cNvSpPr/>
          <p:nvPr/>
        </p:nvSpPr>
        <p:spPr>
          <a:xfrm>
            <a:off x="548640" y="3785616"/>
            <a:ext cx="502920" cy="658368"/>
          </a:xfrm>
          <a:prstGeom prst="rect">
            <a:avLst/>
          </a:prstGeom>
          <a:noFill/>
          <a:ln/>
        </p:spPr>
        <p:txBody>
          <a:bodyPr wrap="square" lIns="0" tIns="0" rIns="0" bIns="0" rtlCol="0" anchor="ctr"/>
          <a:lstStyle/>
          <a:p>
            <a:pPr marL="0" indent="0" algn="ctr">
              <a:buNone/>
            </a:pPr>
            <a:r>
              <a:rPr lang="en-US" sz="1700" b="1" dirty="0">
                <a:solidFill>
                  <a:srgbClr val="FCA5A5"/>
                </a:solidFill>
                <a:latin typeface="Calibri" pitchFamily="34" charset="0"/>
                <a:ea typeface="Calibri" pitchFamily="34" charset="-122"/>
                <a:cs typeface="Calibri" pitchFamily="34" charset="-120"/>
              </a:rPr>
              <a:t>D</a:t>
            </a:r>
            <a:endParaRPr lang="en-US" sz="1700" dirty="0"/>
          </a:p>
        </p:txBody>
      </p:sp>
      <p:sp>
        <p:nvSpPr>
          <p:cNvPr id="16" name="Text 14"/>
          <p:cNvSpPr/>
          <p:nvPr/>
        </p:nvSpPr>
        <p:spPr>
          <a:xfrm>
            <a:off x="1115568" y="3877056"/>
            <a:ext cx="7479792"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qubit is destroyed in transit — the receiver gets nothing and knows the link is broken</a:t>
            </a:r>
            <a:endParaRPr lang="en-US" sz="1300" dirty="0"/>
          </a:p>
        </p:txBody>
      </p:sp>
      <p:sp>
        <p:nvSpPr>
          <p:cNvPr id="17" name="Shape 15"/>
          <p:cNvSpPr/>
          <p:nvPr/>
        </p:nvSpPr>
        <p:spPr>
          <a:xfrm>
            <a:off x="457200" y="4535424"/>
            <a:ext cx="8229600" cy="512064"/>
          </a:xfrm>
          <a:prstGeom prst="rect">
            <a:avLst/>
          </a:prstGeom>
          <a:solidFill>
            <a:srgbClr val="064E3B"/>
          </a:solidFill>
          <a:ln w="19050">
            <a:solidFill>
              <a:srgbClr val="6EE7B7"/>
            </a:solidFill>
            <a:prstDash val="solid"/>
          </a:ln>
        </p:spPr>
        <p:txBody>
          <a:bodyPr/>
          <a:lstStyle/>
          <a:p>
            <a:endParaRPr lang="en-US"/>
          </a:p>
        </p:txBody>
      </p:sp>
      <p:sp>
        <p:nvSpPr>
          <p:cNvPr id="18" name="Text 16"/>
          <p:cNvSpPr/>
          <p:nvPr/>
        </p:nvSpPr>
        <p:spPr>
          <a:xfrm>
            <a:off x="640080" y="4572000"/>
            <a:ext cx="7863840" cy="475488"/>
          </a:xfrm>
          <a:prstGeom prst="rect">
            <a:avLst/>
          </a:prstGeom>
          <a:noFill/>
          <a:ln/>
        </p:spPr>
        <p:txBody>
          <a:bodyPr wrap="square" lIns="0" tIns="0" rIns="0" bIns="0" rtlCol="0" anchor="ctr"/>
          <a:lstStyle/>
          <a:p>
            <a:pPr marL="0" indent="0">
              <a:buNone/>
            </a:pPr>
            <a:r>
              <a:rPr lang="en-US" sz="1100" b="1" dirty="0">
                <a:solidFill>
                  <a:srgbClr val="6EE7B7"/>
                </a:solidFill>
                <a:latin typeface="Calibri" pitchFamily="34" charset="0"/>
                <a:ea typeface="Calibri" pitchFamily="34" charset="-122"/>
                <a:cs typeface="Calibri" pitchFamily="34" charset="-120"/>
              </a:rPr>
              <a:t>✓  C — The attacker must measure to learn the state. Measurement irreversibly collapses the qubit. The receiver receives a collapsed (not superposed) qubit — statistically detectable. A is wrong: qubits cannot be cloned. B is wrong: the disturbance is real. D is wrong: the qubit is forwarded, not destroyed.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7C3AED"/>
        </a:solidFill>
        <a:effectLst/>
      </p:bgPr>
    </p:bg>
    <p:spTree>
      <p:nvGrpSpPr>
        <p:cNvPr id="1" name=""/>
        <p:cNvGrpSpPr/>
        <p:nvPr/>
      </p:nvGrpSpPr>
      <p:grpSpPr>
        <a:xfrm>
          <a:off x="0" y="0"/>
          <a:ext cx="0" cy="0"/>
          <a:chOff x="0" y="0"/>
          <a:chExt cx="0" cy="0"/>
        </a:xfrm>
      </p:grpSpPr>
      <p:sp>
        <p:nvSpPr>
          <p:cNvPr id="2" name="Text 0"/>
          <p:cNvSpPr/>
          <p:nvPr/>
        </p:nvSpPr>
        <p:spPr>
          <a:xfrm>
            <a:off x="640080" y="1554480"/>
            <a:ext cx="7863840" cy="1097280"/>
          </a:xfrm>
          <a:prstGeom prst="rect">
            <a:avLst/>
          </a:prstGeom>
          <a:noFill/>
          <a:ln/>
        </p:spPr>
        <p:txBody>
          <a:bodyPr wrap="square"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Part 2: Quantum Entanglement</a:t>
            </a:r>
            <a:endParaRPr lang="en-US" sz="4200" dirty="0"/>
          </a:p>
        </p:txBody>
      </p:sp>
      <p:sp>
        <p:nvSpPr>
          <p:cNvPr id="3" name="Text 1"/>
          <p:cNvSpPr/>
          <p:nvPr/>
        </p:nvSpPr>
        <p:spPr>
          <a:xfrm>
            <a:off x="640080" y="2743200"/>
            <a:ext cx="7863840" cy="640080"/>
          </a:xfrm>
          <a:prstGeom prst="rect">
            <a:avLst/>
          </a:prstGeom>
          <a:noFill/>
          <a:ln/>
        </p:spPr>
        <p:txBody>
          <a:bodyPr wrap="square" rtlCol="0" anchor="ctr"/>
          <a:lstStyle/>
          <a:p>
            <a:pPr marL="0" indent="0" algn="l">
              <a:buNone/>
            </a:pPr>
            <a:r>
              <a:rPr lang="en-US" sz="1900" dirty="0">
                <a:solidFill>
                  <a:srgbClr val="DBEAFE"/>
                </a:solidFill>
                <a:latin typeface="Calibri" pitchFamily="34" charset="0"/>
                <a:ea typeface="Calibri" pitchFamily="34" charset="-122"/>
                <a:cs typeface="Calibri" pitchFamily="34" charset="-120"/>
              </a:rPr>
              <a:t>Einstein's "spooky action at a distance" — and how we use it</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3000" b="1" dirty="0">
                <a:solidFill>
                  <a:srgbClr val="7C3AED"/>
                </a:solidFill>
                <a:latin typeface="Calibri" pitchFamily="34" charset="0"/>
                <a:ea typeface="Calibri" pitchFamily="34" charset="-122"/>
                <a:cs typeface="Calibri" pitchFamily="34" charset="-120"/>
              </a:rPr>
              <a:t>What Is Quantum Entanglement?</a:t>
            </a:r>
            <a:endParaRPr lang="en-US" sz="3000" dirty="0"/>
          </a:p>
        </p:txBody>
      </p:sp>
      <p:sp>
        <p:nvSpPr>
          <p:cNvPr id="3" name="Shape 1"/>
          <p:cNvSpPr/>
          <p:nvPr/>
        </p:nvSpPr>
        <p:spPr>
          <a:xfrm>
            <a:off x="457200" y="841248"/>
            <a:ext cx="8229600" cy="27432"/>
          </a:xfrm>
          <a:prstGeom prst="rect">
            <a:avLst/>
          </a:prstGeom>
          <a:solidFill>
            <a:srgbClr val="7C3AED"/>
          </a:solidFill>
          <a:ln/>
        </p:spPr>
        <p:txBody>
          <a:bodyPr/>
          <a:lstStyle/>
          <a:p>
            <a:endParaRPr lang="en-US"/>
          </a:p>
        </p:txBody>
      </p:sp>
      <p:sp>
        <p:nvSpPr>
          <p:cNvPr id="4" name="Text 2"/>
          <p:cNvSpPr/>
          <p:nvPr/>
        </p:nvSpPr>
        <p:spPr>
          <a:xfrm>
            <a:off x="457200" y="1005840"/>
            <a:ext cx="8229600" cy="420624"/>
          </a:xfrm>
          <a:prstGeom prst="rect">
            <a:avLst/>
          </a:prstGeom>
          <a:noFill/>
          <a:ln/>
        </p:spPr>
        <p:txBody>
          <a:bodyPr wrap="square" rtlCol="0" anchor="ctr"/>
          <a:lstStyle/>
          <a:p>
            <a:pPr marL="0" indent="0">
              <a:buNone/>
            </a:pPr>
            <a:r>
              <a:rPr lang="en-US" sz="1400" dirty="0">
                <a:solidFill>
                  <a:srgbClr val="475569"/>
                </a:solidFill>
                <a:latin typeface="Calibri" pitchFamily="34" charset="0"/>
                <a:ea typeface="Calibri" pitchFamily="34" charset="-122"/>
                <a:cs typeface="Calibri" pitchFamily="34" charset="-120"/>
              </a:rPr>
              <a:t>Entangled qubits share correlated states across any distance. Measuring one instantly determines the other — tested at 1,200 km!</a:t>
            </a:r>
            <a:endParaRPr lang="en-US" sz="1400" dirty="0"/>
          </a:p>
        </p:txBody>
      </p:sp>
      <p:sp>
        <p:nvSpPr>
          <p:cNvPr id="5" name="Shape 3"/>
          <p:cNvSpPr/>
          <p:nvPr/>
        </p:nvSpPr>
        <p:spPr>
          <a:xfrm>
            <a:off x="457200" y="1572768"/>
            <a:ext cx="8065008" cy="1069848"/>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6" name="Shape 4"/>
          <p:cNvSpPr/>
          <p:nvPr/>
        </p:nvSpPr>
        <p:spPr>
          <a:xfrm>
            <a:off x="457200" y="1572767"/>
            <a:ext cx="64008" cy="1051847"/>
          </a:xfrm>
          <a:prstGeom prst="rect">
            <a:avLst/>
          </a:prstGeom>
          <a:solidFill>
            <a:srgbClr val="7C3AED"/>
          </a:solidFill>
          <a:ln/>
        </p:spPr>
        <p:txBody>
          <a:bodyPr/>
          <a:lstStyle/>
          <a:p>
            <a:endParaRPr lang="en-US"/>
          </a:p>
        </p:txBody>
      </p:sp>
      <p:sp>
        <p:nvSpPr>
          <p:cNvPr id="7" name="Text 5"/>
          <p:cNvSpPr/>
          <p:nvPr/>
        </p:nvSpPr>
        <p:spPr>
          <a:xfrm>
            <a:off x="621792" y="1577626"/>
            <a:ext cx="3493008" cy="329184"/>
          </a:xfrm>
          <a:prstGeom prst="rect">
            <a:avLst/>
          </a:prstGeom>
          <a:noFill/>
          <a:ln/>
        </p:spPr>
        <p:txBody>
          <a:bodyPr wrap="square" lIns="0" tIns="0" rIns="0" bIns="0"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Creating Entanglement</a:t>
            </a:r>
            <a:endParaRPr lang="en-US" sz="1200" dirty="0"/>
          </a:p>
        </p:txBody>
      </p:sp>
      <p:sp>
        <p:nvSpPr>
          <p:cNvPr id="8" name="Text 6"/>
          <p:cNvSpPr/>
          <p:nvPr/>
        </p:nvSpPr>
        <p:spPr>
          <a:xfrm>
            <a:off x="621792" y="1865376"/>
            <a:ext cx="7786402" cy="759238"/>
          </a:xfrm>
          <a:prstGeom prst="rect">
            <a:avLst/>
          </a:prstGeom>
          <a:noFill/>
          <a:ln/>
        </p:spPr>
        <p:txBody>
          <a:bodyPr wrap="square" lIns="0" tIns="0" rIns="0" bIns="0" rtlCol="0" anchor="t"/>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Two qubits can be entangled by a quantum gate operation</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One common method: apply a Hadamard gate to qubit 1, then a CNOT gate using qubit 1 as control and qubit 2 as target</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Result: |Φ+⟩ = (|00⟩ + |11⟩) / √2 — a Bell state</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In photonics: Spontaneous Parametric Down-Conversion (SPDC) produces entangled photon pairs from a single pump photon</a:t>
            </a:r>
            <a:endParaRPr lang="en-US" sz="1100" dirty="0"/>
          </a:p>
        </p:txBody>
      </p:sp>
      <p:pic>
        <p:nvPicPr>
          <p:cNvPr id="21" name="EntanglementDiagram"/>
          <p:cNvPicPr>
            <a:picLocks noChangeAspect="1"/>
          </p:cNvPicPr>
          <p:nvPr/>
        </p:nvPicPr>
        <p:blipFill>
          <a:blip r:embed="rId3"/>
          <a:stretch>
            <a:fillRect/>
          </a:stretch>
        </p:blipFill>
        <p:spPr>
          <a:xfrm>
            <a:off x="1145429" y="2642616"/>
            <a:ext cx="6176486" cy="22997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E391D57C-46B7-410D-8557-C3BDCB87BE7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C1D535A-58E0-576F-4478-ABF0EF49E5D3}"/>
              </a:ext>
            </a:extLst>
          </p:cNvPr>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3000" b="1" dirty="0">
                <a:solidFill>
                  <a:srgbClr val="7C3AED"/>
                </a:solidFill>
                <a:latin typeface="Calibri" pitchFamily="34" charset="0"/>
                <a:ea typeface="Calibri" pitchFamily="34" charset="-122"/>
                <a:cs typeface="Calibri" pitchFamily="34" charset="-120"/>
              </a:rPr>
              <a:t>What Is Quantum Entanglement?</a:t>
            </a:r>
            <a:endParaRPr lang="en-US" sz="3000" dirty="0"/>
          </a:p>
        </p:txBody>
      </p:sp>
      <p:sp>
        <p:nvSpPr>
          <p:cNvPr id="3" name="Shape 1">
            <a:extLst>
              <a:ext uri="{FF2B5EF4-FFF2-40B4-BE49-F238E27FC236}">
                <a16:creationId xmlns:a16="http://schemas.microsoft.com/office/drawing/2014/main" id="{53ACFD38-B7E9-9D1B-EB97-51547DEFBB2F}"/>
              </a:ext>
            </a:extLst>
          </p:cNvPr>
          <p:cNvSpPr/>
          <p:nvPr/>
        </p:nvSpPr>
        <p:spPr>
          <a:xfrm>
            <a:off x="457200" y="841248"/>
            <a:ext cx="8229600" cy="27432"/>
          </a:xfrm>
          <a:prstGeom prst="rect">
            <a:avLst/>
          </a:prstGeom>
          <a:solidFill>
            <a:srgbClr val="7C3AED"/>
          </a:solidFill>
          <a:ln/>
        </p:spPr>
        <p:txBody>
          <a:bodyPr/>
          <a:lstStyle/>
          <a:p>
            <a:endParaRPr lang="en-US"/>
          </a:p>
        </p:txBody>
      </p:sp>
      <p:sp>
        <p:nvSpPr>
          <p:cNvPr id="9" name="Shape 7">
            <a:extLst>
              <a:ext uri="{FF2B5EF4-FFF2-40B4-BE49-F238E27FC236}">
                <a16:creationId xmlns:a16="http://schemas.microsoft.com/office/drawing/2014/main" id="{ED20CB34-C97D-9815-03C8-E5994D4AE479}"/>
              </a:ext>
            </a:extLst>
          </p:cNvPr>
          <p:cNvSpPr/>
          <p:nvPr/>
        </p:nvSpPr>
        <p:spPr>
          <a:xfrm>
            <a:off x="457200" y="1095857"/>
            <a:ext cx="8229600" cy="1078989"/>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0" name="Shape 8">
            <a:extLst>
              <a:ext uri="{FF2B5EF4-FFF2-40B4-BE49-F238E27FC236}">
                <a16:creationId xmlns:a16="http://schemas.microsoft.com/office/drawing/2014/main" id="{1DEFB85A-4CF8-E9DE-FD47-D0C080CC9428}"/>
              </a:ext>
            </a:extLst>
          </p:cNvPr>
          <p:cNvSpPr/>
          <p:nvPr/>
        </p:nvSpPr>
        <p:spPr>
          <a:xfrm>
            <a:off x="457200" y="1095856"/>
            <a:ext cx="64008" cy="1078989"/>
          </a:xfrm>
          <a:prstGeom prst="rect">
            <a:avLst/>
          </a:prstGeom>
          <a:solidFill>
            <a:srgbClr val="0D9488"/>
          </a:solidFill>
          <a:ln/>
        </p:spPr>
        <p:txBody>
          <a:bodyPr/>
          <a:lstStyle/>
          <a:p>
            <a:endParaRPr lang="en-US"/>
          </a:p>
        </p:txBody>
      </p:sp>
      <p:sp>
        <p:nvSpPr>
          <p:cNvPr id="11" name="Text 9">
            <a:extLst>
              <a:ext uri="{FF2B5EF4-FFF2-40B4-BE49-F238E27FC236}">
                <a16:creationId xmlns:a16="http://schemas.microsoft.com/office/drawing/2014/main" id="{DDCFC647-5636-2A9B-ADCC-51CCFE60092A}"/>
              </a:ext>
            </a:extLst>
          </p:cNvPr>
          <p:cNvSpPr/>
          <p:nvPr/>
        </p:nvSpPr>
        <p:spPr>
          <a:xfrm>
            <a:off x="621792" y="1095857"/>
            <a:ext cx="4087368" cy="329184"/>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The Bell State |Φ+⟩</a:t>
            </a:r>
            <a:endParaRPr lang="en-US" sz="1200" dirty="0"/>
          </a:p>
        </p:txBody>
      </p:sp>
      <p:sp>
        <p:nvSpPr>
          <p:cNvPr id="12" name="Text 10">
            <a:extLst>
              <a:ext uri="{FF2B5EF4-FFF2-40B4-BE49-F238E27FC236}">
                <a16:creationId xmlns:a16="http://schemas.microsoft.com/office/drawing/2014/main" id="{CBA8B57E-B4FE-978C-27C9-3514B0EC590E}"/>
              </a:ext>
            </a:extLst>
          </p:cNvPr>
          <p:cNvSpPr/>
          <p:nvPr/>
        </p:nvSpPr>
        <p:spPr>
          <a:xfrm>
            <a:off x="621792" y="1388465"/>
            <a:ext cx="8065008" cy="698086"/>
          </a:xfrm>
          <a:prstGeom prst="rect">
            <a:avLst/>
          </a:prstGeom>
          <a:noFill/>
          <a:ln/>
        </p:spPr>
        <p:txBody>
          <a:bodyPr wrap="square" lIns="0" tIns="0" rIns="0" bIns="0" rtlCol="0" anchor="t"/>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Before measurement: neither photon is 0 or 1 — they are in superposition together</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When photon A is measured and found to be 0 → photon B instantly collapses to 0</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When photon A is measured and found to be 1 → photon B instantly collapses to 1</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This holds regardless of the distance between the photons — tested at 1200 km!</a:t>
            </a:r>
            <a:endParaRPr lang="en-US" sz="1100" dirty="0"/>
          </a:p>
        </p:txBody>
      </p:sp>
      <p:sp>
        <p:nvSpPr>
          <p:cNvPr id="13" name="Shape 11">
            <a:extLst>
              <a:ext uri="{FF2B5EF4-FFF2-40B4-BE49-F238E27FC236}">
                <a16:creationId xmlns:a16="http://schemas.microsoft.com/office/drawing/2014/main" id="{5478CD2C-B62B-08CF-D657-9F3617AA5F1D}"/>
              </a:ext>
            </a:extLst>
          </p:cNvPr>
          <p:cNvSpPr/>
          <p:nvPr/>
        </p:nvSpPr>
        <p:spPr>
          <a:xfrm>
            <a:off x="457200" y="2385157"/>
            <a:ext cx="8229600" cy="1078989"/>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4" name="Shape 12">
            <a:extLst>
              <a:ext uri="{FF2B5EF4-FFF2-40B4-BE49-F238E27FC236}">
                <a16:creationId xmlns:a16="http://schemas.microsoft.com/office/drawing/2014/main" id="{BE96FAD0-FF13-0B3A-1017-D2D61E71FC4F}"/>
              </a:ext>
            </a:extLst>
          </p:cNvPr>
          <p:cNvSpPr/>
          <p:nvPr/>
        </p:nvSpPr>
        <p:spPr>
          <a:xfrm>
            <a:off x="457200" y="2385157"/>
            <a:ext cx="86868" cy="1078989"/>
          </a:xfrm>
          <a:prstGeom prst="rect">
            <a:avLst/>
          </a:prstGeom>
          <a:solidFill>
            <a:srgbClr val="475569"/>
          </a:solidFill>
          <a:ln/>
        </p:spPr>
        <p:txBody>
          <a:bodyPr/>
          <a:lstStyle/>
          <a:p>
            <a:endParaRPr lang="en-US"/>
          </a:p>
        </p:txBody>
      </p:sp>
      <p:sp>
        <p:nvSpPr>
          <p:cNvPr id="15" name="Text 13">
            <a:extLst>
              <a:ext uri="{FF2B5EF4-FFF2-40B4-BE49-F238E27FC236}">
                <a16:creationId xmlns:a16="http://schemas.microsoft.com/office/drawing/2014/main" id="{DA623EB4-C49B-ACAB-65B8-D27CF79A2D3C}"/>
              </a:ext>
            </a:extLst>
          </p:cNvPr>
          <p:cNvSpPr/>
          <p:nvPr/>
        </p:nvSpPr>
        <p:spPr>
          <a:xfrm>
            <a:off x="658368" y="2386586"/>
            <a:ext cx="3493008" cy="329184"/>
          </a:xfrm>
          <a:prstGeom prst="rect">
            <a:avLst/>
          </a:prstGeom>
          <a:noFill/>
          <a:ln/>
        </p:spPr>
        <p:txBody>
          <a:bodyPr wrap="square" lIns="0" tIns="0" rIns="0" bIns="0" rtlCol="0" anchor="ctr"/>
          <a:lstStyle/>
          <a:p>
            <a:pPr marL="0" indent="0">
              <a:buNone/>
            </a:pPr>
            <a:r>
              <a:rPr lang="en-US" sz="1200" b="1" dirty="0">
                <a:solidFill>
                  <a:srgbClr val="475569"/>
                </a:solidFill>
                <a:latin typeface="Calibri" pitchFamily="34" charset="0"/>
                <a:ea typeface="Calibri" pitchFamily="34" charset="-122"/>
                <a:cs typeface="Calibri" pitchFamily="34" charset="-120"/>
              </a:rPr>
              <a:t>Is This Faster-Than-Light Communication?</a:t>
            </a:r>
            <a:endParaRPr lang="en-US" sz="1200" dirty="0"/>
          </a:p>
        </p:txBody>
      </p:sp>
      <p:sp>
        <p:nvSpPr>
          <p:cNvPr id="16" name="Text 14">
            <a:extLst>
              <a:ext uri="{FF2B5EF4-FFF2-40B4-BE49-F238E27FC236}">
                <a16:creationId xmlns:a16="http://schemas.microsoft.com/office/drawing/2014/main" id="{356038A7-7E3D-05EA-B476-AC82FC6578FD}"/>
              </a:ext>
            </a:extLst>
          </p:cNvPr>
          <p:cNvSpPr/>
          <p:nvPr/>
        </p:nvSpPr>
        <p:spPr>
          <a:xfrm>
            <a:off x="658368" y="2715770"/>
            <a:ext cx="7914132" cy="711800"/>
          </a:xfrm>
          <a:prstGeom prst="rect">
            <a:avLst/>
          </a:prstGeom>
          <a:noFill/>
          <a:ln/>
        </p:spPr>
        <p:txBody>
          <a:bodyPr wrap="square" lIns="0" tIns="0" rIns="0" bIns="0" rtlCol="0" anchor="t"/>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No. The correlations are real, but you cannot use them to send information faster than light</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You learn the result of qubit B's measurement only after receiving a classical message from the sender</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The classical communication channel is still required — and is limited by the speed of light</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What entanglement provides is correlated randomness — not a communication shortcut</a:t>
            </a:r>
            <a:endParaRPr lang="en-US" sz="1100" dirty="0"/>
          </a:p>
        </p:txBody>
      </p:sp>
      <p:sp>
        <p:nvSpPr>
          <p:cNvPr id="17" name="Shape 15">
            <a:extLst>
              <a:ext uri="{FF2B5EF4-FFF2-40B4-BE49-F238E27FC236}">
                <a16:creationId xmlns:a16="http://schemas.microsoft.com/office/drawing/2014/main" id="{1BFF830E-5D65-5AD2-1D95-B928C8033F79}"/>
              </a:ext>
            </a:extLst>
          </p:cNvPr>
          <p:cNvSpPr/>
          <p:nvPr/>
        </p:nvSpPr>
        <p:spPr>
          <a:xfrm>
            <a:off x="457200" y="3674457"/>
            <a:ext cx="8229600" cy="1078989"/>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8" name="Shape 16">
            <a:extLst>
              <a:ext uri="{FF2B5EF4-FFF2-40B4-BE49-F238E27FC236}">
                <a16:creationId xmlns:a16="http://schemas.microsoft.com/office/drawing/2014/main" id="{45979467-570F-9080-0CB2-3CCBB405D572}"/>
              </a:ext>
            </a:extLst>
          </p:cNvPr>
          <p:cNvSpPr/>
          <p:nvPr/>
        </p:nvSpPr>
        <p:spPr>
          <a:xfrm>
            <a:off x="457200" y="3674457"/>
            <a:ext cx="86868" cy="1056132"/>
          </a:xfrm>
          <a:prstGeom prst="rect">
            <a:avLst/>
          </a:prstGeom>
          <a:solidFill>
            <a:srgbClr val="D97706"/>
          </a:solidFill>
          <a:ln/>
        </p:spPr>
        <p:txBody>
          <a:bodyPr/>
          <a:lstStyle/>
          <a:p>
            <a:endParaRPr lang="en-US"/>
          </a:p>
        </p:txBody>
      </p:sp>
      <p:sp>
        <p:nvSpPr>
          <p:cNvPr id="19" name="Text 17">
            <a:extLst>
              <a:ext uri="{FF2B5EF4-FFF2-40B4-BE49-F238E27FC236}">
                <a16:creationId xmlns:a16="http://schemas.microsoft.com/office/drawing/2014/main" id="{D80D0E4B-7B4B-A6EF-3064-C964756E30D1}"/>
              </a:ext>
            </a:extLst>
          </p:cNvPr>
          <p:cNvSpPr/>
          <p:nvPr/>
        </p:nvSpPr>
        <p:spPr>
          <a:xfrm>
            <a:off x="621792" y="3675886"/>
            <a:ext cx="4087368" cy="329184"/>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Applications of Entanglement</a:t>
            </a:r>
            <a:endParaRPr lang="en-US" sz="1200" dirty="0"/>
          </a:p>
        </p:txBody>
      </p:sp>
      <p:sp>
        <p:nvSpPr>
          <p:cNvPr id="20" name="Text 18">
            <a:extLst>
              <a:ext uri="{FF2B5EF4-FFF2-40B4-BE49-F238E27FC236}">
                <a16:creationId xmlns:a16="http://schemas.microsoft.com/office/drawing/2014/main" id="{45863DC8-26A2-1FBE-0CA1-AA99330D0A8E}"/>
              </a:ext>
            </a:extLst>
          </p:cNvPr>
          <p:cNvSpPr/>
          <p:nvPr/>
        </p:nvSpPr>
        <p:spPr>
          <a:xfrm>
            <a:off x="621792" y="4023360"/>
            <a:ext cx="7950708" cy="707229"/>
          </a:xfrm>
          <a:prstGeom prst="rect">
            <a:avLst/>
          </a:prstGeom>
          <a:noFill/>
          <a:ln/>
        </p:spPr>
        <p:txBody>
          <a:bodyPr wrap="square" lIns="0" tIns="0" rIns="0" bIns="0" rtlCol="0" anchor="t"/>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Quantum Key Distribution: entangled pairs create shared secret keys that are physically impossible to intercept undetected</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Distributed Quantum Computing: entanglement links quantum processors across locations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Quantum Teleportation: transfer a qubit's state using entanglement + classical channel (no physical matter transported)</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Quantum Sensing: entangled sensors achieve precision beyond the classical limit</a:t>
            </a:r>
            <a:endParaRPr lang="en-US" sz="1100" dirty="0"/>
          </a:p>
        </p:txBody>
      </p:sp>
    </p:spTree>
    <p:extLst>
      <p:ext uri="{BB962C8B-B14F-4D97-AF65-F5344CB8AC3E}">
        <p14:creationId xmlns:p14="http://schemas.microsoft.com/office/powerpoint/2010/main" val="2406037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9488"/>
          </a:solidFill>
          <a:ln/>
        </p:spPr>
        <p:txBody>
          <a:bodyPr/>
          <a:lstStyle/>
          <a:p>
            <a:endParaRPr lang="en-US"/>
          </a:p>
        </p:txBody>
      </p:sp>
      <p:sp>
        <p:nvSpPr>
          <p:cNvPr id="3" name="Text 1"/>
          <p:cNvSpPr/>
          <p:nvPr/>
        </p:nvSpPr>
        <p:spPr>
          <a:xfrm>
            <a:off x="320040" y="0"/>
            <a:ext cx="8503920" cy="50292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ACTIVITY  3</a:t>
            </a:r>
            <a:endParaRPr lang="en-US" sz="1500" dirty="0"/>
          </a:p>
        </p:txBody>
      </p:sp>
      <p:sp>
        <p:nvSpPr>
          <p:cNvPr id="4" name="Text 2"/>
          <p:cNvSpPr/>
          <p:nvPr/>
        </p:nvSpPr>
        <p:spPr>
          <a:xfrm>
            <a:off x="457200" y="658368"/>
            <a:ext cx="8229600" cy="502920"/>
          </a:xfrm>
          <a:prstGeom prst="rect">
            <a:avLst/>
          </a:prstGeom>
          <a:noFill/>
          <a:ln/>
        </p:spPr>
        <p:txBody>
          <a:bodyPr wrap="square" rtlCol="0" anchor="ctr"/>
          <a:lstStyle/>
          <a:p>
            <a:pPr marL="0" indent="0">
              <a:buNone/>
            </a:pPr>
            <a:r>
              <a:rPr lang="en-US" sz="2400" b="1" dirty="0">
                <a:solidFill>
                  <a:srgbClr val="D97706"/>
                </a:solidFill>
                <a:latin typeface="Calibri" pitchFamily="34" charset="0"/>
                <a:ea typeface="Calibri" pitchFamily="34" charset="-122"/>
                <a:cs typeface="Calibri" pitchFamily="34" charset="-120"/>
              </a:rPr>
              <a:t>True or False? Sort These Statements</a:t>
            </a:r>
            <a:endParaRPr lang="en-US" sz="2400" dirty="0"/>
          </a:p>
        </p:txBody>
      </p:sp>
      <p:sp>
        <p:nvSpPr>
          <p:cNvPr id="5" name="Text 3"/>
          <p:cNvSpPr/>
          <p:nvPr/>
        </p:nvSpPr>
        <p:spPr>
          <a:xfrm>
            <a:off x="457200" y="1188720"/>
            <a:ext cx="8229600" cy="347472"/>
          </a:xfrm>
          <a:prstGeom prst="rect">
            <a:avLst/>
          </a:prstGeom>
          <a:noFill/>
          <a:ln/>
        </p:spPr>
        <p:txBody>
          <a:bodyPr wrap="square" rtlCol="0" anchor="ctr"/>
          <a:lstStyle/>
          <a:p>
            <a:pPr marL="0" indent="0">
              <a:buNone/>
            </a:pPr>
            <a:r>
              <a:rPr lang="en-US" sz="1400" i="1" dirty="0">
                <a:solidFill>
                  <a:srgbClr val="475569"/>
                </a:solidFill>
                <a:latin typeface="Calibri" pitchFamily="34" charset="0"/>
                <a:ea typeface="Calibri" pitchFamily="34" charset="-122"/>
                <a:cs typeface="Calibri" pitchFamily="34" charset="-120"/>
              </a:rPr>
              <a:t>With your partner, mark each statement TRUE or FALSE. Be ready to explain your reasoning — some are common misconceptions.</a:t>
            </a:r>
            <a:endParaRPr lang="en-US" sz="1400" dirty="0"/>
          </a:p>
        </p:txBody>
      </p:sp>
      <p:sp>
        <p:nvSpPr>
          <p:cNvPr id="6" name="Shape 4"/>
          <p:cNvSpPr/>
          <p:nvPr/>
        </p:nvSpPr>
        <p:spPr>
          <a:xfrm>
            <a:off x="457200" y="1691640"/>
            <a:ext cx="457200" cy="749808"/>
          </a:xfrm>
          <a:prstGeom prst="rect">
            <a:avLst/>
          </a:prstGeom>
          <a:solidFill>
            <a:srgbClr val="7C3AED"/>
          </a:solidFill>
          <a:ln/>
        </p:spPr>
        <p:txBody>
          <a:bodyPr/>
          <a:lstStyle/>
          <a:p>
            <a:endParaRPr lang="en-US"/>
          </a:p>
        </p:txBody>
      </p:sp>
      <p:sp>
        <p:nvSpPr>
          <p:cNvPr id="7" name="Text 5"/>
          <p:cNvSpPr/>
          <p:nvPr/>
        </p:nvSpPr>
        <p:spPr>
          <a:xfrm>
            <a:off x="457200" y="1691640"/>
            <a:ext cx="457200" cy="7498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Shape 6"/>
          <p:cNvSpPr/>
          <p:nvPr/>
        </p:nvSpPr>
        <p:spPr>
          <a:xfrm>
            <a:off x="1005840" y="1691640"/>
            <a:ext cx="3383280" cy="749808"/>
          </a:xfrm>
          <a:prstGeom prst="rect">
            <a:avLst/>
          </a:prstGeom>
          <a:solidFill>
            <a:srgbClr val="FFFFFF"/>
          </a:solidFill>
          <a:ln w="12700">
            <a:solidFill>
              <a:srgbClr val="E2E8F0"/>
            </a:solidFill>
            <a:prstDash val="solid"/>
          </a:ln>
        </p:spPr>
        <p:txBody>
          <a:bodyPr/>
          <a:lstStyle/>
          <a:p>
            <a:endParaRPr lang="en-US"/>
          </a:p>
        </p:txBody>
      </p:sp>
      <p:sp>
        <p:nvSpPr>
          <p:cNvPr id="9" name="Text 7"/>
          <p:cNvSpPr/>
          <p:nvPr/>
        </p:nvSpPr>
        <p:spPr>
          <a:xfrm>
            <a:off x="1115568" y="1783080"/>
            <a:ext cx="3200400" cy="566928"/>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Measuring one photon of an entangled pair instantly determines the other — regardless of the distance between them.</a:t>
            </a:r>
            <a:endParaRPr lang="en-US" sz="1200" dirty="0"/>
          </a:p>
        </p:txBody>
      </p:sp>
      <p:sp>
        <p:nvSpPr>
          <p:cNvPr id="10" name="Shape 8"/>
          <p:cNvSpPr/>
          <p:nvPr/>
        </p:nvSpPr>
        <p:spPr>
          <a:xfrm>
            <a:off x="4443984" y="1691640"/>
            <a:ext cx="164592" cy="347472"/>
          </a:xfrm>
          <a:prstGeom prst="rect">
            <a:avLst/>
          </a:prstGeom>
          <a:solidFill>
            <a:srgbClr val="F1F5F9"/>
          </a:solidFill>
          <a:ln w="12700">
            <a:solidFill>
              <a:srgbClr val="0D9488"/>
            </a:solidFill>
            <a:prstDash val="solid"/>
          </a:ln>
        </p:spPr>
        <p:txBody>
          <a:bodyPr/>
          <a:lstStyle/>
          <a:p>
            <a:endParaRPr lang="en-US"/>
          </a:p>
        </p:txBody>
      </p:sp>
      <p:sp>
        <p:nvSpPr>
          <p:cNvPr id="11" name="Text 9"/>
          <p:cNvSpPr/>
          <p:nvPr/>
        </p:nvSpPr>
        <p:spPr>
          <a:xfrm>
            <a:off x="4443984" y="1691640"/>
            <a:ext cx="164592" cy="347472"/>
          </a:xfrm>
          <a:prstGeom prst="rect">
            <a:avLst/>
          </a:prstGeom>
          <a:noFill/>
          <a:ln/>
        </p:spPr>
        <p:txBody>
          <a:bodyPr wrap="square" lIns="0" tIns="0" rIns="0" bIns="0" rtlCol="0" anchor="ctr"/>
          <a:lstStyle/>
          <a:p>
            <a:pPr marL="0" indent="0" algn="ctr">
              <a:buNone/>
            </a:pPr>
            <a:r>
              <a:rPr lang="en-US" sz="1000" dirty="0">
                <a:solidFill>
                  <a:srgbClr val="0D9488"/>
                </a:solidFill>
                <a:latin typeface="Calibri" pitchFamily="34" charset="0"/>
                <a:ea typeface="Calibri" pitchFamily="34" charset="-122"/>
                <a:cs typeface="Calibri" pitchFamily="34" charset="-120"/>
              </a:rPr>
              <a:t>T</a:t>
            </a:r>
            <a:endParaRPr lang="en-US" sz="1000" dirty="0"/>
          </a:p>
        </p:txBody>
      </p:sp>
      <p:sp>
        <p:nvSpPr>
          <p:cNvPr id="12" name="Shape 10"/>
          <p:cNvSpPr/>
          <p:nvPr/>
        </p:nvSpPr>
        <p:spPr>
          <a:xfrm>
            <a:off x="4443984" y="2093976"/>
            <a:ext cx="164592" cy="347472"/>
          </a:xfrm>
          <a:prstGeom prst="rect">
            <a:avLst/>
          </a:prstGeom>
          <a:solidFill>
            <a:srgbClr val="F1F5F9"/>
          </a:solidFill>
          <a:ln w="12700">
            <a:solidFill>
              <a:srgbClr val="D97706"/>
            </a:solidFill>
            <a:prstDash val="solid"/>
          </a:ln>
        </p:spPr>
        <p:txBody>
          <a:bodyPr/>
          <a:lstStyle/>
          <a:p>
            <a:endParaRPr lang="en-US"/>
          </a:p>
        </p:txBody>
      </p:sp>
      <p:sp>
        <p:nvSpPr>
          <p:cNvPr id="13" name="Text 11"/>
          <p:cNvSpPr/>
          <p:nvPr/>
        </p:nvSpPr>
        <p:spPr>
          <a:xfrm>
            <a:off x="4443984" y="2093976"/>
            <a:ext cx="164592" cy="347472"/>
          </a:xfrm>
          <a:prstGeom prst="rect">
            <a:avLst/>
          </a:prstGeom>
          <a:noFill/>
          <a:ln/>
        </p:spPr>
        <p:txBody>
          <a:bodyPr wrap="square" lIns="0" tIns="0" rIns="0" bIns="0" rtlCol="0" anchor="ctr"/>
          <a:lstStyle/>
          <a:p>
            <a:pPr marL="0" indent="0" algn="ctr">
              <a:buNone/>
            </a:pPr>
            <a:r>
              <a:rPr lang="en-US" sz="1000" dirty="0">
                <a:solidFill>
                  <a:srgbClr val="D97706"/>
                </a:solidFill>
                <a:latin typeface="Calibri" pitchFamily="34" charset="0"/>
                <a:ea typeface="Calibri" pitchFamily="34" charset="-122"/>
                <a:cs typeface="Calibri" pitchFamily="34" charset="-120"/>
              </a:rPr>
              <a:t>F</a:t>
            </a:r>
            <a:endParaRPr lang="en-US" sz="1000" dirty="0"/>
          </a:p>
        </p:txBody>
      </p:sp>
      <p:sp>
        <p:nvSpPr>
          <p:cNvPr id="14" name="Shape 12"/>
          <p:cNvSpPr/>
          <p:nvPr/>
        </p:nvSpPr>
        <p:spPr>
          <a:xfrm>
            <a:off x="457200" y="2578608"/>
            <a:ext cx="457200" cy="749808"/>
          </a:xfrm>
          <a:prstGeom prst="rect">
            <a:avLst/>
          </a:prstGeom>
          <a:solidFill>
            <a:srgbClr val="7C3AED"/>
          </a:solidFill>
          <a:ln/>
        </p:spPr>
        <p:txBody>
          <a:bodyPr/>
          <a:lstStyle/>
          <a:p>
            <a:endParaRPr lang="en-US"/>
          </a:p>
        </p:txBody>
      </p:sp>
      <p:sp>
        <p:nvSpPr>
          <p:cNvPr id="15" name="Text 13"/>
          <p:cNvSpPr/>
          <p:nvPr/>
        </p:nvSpPr>
        <p:spPr>
          <a:xfrm>
            <a:off x="457200" y="2578608"/>
            <a:ext cx="457200" cy="7498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Shape 14"/>
          <p:cNvSpPr/>
          <p:nvPr/>
        </p:nvSpPr>
        <p:spPr>
          <a:xfrm>
            <a:off x="1005840" y="2578608"/>
            <a:ext cx="3383280" cy="749808"/>
          </a:xfrm>
          <a:prstGeom prst="rect">
            <a:avLst/>
          </a:prstGeom>
          <a:solidFill>
            <a:srgbClr val="FFFFFF"/>
          </a:solidFill>
          <a:ln w="12700">
            <a:solidFill>
              <a:srgbClr val="E2E8F0"/>
            </a:solidFill>
            <a:prstDash val="solid"/>
          </a:ln>
        </p:spPr>
        <p:txBody>
          <a:bodyPr/>
          <a:lstStyle/>
          <a:p>
            <a:endParaRPr lang="en-US"/>
          </a:p>
        </p:txBody>
      </p:sp>
      <p:sp>
        <p:nvSpPr>
          <p:cNvPr id="17" name="Text 15"/>
          <p:cNvSpPr/>
          <p:nvPr/>
        </p:nvSpPr>
        <p:spPr>
          <a:xfrm>
            <a:off x="1115568" y="2670048"/>
            <a:ext cx="3200400" cy="566928"/>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Entanglement allows you to send a message faster than the speed of light.</a:t>
            </a:r>
            <a:endParaRPr lang="en-US" sz="1200" dirty="0"/>
          </a:p>
        </p:txBody>
      </p:sp>
      <p:sp>
        <p:nvSpPr>
          <p:cNvPr id="18" name="Shape 16"/>
          <p:cNvSpPr/>
          <p:nvPr/>
        </p:nvSpPr>
        <p:spPr>
          <a:xfrm>
            <a:off x="4443984" y="2578608"/>
            <a:ext cx="164592" cy="347472"/>
          </a:xfrm>
          <a:prstGeom prst="rect">
            <a:avLst/>
          </a:prstGeom>
          <a:solidFill>
            <a:srgbClr val="F1F5F9"/>
          </a:solidFill>
          <a:ln w="12700">
            <a:solidFill>
              <a:srgbClr val="0D9488"/>
            </a:solidFill>
            <a:prstDash val="solid"/>
          </a:ln>
        </p:spPr>
        <p:txBody>
          <a:bodyPr/>
          <a:lstStyle/>
          <a:p>
            <a:endParaRPr lang="en-US"/>
          </a:p>
        </p:txBody>
      </p:sp>
      <p:sp>
        <p:nvSpPr>
          <p:cNvPr id="19" name="Text 17"/>
          <p:cNvSpPr/>
          <p:nvPr/>
        </p:nvSpPr>
        <p:spPr>
          <a:xfrm>
            <a:off x="4443984" y="2578608"/>
            <a:ext cx="164592" cy="347472"/>
          </a:xfrm>
          <a:prstGeom prst="rect">
            <a:avLst/>
          </a:prstGeom>
          <a:noFill/>
          <a:ln/>
        </p:spPr>
        <p:txBody>
          <a:bodyPr wrap="square" lIns="0" tIns="0" rIns="0" bIns="0" rtlCol="0" anchor="ctr"/>
          <a:lstStyle/>
          <a:p>
            <a:pPr marL="0" indent="0" algn="ctr">
              <a:buNone/>
            </a:pPr>
            <a:r>
              <a:rPr lang="en-US" sz="1000" dirty="0">
                <a:solidFill>
                  <a:srgbClr val="0D9488"/>
                </a:solidFill>
                <a:latin typeface="Calibri" pitchFamily="34" charset="0"/>
                <a:ea typeface="Calibri" pitchFamily="34" charset="-122"/>
                <a:cs typeface="Calibri" pitchFamily="34" charset="-120"/>
              </a:rPr>
              <a:t>T</a:t>
            </a:r>
            <a:endParaRPr lang="en-US" sz="1000" dirty="0"/>
          </a:p>
        </p:txBody>
      </p:sp>
      <p:sp>
        <p:nvSpPr>
          <p:cNvPr id="20" name="Shape 18"/>
          <p:cNvSpPr/>
          <p:nvPr/>
        </p:nvSpPr>
        <p:spPr>
          <a:xfrm>
            <a:off x="4443984" y="2980944"/>
            <a:ext cx="164592" cy="347472"/>
          </a:xfrm>
          <a:prstGeom prst="rect">
            <a:avLst/>
          </a:prstGeom>
          <a:solidFill>
            <a:srgbClr val="F1F5F9"/>
          </a:solidFill>
          <a:ln w="12700">
            <a:solidFill>
              <a:srgbClr val="D97706"/>
            </a:solidFill>
            <a:prstDash val="solid"/>
          </a:ln>
        </p:spPr>
        <p:txBody>
          <a:bodyPr/>
          <a:lstStyle/>
          <a:p>
            <a:endParaRPr lang="en-US"/>
          </a:p>
        </p:txBody>
      </p:sp>
      <p:sp>
        <p:nvSpPr>
          <p:cNvPr id="21" name="Text 19"/>
          <p:cNvSpPr/>
          <p:nvPr/>
        </p:nvSpPr>
        <p:spPr>
          <a:xfrm>
            <a:off x="4443984" y="2980944"/>
            <a:ext cx="164592" cy="347472"/>
          </a:xfrm>
          <a:prstGeom prst="rect">
            <a:avLst/>
          </a:prstGeom>
          <a:noFill/>
          <a:ln/>
        </p:spPr>
        <p:txBody>
          <a:bodyPr wrap="square" lIns="0" tIns="0" rIns="0" bIns="0" rtlCol="0" anchor="ctr"/>
          <a:lstStyle/>
          <a:p>
            <a:pPr marL="0" indent="0" algn="ctr">
              <a:buNone/>
            </a:pPr>
            <a:r>
              <a:rPr lang="en-US" sz="1000" dirty="0">
                <a:solidFill>
                  <a:srgbClr val="D97706"/>
                </a:solidFill>
                <a:latin typeface="Calibri" pitchFamily="34" charset="0"/>
                <a:ea typeface="Calibri" pitchFamily="34" charset="-122"/>
                <a:cs typeface="Calibri" pitchFamily="34" charset="-120"/>
              </a:rPr>
              <a:t>F</a:t>
            </a:r>
            <a:endParaRPr lang="en-US" sz="1000" dirty="0"/>
          </a:p>
        </p:txBody>
      </p:sp>
      <p:sp>
        <p:nvSpPr>
          <p:cNvPr id="22" name="Shape 20"/>
          <p:cNvSpPr/>
          <p:nvPr/>
        </p:nvSpPr>
        <p:spPr>
          <a:xfrm>
            <a:off x="457200" y="3465576"/>
            <a:ext cx="457200" cy="749808"/>
          </a:xfrm>
          <a:prstGeom prst="rect">
            <a:avLst/>
          </a:prstGeom>
          <a:solidFill>
            <a:srgbClr val="7C3AED"/>
          </a:solidFill>
          <a:ln/>
        </p:spPr>
        <p:txBody>
          <a:bodyPr/>
          <a:lstStyle/>
          <a:p>
            <a:endParaRPr lang="en-US"/>
          </a:p>
        </p:txBody>
      </p:sp>
      <p:sp>
        <p:nvSpPr>
          <p:cNvPr id="23" name="Text 21"/>
          <p:cNvSpPr/>
          <p:nvPr/>
        </p:nvSpPr>
        <p:spPr>
          <a:xfrm>
            <a:off x="457200" y="3465576"/>
            <a:ext cx="457200" cy="7498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4" name="Shape 22"/>
          <p:cNvSpPr/>
          <p:nvPr/>
        </p:nvSpPr>
        <p:spPr>
          <a:xfrm>
            <a:off x="1005840" y="3465576"/>
            <a:ext cx="3383280" cy="749808"/>
          </a:xfrm>
          <a:prstGeom prst="rect">
            <a:avLst/>
          </a:prstGeom>
          <a:solidFill>
            <a:srgbClr val="FFFFFF"/>
          </a:solidFill>
          <a:ln w="12700">
            <a:solidFill>
              <a:srgbClr val="E2E8F0"/>
            </a:solidFill>
            <a:prstDash val="solid"/>
          </a:ln>
        </p:spPr>
        <p:txBody>
          <a:bodyPr/>
          <a:lstStyle/>
          <a:p>
            <a:endParaRPr lang="en-US"/>
          </a:p>
        </p:txBody>
      </p:sp>
      <p:sp>
        <p:nvSpPr>
          <p:cNvPr id="25" name="Text 23"/>
          <p:cNvSpPr/>
          <p:nvPr/>
        </p:nvSpPr>
        <p:spPr>
          <a:xfrm>
            <a:off x="1115568" y="3557016"/>
            <a:ext cx="3200400" cy="566928"/>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Before measurement, neither photon in an entangled pair has a definite polarization value.</a:t>
            </a:r>
            <a:endParaRPr lang="en-US" sz="1200" dirty="0"/>
          </a:p>
        </p:txBody>
      </p:sp>
      <p:sp>
        <p:nvSpPr>
          <p:cNvPr id="26" name="Shape 24"/>
          <p:cNvSpPr/>
          <p:nvPr/>
        </p:nvSpPr>
        <p:spPr>
          <a:xfrm>
            <a:off x="4443984" y="3465576"/>
            <a:ext cx="164592" cy="347472"/>
          </a:xfrm>
          <a:prstGeom prst="rect">
            <a:avLst/>
          </a:prstGeom>
          <a:solidFill>
            <a:srgbClr val="F1F5F9"/>
          </a:solidFill>
          <a:ln w="12700">
            <a:solidFill>
              <a:srgbClr val="0D9488"/>
            </a:solidFill>
            <a:prstDash val="solid"/>
          </a:ln>
        </p:spPr>
        <p:txBody>
          <a:bodyPr/>
          <a:lstStyle/>
          <a:p>
            <a:endParaRPr lang="en-US"/>
          </a:p>
        </p:txBody>
      </p:sp>
      <p:sp>
        <p:nvSpPr>
          <p:cNvPr id="27" name="Text 25"/>
          <p:cNvSpPr/>
          <p:nvPr/>
        </p:nvSpPr>
        <p:spPr>
          <a:xfrm>
            <a:off x="4443984" y="3465576"/>
            <a:ext cx="164592" cy="347472"/>
          </a:xfrm>
          <a:prstGeom prst="rect">
            <a:avLst/>
          </a:prstGeom>
          <a:noFill/>
          <a:ln/>
        </p:spPr>
        <p:txBody>
          <a:bodyPr wrap="square" lIns="0" tIns="0" rIns="0" bIns="0" rtlCol="0" anchor="ctr"/>
          <a:lstStyle/>
          <a:p>
            <a:pPr marL="0" indent="0" algn="ctr">
              <a:buNone/>
            </a:pPr>
            <a:r>
              <a:rPr lang="en-US" sz="1000" dirty="0">
                <a:solidFill>
                  <a:srgbClr val="0D9488"/>
                </a:solidFill>
                <a:latin typeface="Calibri" pitchFamily="34" charset="0"/>
                <a:ea typeface="Calibri" pitchFamily="34" charset="-122"/>
                <a:cs typeface="Calibri" pitchFamily="34" charset="-120"/>
              </a:rPr>
              <a:t>T</a:t>
            </a:r>
            <a:endParaRPr lang="en-US" sz="1000" dirty="0"/>
          </a:p>
        </p:txBody>
      </p:sp>
      <p:sp>
        <p:nvSpPr>
          <p:cNvPr id="28" name="Shape 26"/>
          <p:cNvSpPr/>
          <p:nvPr/>
        </p:nvSpPr>
        <p:spPr>
          <a:xfrm>
            <a:off x="4443984" y="3867912"/>
            <a:ext cx="164592" cy="347472"/>
          </a:xfrm>
          <a:prstGeom prst="rect">
            <a:avLst/>
          </a:prstGeom>
          <a:solidFill>
            <a:srgbClr val="F1F5F9"/>
          </a:solidFill>
          <a:ln w="12700">
            <a:solidFill>
              <a:srgbClr val="D97706"/>
            </a:solidFill>
            <a:prstDash val="solid"/>
          </a:ln>
        </p:spPr>
        <p:txBody>
          <a:bodyPr/>
          <a:lstStyle/>
          <a:p>
            <a:endParaRPr lang="en-US"/>
          </a:p>
        </p:txBody>
      </p:sp>
      <p:sp>
        <p:nvSpPr>
          <p:cNvPr id="29" name="Text 27"/>
          <p:cNvSpPr/>
          <p:nvPr/>
        </p:nvSpPr>
        <p:spPr>
          <a:xfrm>
            <a:off x="4443984" y="3867912"/>
            <a:ext cx="164592" cy="347472"/>
          </a:xfrm>
          <a:prstGeom prst="rect">
            <a:avLst/>
          </a:prstGeom>
          <a:noFill/>
          <a:ln/>
        </p:spPr>
        <p:txBody>
          <a:bodyPr wrap="square" lIns="0" tIns="0" rIns="0" bIns="0" rtlCol="0" anchor="ctr"/>
          <a:lstStyle/>
          <a:p>
            <a:pPr marL="0" indent="0" algn="ctr">
              <a:buNone/>
            </a:pPr>
            <a:r>
              <a:rPr lang="en-US" sz="1000" dirty="0">
                <a:solidFill>
                  <a:srgbClr val="D97706"/>
                </a:solidFill>
                <a:latin typeface="Calibri" pitchFamily="34" charset="0"/>
                <a:ea typeface="Calibri" pitchFamily="34" charset="-122"/>
                <a:cs typeface="Calibri" pitchFamily="34" charset="-120"/>
              </a:rPr>
              <a:t>F</a:t>
            </a:r>
            <a:endParaRPr lang="en-US" sz="1000" dirty="0"/>
          </a:p>
        </p:txBody>
      </p:sp>
      <p:sp>
        <p:nvSpPr>
          <p:cNvPr id="30" name="Shape 28"/>
          <p:cNvSpPr/>
          <p:nvPr/>
        </p:nvSpPr>
        <p:spPr>
          <a:xfrm>
            <a:off x="4617720" y="1691640"/>
            <a:ext cx="457200" cy="749808"/>
          </a:xfrm>
          <a:prstGeom prst="rect">
            <a:avLst/>
          </a:prstGeom>
          <a:solidFill>
            <a:srgbClr val="7C3AED"/>
          </a:solidFill>
          <a:ln/>
        </p:spPr>
        <p:txBody>
          <a:bodyPr/>
          <a:lstStyle/>
          <a:p>
            <a:endParaRPr lang="en-US"/>
          </a:p>
        </p:txBody>
      </p:sp>
      <p:sp>
        <p:nvSpPr>
          <p:cNvPr id="31" name="Text 29"/>
          <p:cNvSpPr/>
          <p:nvPr/>
        </p:nvSpPr>
        <p:spPr>
          <a:xfrm>
            <a:off x="4617720" y="1691640"/>
            <a:ext cx="457200" cy="7498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2" name="Shape 30"/>
          <p:cNvSpPr/>
          <p:nvPr/>
        </p:nvSpPr>
        <p:spPr>
          <a:xfrm>
            <a:off x="5166360" y="1691640"/>
            <a:ext cx="3383280" cy="749808"/>
          </a:xfrm>
          <a:prstGeom prst="rect">
            <a:avLst/>
          </a:prstGeom>
          <a:solidFill>
            <a:srgbClr val="FFFFFF"/>
          </a:solidFill>
          <a:ln w="12700">
            <a:solidFill>
              <a:srgbClr val="E2E8F0"/>
            </a:solidFill>
            <a:prstDash val="solid"/>
          </a:ln>
        </p:spPr>
        <p:txBody>
          <a:bodyPr/>
          <a:lstStyle/>
          <a:p>
            <a:endParaRPr lang="en-US"/>
          </a:p>
        </p:txBody>
      </p:sp>
      <p:sp>
        <p:nvSpPr>
          <p:cNvPr id="33" name="Text 31"/>
          <p:cNvSpPr/>
          <p:nvPr/>
        </p:nvSpPr>
        <p:spPr>
          <a:xfrm>
            <a:off x="5276088" y="1783080"/>
            <a:ext cx="3200400" cy="566928"/>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Once an entangled photon is measured, re-entangling it with its partner restores the original state.</a:t>
            </a:r>
            <a:endParaRPr lang="en-US" sz="1200" dirty="0"/>
          </a:p>
        </p:txBody>
      </p:sp>
      <p:sp>
        <p:nvSpPr>
          <p:cNvPr id="34" name="Shape 32"/>
          <p:cNvSpPr/>
          <p:nvPr/>
        </p:nvSpPr>
        <p:spPr>
          <a:xfrm>
            <a:off x="8604504" y="1691640"/>
            <a:ext cx="164592" cy="347472"/>
          </a:xfrm>
          <a:prstGeom prst="rect">
            <a:avLst/>
          </a:prstGeom>
          <a:solidFill>
            <a:srgbClr val="F1F5F9"/>
          </a:solidFill>
          <a:ln w="12700">
            <a:solidFill>
              <a:srgbClr val="0D9488"/>
            </a:solidFill>
            <a:prstDash val="solid"/>
          </a:ln>
        </p:spPr>
        <p:txBody>
          <a:bodyPr/>
          <a:lstStyle/>
          <a:p>
            <a:endParaRPr lang="en-US"/>
          </a:p>
        </p:txBody>
      </p:sp>
      <p:sp>
        <p:nvSpPr>
          <p:cNvPr id="35" name="Text 33"/>
          <p:cNvSpPr/>
          <p:nvPr/>
        </p:nvSpPr>
        <p:spPr>
          <a:xfrm>
            <a:off x="8604504" y="1691640"/>
            <a:ext cx="164592" cy="347472"/>
          </a:xfrm>
          <a:prstGeom prst="rect">
            <a:avLst/>
          </a:prstGeom>
          <a:noFill/>
          <a:ln/>
        </p:spPr>
        <p:txBody>
          <a:bodyPr wrap="square" lIns="0" tIns="0" rIns="0" bIns="0" rtlCol="0" anchor="ctr"/>
          <a:lstStyle/>
          <a:p>
            <a:pPr marL="0" indent="0" algn="ctr">
              <a:buNone/>
            </a:pPr>
            <a:r>
              <a:rPr lang="en-US" sz="1000" dirty="0">
                <a:solidFill>
                  <a:srgbClr val="0D9488"/>
                </a:solidFill>
                <a:latin typeface="Calibri" pitchFamily="34" charset="0"/>
                <a:ea typeface="Calibri" pitchFamily="34" charset="-122"/>
                <a:cs typeface="Calibri" pitchFamily="34" charset="-120"/>
              </a:rPr>
              <a:t>T</a:t>
            </a:r>
            <a:endParaRPr lang="en-US" sz="1000" dirty="0"/>
          </a:p>
        </p:txBody>
      </p:sp>
      <p:sp>
        <p:nvSpPr>
          <p:cNvPr id="36" name="Shape 34"/>
          <p:cNvSpPr/>
          <p:nvPr/>
        </p:nvSpPr>
        <p:spPr>
          <a:xfrm>
            <a:off x="8604504" y="2093976"/>
            <a:ext cx="164592" cy="347472"/>
          </a:xfrm>
          <a:prstGeom prst="rect">
            <a:avLst/>
          </a:prstGeom>
          <a:solidFill>
            <a:srgbClr val="F1F5F9"/>
          </a:solidFill>
          <a:ln w="12700">
            <a:solidFill>
              <a:srgbClr val="D97706"/>
            </a:solidFill>
            <a:prstDash val="solid"/>
          </a:ln>
        </p:spPr>
        <p:txBody>
          <a:bodyPr/>
          <a:lstStyle/>
          <a:p>
            <a:endParaRPr lang="en-US"/>
          </a:p>
        </p:txBody>
      </p:sp>
      <p:sp>
        <p:nvSpPr>
          <p:cNvPr id="37" name="Text 35"/>
          <p:cNvSpPr/>
          <p:nvPr/>
        </p:nvSpPr>
        <p:spPr>
          <a:xfrm>
            <a:off x="8604504" y="2093976"/>
            <a:ext cx="164592" cy="347472"/>
          </a:xfrm>
          <a:prstGeom prst="rect">
            <a:avLst/>
          </a:prstGeom>
          <a:noFill/>
          <a:ln/>
        </p:spPr>
        <p:txBody>
          <a:bodyPr wrap="square" lIns="0" tIns="0" rIns="0" bIns="0" rtlCol="0" anchor="ctr"/>
          <a:lstStyle/>
          <a:p>
            <a:pPr marL="0" indent="0" algn="ctr">
              <a:buNone/>
            </a:pPr>
            <a:r>
              <a:rPr lang="en-US" sz="1000" dirty="0">
                <a:solidFill>
                  <a:srgbClr val="D97706"/>
                </a:solidFill>
                <a:latin typeface="Calibri" pitchFamily="34" charset="0"/>
                <a:ea typeface="Calibri" pitchFamily="34" charset="-122"/>
                <a:cs typeface="Calibri" pitchFamily="34" charset="-120"/>
              </a:rPr>
              <a:t>F</a:t>
            </a:r>
            <a:endParaRPr lang="en-US" sz="1000" dirty="0"/>
          </a:p>
        </p:txBody>
      </p:sp>
      <p:sp>
        <p:nvSpPr>
          <p:cNvPr id="38" name="Shape 36"/>
          <p:cNvSpPr/>
          <p:nvPr/>
        </p:nvSpPr>
        <p:spPr>
          <a:xfrm>
            <a:off x="4617720" y="2578608"/>
            <a:ext cx="457200" cy="749808"/>
          </a:xfrm>
          <a:prstGeom prst="rect">
            <a:avLst/>
          </a:prstGeom>
          <a:solidFill>
            <a:srgbClr val="7C3AED"/>
          </a:solidFill>
          <a:ln/>
        </p:spPr>
        <p:txBody>
          <a:bodyPr/>
          <a:lstStyle/>
          <a:p>
            <a:endParaRPr lang="en-US"/>
          </a:p>
        </p:txBody>
      </p:sp>
      <p:sp>
        <p:nvSpPr>
          <p:cNvPr id="39" name="Text 37"/>
          <p:cNvSpPr/>
          <p:nvPr/>
        </p:nvSpPr>
        <p:spPr>
          <a:xfrm>
            <a:off x="4617720" y="2578608"/>
            <a:ext cx="457200" cy="7498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0" name="Shape 38"/>
          <p:cNvSpPr/>
          <p:nvPr/>
        </p:nvSpPr>
        <p:spPr>
          <a:xfrm>
            <a:off x="5166360" y="2578608"/>
            <a:ext cx="3383280" cy="749808"/>
          </a:xfrm>
          <a:prstGeom prst="rect">
            <a:avLst/>
          </a:prstGeom>
          <a:solidFill>
            <a:srgbClr val="FFFFFF"/>
          </a:solidFill>
          <a:ln w="12700">
            <a:solidFill>
              <a:srgbClr val="E2E8F0"/>
            </a:solidFill>
            <a:prstDash val="solid"/>
          </a:ln>
        </p:spPr>
        <p:txBody>
          <a:bodyPr/>
          <a:lstStyle/>
          <a:p>
            <a:endParaRPr lang="en-US"/>
          </a:p>
        </p:txBody>
      </p:sp>
      <p:sp>
        <p:nvSpPr>
          <p:cNvPr id="41" name="Text 39"/>
          <p:cNvSpPr/>
          <p:nvPr/>
        </p:nvSpPr>
        <p:spPr>
          <a:xfrm>
            <a:off x="5276088" y="2670048"/>
            <a:ext cx="3200400" cy="566928"/>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An EPR pair generated by SPDC sends one photon toward Node A and one toward Node B — both photons originated from a single pump photon.</a:t>
            </a:r>
            <a:endParaRPr lang="en-US" sz="1200" dirty="0"/>
          </a:p>
        </p:txBody>
      </p:sp>
      <p:sp>
        <p:nvSpPr>
          <p:cNvPr id="42" name="Shape 40"/>
          <p:cNvSpPr/>
          <p:nvPr/>
        </p:nvSpPr>
        <p:spPr>
          <a:xfrm>
            <a:off x="8604504" y="2578608"/>
            <a:ext cx="164592" cy="347472"/>
          </a:xfrm>
          <a:prstGeom prst="rect">
            <a:avLst/>
          </a:prstGeom>
          <a:solidFill>
            <a:srgbClr val="F1F5F9"/>
          </a:solidFill>
          <a:ln w="12700">
            <a:solidFill>
              <a:srgbClr val="0D9488"/>
            </a:solidFill>
            <a:prstDash val="solid"/>
          </a:ln>
        </p:spPr>
        <p:txBody>
          <a:bodyPr/>
          <a:lstStyle/>
          <a:p>
            <a:endParaRPr lang="en-US"/>
          </a:p>
        </p:txBody>
      </p:sp>
      <p:sp>
        <p:nvSpPr>
          <p:cNvPr id="43" name="Text 41"/>
          <p:cNvSpPr/>
          <p:nvPr/>
        </p:nvSpPr>
        <p:spPr>
          <a:xfrm>
            <a:off x="8604504" y="2578608"/>
            <a:ext cx="164592" cy="347472"/>
          </a:xfrm>
          <a:prstGeom prst="rect">
            <a:avLst/>
          </a:prstGeom>
          <a:noFill/>
          <a:ln/>
        </p:spPr>
        <p:txBody>
          <a:bodyPr wrap="square" lIns="0" tIns="0" rIns="0" bIns="0" rtlCol="0" anchor="ctr"/>
          <a:lstStyle/>
          <a:p>
            <a:pPr marL="0" indent="0" algn="ctr">
              <a:buNone/>
            </a:pPr>
            <a:r>
              <a:rPr lang="en-US" sz="1000" dirty="0">
                <a:solidFill>
                  <a:srgbClr val="0D9488"/>
                </a:solidFill>
                <a:latin typeface="Calibri" pitchFamily="34" charset="0"/>
                <a:ea typeface="Calibri" pitchFamily="34" charset="-122"/>
                <a:cs typeface="Calibri" pitchFamily="34" charset="-120"/>
              </a:rPr>
              <a:t>T</a:t>
            </a:r>
            <a:endParaRPr lang="en-US" sz="1000" dirty="0"/>
          </a:p>
        </p:txBody>
      </p:sp>
      <p:sp>
        <p:nvSpPr>
          <p:cNvPr id="44" name="Shape 42"/>
          <p:cNvSpPr/>
          <p:nvPr/>
        </p:nvSpPr>
        <p:spPr>
          <a:xfrm>
            <a:off x="8604504" y="2980944"/>
            <a:ext cx="164592" cy="347472"/>
          </a:xfrm>
          <a:prstGeom prst="rect">
            <a:avLst/>
          </a:prstGeom>
          <a:solidFill>
            <a:srgbClr val="F1F5F9"/>
          </a:solidFill>
          <a:ln w="12700">
            <a:solidFill>
              <a:srgbClr val="D97706"/>
            </a:solidFill>
            <a:prstDash val="solid"/>
          </a:ln>
        </p:spPr>
        <p:txBody>
          <a:bodyPr/>
          <a:lstStyle/>
          <a:p>
            <a:endParaRPr lang="en-US"/>
          </a:p>
        </p:txBody>
      </p:sp>
      <p:sp>
        <p:nvSpPr>
          <p:cNvPr id="45" name="Text 43"/>
          <p:cNvSpPr/>
          <p:nvPr/>
        </p:nvSpPr>
        <p:spPr>
          <a:xfrm>
            <a:off x="8604504" y="2980944"/>
            <a:ext cx="164592" cy="347472"/>
          </a:xfrm>
          <a:prstGeom prst="rect">
            <a:avLst/>
          </a:prstGeom>
          <a:noFill/>
          <a:ln/>
        </p:spPr>
        <p:txBody>
          <a:bodyPr wrap="square" lIns="0" tIns="0" rIns="0" bIns="0" rtlCol="0" anchor="ctr"/>
          <a:lstStyle/>
          <a:p>
            <a:pPr marL="0" indent="0" algn="ctr">
              <a:buNone/>
            </a:pPr>
            <a:r>
              <a:rPr lang="en-US" sz="1000" dirty="0">
                <a:solidFill>
                  <a:srgbClr val="D97706"/>
                </a:solidFill>
                <a:latin typeface="Calibri" pitchFamily="34" charset="0"/>
                <a:ea typeface="Calibri" pitchFamily="34" charset="-122"/>
                <a:cs typeface="Calibri" pitchFamily="34" charset="-120"/>
              </a:rPr>
              <a:t>F</a:t>
            </a:r>
            <a:endParaRPr lang="en-US" sz="1000" dirty="0"/>
          </a:p>
        </p:txBody>
      </p:sp>
      <p:sp>
        <p:nvSpPr>
          <p:cNvPr id="46" name="Shape 44"/>
          <p:cNvSpPr/>
          <p:nvPr/>
        </p:nvSpPr>
        <p:spPr>
          <a:xfrm>
            <a:off x="4617720" y="3465576"/>
            <a:ext cx="457200" cy="749808"/>
          </a:xfrm>
          <a:prstGeom prst="rect">
            <a:avLst/>
          </a:prstGeom>
          <a:solidFill>
            <a:srgbClr val="7C3AED"/>
          </a:solidFill>
          <a:ln/>
        </p:spPr>
        <p:txBody>
          <a:bodyPr/>
          <a:lstStyle/>
          <a:p>
            <a:endParaRPr lang="en-US"/>
          </a:p>
        </p:txBody>
      </p:sp>
      <p:sp>
        <p:nvSpPr>
          <p:cNvPr id="47" name="Text 45"/>
          <p:cNvSpPr/>
          <p:nvPr/>
        </p:nvSpPr>
        <p:spPr>
          <a:xfrm>
            <a:off x="4617720" y="3465576"/>
            <a:ext cx="457200" cy="7498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8" name="Shape 46"/>
          <p:cNvSpPr/>
          <p:nvPr/>
        </p:nvSpPr>
        <p:spPr>
          <a:xfrm>
            <a:off x="5166360" y="3465576"/>
            <a:ext cx="3383280" cy="749808"/>
          </a:xfrm>
          <a:prstGeom prst="rect">
            <a:avLst/>
          </a:prstGeom>
          <a:solidFill>
            <a:srgbClr val="FFFFFF"/>
          </a:solidFill>
          <a:ln w="12700">
            <a:solidFill>
              <a:srgbClr val="E2E8F0"/>
            </a:solidFill>
            <a:prstDash val="solid"/>
          </a:ln>
        </p:spPr>
        <p:txBody>
          <a:bodyPr/>
          <a:lstStyle/>
          <a:p>
            <a:endParaRPr lang="en-US"/>
          </a:p>
        </p:txBody>
      </p:sp>
      <p:sp>
        <p:nvSpPr>
          <p:cNvPr id="49" name="Text 47"/>
          <p:cNvSpPr/>
          <p:nvPr/>
        </p:nvSpPr>
        <p:spPr>
          <a:xfrm>
            <a:off x="5276088" y="3557016"/>
            <a:ext cx="3200400" cy="566928"/>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If I measure photon A and get "horizontal", photon B will always give "vertical" — the outcomes are always opposite.</a:t>
            </a:r>
            <a:endParaRPr lang="en-US" sz="1200" dirty="0"/>
          </a:p>
        </p:txBody>
      </p:sp>
      <p:sp>
        <p:nvSpPr>
          <p:cNvPr id="50" name="Shape 48"/>
          <p:cNvSpPr/>
          <p:nvPr/>
        </p:nvSpPr>
        <p:spPr>
          <a:xfrm>
            <a:off x="8604504" y="3465576"/>
            <a:ext cx="164592" cy="347472"/>
          </a:xfrm>
          <a:prstGeom prst="rect">
            <a:avLst/>
          </a:prstGeom>
          <a:solidFill>
            <a:srgbClr val="F1F5F9"/>
          </a:solidFill>
          <a:ln w="12700">
            <a:solidFill>
              <a:srgbClr val="0D9488"/>
            </a:solidFill>
            <a:prstDash val="solid"/>
          </a:ln>
        </p:spPr>
        <p:txBody>
          <a:bodyPr/>
          <a:lstStyle/>
          <a:p>
            <a:endParaRPr lang="en-US"/>
          </a:p>
        </p:txBody>
      </p:sp>
      <p:sp>
        <p:nvSpPr>
          <p:cNvPr id="51" name="Text 49"/>
          <p:cNvSpPr/>
          <p:nvPr/>
        </p:nvSpPr>
        <p:spPr>
          <a:xfrm>
            <a:off x="8604504" y="3465576"/>
            <a:ext cx="164592" cy="347472"/>
          </a:xfrm>
          <a:prstGeom prst="rect">
            <a:avLst/>
          </a:prstGeom>
          <a:noFill/>
          <a:ln/>
        </p:spPr>
        <p:txBody>
          <a:bodyPr wrap="square" lIns="0" tIns="0" rIns="0" bIns="0" rtlCol="0" anchor="ctr"/>
          <a:lstStyle/>
          <a:p>
            <a:pPr marL="0" indent="0" algn="ctr">
              <a:buNone/>
            </a:pPr>
            <a:r>
              <a:rPr lang="en-US" sz="1000" dirty="0">
                <a:solidFill>
                  <a:srgbClr val="0D9488"/>
                </a:solidFill>
                <a:latin typeface="Calibri" pitchFamily="34" charset="0"/>
                <a:ea typeface="Calibri" pitchFamily="34" charset="-122"/>
                <a:cs typeface="Calibri" pitchFamily="34" charset="-120"/>
              </a:rPr>
              <a:t>T</a:t>
            </a:r>
            <a:endParaRPr lang="en-US" sz="1000" dirty="0"/>
          </a:p>
        </p:txBody>
      </p:sp>
      <p:sp>
        <p:nvSpPr>
          <p:cNvPr id="52" name="Shape 50"/>
          <p:cNvSpPr/>
          <p:nvPr/>
        </p:nvSpPr>
        <p:spPr>
          <a:xfrm>
            <a:off x="8604504" y="3867912"/>
            <a:ext cx="164592" cy="347472"/>
          </a:xfrm>
          <a:prstGeom prst="rect">
            <a:avLst/>
          </a:prstGeom>
          <a:solidFill>
            <a:srgbClr val="F1F5F9"/>
          </a:solidFill>
          <a:ln w="12700">
            <a:solidFill>
              <a:srgbClr val="D97706"/>
            </a:solidFill>
            <a:prstDash val="solid"/>
          </a:ln>
        </p:spPr>
        <p:txBody>
          <a:bodyPr/>
          <a:lstStyle/>
          <a:p>
            <a:endParaRPr lang="en-US"/>
          </a:p>
        </p:txBody>
      </p:sp>
      <p:sp>
        <p:nvSpPr>
          <p:cNvPr id="53" name="Text 51"/>
          <p:cNvSpPr/>
          <p:nvPr/>
        </p:nvSpPr>
        <p:spPr>
          <a:xfrm>
            <a:off x="8604504" y="3867912"/>
            <a:ext cx="164592" cy="347472"/>
          </a:xfrm>
          <a:prstGeom prst="rect">
            <a:avLst/>
          </a:prstGeom>
          <a:noFill/>
          <a:ln/>
        </p:spPr>
        <p:txBody>
          <a:bodyPr wrap="square" lIns="0" tIns="0" rIns="0" bIns="0" rtlCol="0" anchor="ctr"/>
          <a:lstStyle/>
          <a:p>
            <a:pPr marL="0" indent="0" algn="ctr">
              <a:buNone/>
            </a:pPr>
            <a:r>
              <a:rPr lang="en-US" sz="1000" dirty="0">
                <a:solidFill>
                  <a:srgbClr val="D97706"/>
                </a:solidFill>
                <a:latin typeface="Calibri" pitchFamily="34" charset="0"/>
                <a:ea typeface="Calibri" pitchFamily="34" charset="-122"/>
                <a:cs typeface="Calibri" pitchFamily="34" charset="-120"/>
              </a:rPr>
              <a:t>F</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9488"/>
          </a:solidFill>
          <a:ln/>
        </p:spPr>
        <p:txBody>
          <a:bodyPr/>
          <a:lstStyle/>
          <a:p>
            <a:endParaRPr lang="en-US"/>
          </a:p>
        </p:txBody>
      </p:sp>
      <p:sp>
        <p:nvSpPr>
          <p:cNvPr id="3" name="Text 1"/>
          <p:cNvSpPr/>
          <p:nvPr/>
        </p:nvSpPr>
        <p:spPr>
          <a:xfrm>
            <a:off x="320040" y="0"/>
            <a:ext cx="8503920" cy="502920"/>
          </a:xfrm>
          <a:prstGeom prst="rect">
            <a:avLst/>
          </a:prstGeom>
          <a:noFill/>
          <a:ln/>
        </p:spPr>
        <p:txBody>
          <a:bodyPr wrap="square" lIns="0" tIns="0" rIns="0" bIns="0" rtlCol="0" anchor="ctr"/>
          <a:lstStyle/>
          <a:p>
            <a:r>
              <a:rPr lang="en-US" sz="1500" b="1" dirty="0">
                <a:solidFill>
                  <a:srgbClr val="FFFFFF"/>
                </a:solidFill>
                <a:latin typeface="Calibri" pitchFamily="34" charset="0"/>
                <a:ea typeface="Calibri" pitchFamily="34" charset="-122"/>
                <a:cs typeface="Calibri" pitchFamily="34" charset="-120"/>
              </a:rPr>
              <a:t>ACTIVITY  3 - Answer</a:t>
            </a:r>
            <a:endParaRPr lang="en-US" sz="1500" dirty="0"/>
          </a:p>
        </p:txBody>
      </p:sp>
      <p:sp>
        <p:nvSpPr>
          <p:cNvPr id="4" name="Text 2"/>
          <p:cNvSpPr/>
          <p:nvPr/>
        </p:nvSpPr>
        <p:spPr>
          <a:xfrm>
            <a:off x="457200" y="658368"/>
            <a:ext cx="8229600" cy="457200"/>
          </a:xfrm>
          <a:prstGeom prst="rect">
            <a:avLst/>
          </a:prstGeom>
          <a:noFill/>
          <a:ln/>
        </p:spPr>
        <p:txBody>
          <a:bodyPr wrap="square" rtlCol="0" anchor="ctr"/>
          <a:lstStyle/>
          <a:p>
            <a:pPr marL="0" indent="0">
              <a:buNone/>
            </a:pPr>
            <a:r>
              <a:rPr lang="en-US" sz="2200" b="1" dirty="0">
                <a:solidFill>
                  <a:srgbClr val="D97706"/>
                </a:solidFill>
                <a:latin typeface="Calibri" pitchFamily="34" charset="0"/>
                <a:ea typeface="Calibri" pitchFamily="34" charset="-122"/>
                <a:cs typeface="Calibri" pitchFamily="34" charset="-120"/>
              </a:rPr>
              <a:t>True or False? — Answers</a:t>
            </a:r>
            <a:endParaRPr lang="en-US" sz="2200" dirty="0"/>
          </a:p>
        </p:txBody>
      </p:sp>
      <p:sp>
        <p:nvSpPr>
          <p:cNvPr id="5" name="Shape 3"/>
          <p:cNvSpPr/>
          <p:nvPr/>
        </p:nvSpPr>
        <p:spPr>
          <a:xfrm>
            <a:off x="457200" y="1261872"/>
            <a:ext cx="457200" cy="1024128"/>
          </a:xfrm>
          <a:prstGeom prst="rect">
            <a:avLst/>
          </a:prstGeom>
          <a:solidFill>
            <a:srgbClr val="0D9488"/>
          </a:solidFill>
          <a:ln/>
        </p:spPr>
        <p:txBody>
          <a:bodyPr/>
          <a:lstStyle/>
          <a:p>
            <a:endParaRPr lang="en-US"/>
          </a:p>
        </p:txBody>
      </p:sp>
      <p:sp>
        <p:nvSpPr>
          <p:cNvPr id="6" name="Text 4"/>
          <p:cNvSpPr/>
          <p:nvPr/>
        </p:nvSpPr>
        <p:spPr>
          <a:xfrm>
            <a:off x="457200" y="1261872"/>
            <a:ext cx="4572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457200" y="1609344"/>
            <a:ext cx="457200" cy="6766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TRUE</a:t>
            </a:r>
            <a:endParaRPr lang="en-US" sz="1000" dirty="0"/>
          </a:p>
        </p:txBody>
      </p:sp>
      <p:sp>
        <p:nvSpPr>
          <p:cNvPr id="8" name="Shape 6"/>
          <p:cNvSpPr/>
          <p:nvPr/>
        </p:nvSpPr>
        <p:spPr>
          <a:xfrm>
            <a:off x="1005840" y="1261872"/>
            <a:ext cx="3566160" cy="1024128"/>
          </a:xfrm>
          <a:prstGeom prst="rect">
            <a:avLst/>
          </a:prstGeom>
          <a:solidFill>
            <a:srgbClr val="0D9488">
              <a:alpha val="10000"/>
            </a:srgbClr>
          </a:solidFill>
          <a:ln w="10160">
            <a:solidFill>
              <a:srgbClr val="0D9488"/>
            </a:solidFill>
            <a:prstDash val="solid"/>
          </a:ln>
        </p:spPr>
        <p:txBody>
          <a:bodyPr/>
          <a:lstStyle/>
          <a:p>
            <a:endParaRPr lang="en-US"/>
          </a:p>
        </p:txBody>
      </p:sp>
      <p:sp>
        <p:nvSpPr>
          <p:cNvPr id="9" name="Text 7"/>
          <p:cNvSpPr/>
          <p:nvPr/>
        </p:nvSpPr>
        <p:spPr>
          <a:xfrm>
            <a:off x="1133856" y="1371600"/>
            <a:ext cx="3346704" cy="804672"/>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Measuring one instantly collapses the joint state — the partner's outcome is determined. Distance is irrelevant.</a:t>
            </a:r>
            <a:endParaRPr lang="en-US" sz="1150" dirty="0"/>
          </a:p>
        </p:txBody>
      </p:sp>
      <p:sp>
        <p:nvSpPr>
          <p:cNvPr id="10" name="Shape 8"/>
          <p:cNvSpPr/>
          <p:nvPr/>
        </p:nvSpPr>
        <p:spPr>
          <a:xfrm>
            <a:off x="457200" y="2450592"/>
            <a:ext cx="457200" cy="1024128"/>
          </a:xfrm>
          <a:prstGeom prst="rect">
            <a:avLst/>
          </a:prstGeom>
          <a:solidFill>
            <a:srgbClr val="D97706"/>
          </a:solidFill>
          <a:ln/>
        </p:spPr>
        <p:txBody>
          <a:bodyPr/>
          <a:lstStyle/>
          <a:p>
            <a:endParaRPr lang="en-US"/>
          </a:p>
        </p:txBody>
      </p:sp>
      <p:sp>
        <p:nvSpPr>
          <p:cNvPr id="11" name="Text 9"/>
          <p:cNvSpPr/>
          <p:nvPr/>
        </p:nvSpPr>
        <p:spPr>
          <a:xfrm>
            <a:off x="457200" y="2450592"/>
            <a:ext cx="4572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457200" y="2798064"/>
            <a:ext cx="457200" cy="6766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FALSE</a:t>
            </a:r>
            <a:endParaRPr lang="en-US" sz="1000" dirty="0"/>
          </a:p>
        </p:txBody>
      </p:sp>
      <p:sp>
        <p:nvSpPr>
          <p:cNvPr id="13" name="Shape 11"/>
          <p:cNvSpPr/>
          <p:nvPr/>
        </p:nvSpPr>
        <p:spPr>
          <a:xfrm>
            <a:off x="1005840" y="2450592"/>
            <a:ext cx="3566160" cy="1024128"/>
          </a:xfrm>
          <a:prstGeom prst="rect">
            <a:avLst/>
          </a:prstGeom>
          <a:solidFill>
            <a:srgbClr val="D97706">
              <a:alpha val="10000"/>
            </a:srgbClr>
          </a:solidFill>
          <a:ln w="10160">
            <a:solidFill>
              <a:srgbClr val="D97706"/>
            </a:solidFill>
            <a:prstDash val="solid"/>
          </a:ln>
        </p:spPr>
        <p:txBody>
          <a:bodyPr/>
          <a:lstStyle/>
          <a:p>
            <a:endParaRPr lang="en-US"/>
          </a:p>
        </p:txBody>
      </p:sp>
      <p:sp>
        <p:nvSpPr>
          <p:cNvPr id="14" name="Text 12"/>
          <p:cNvSpPr/>
          <p:nvPr/>
        </p:nvSpPr>
        <p:spPr>
          <a:xfrm>
            <a:off x="1133856" y="2560320"/>
            <a:ext cx="3346704" cy="804672"/>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You cannot transmit information this way. You only learn the result after a classical message confirms it — still limited by speed of light.</a:t>
            </a:r>
            <a:endParaRPr lang="en-US" sz="1150" dirty="0"/>
          </a:p>
        </p:txBody>
      </p:sp>
      <p:sp>
        <p:nvSpPr>
          <p:cNvPr id="15" name="Shape 13"/>
          <p:cNvSpPr/>
          <p:nvPr/>
        </p:nvSpPr>
        <p:spPr>
          <a:xfrm>
            <a:off x="457200" y="3639312"/>
            <a:ext cx="457200" cy="1024128"/>
          </a:xfrm>
          <a:prstGeom prst="rect">
            <a:avLst/>
          </a:prstGeom>
          <a:solidFill>
            <a:srgbClr val="0D9488"/>
          </a:solidFill>
          <a:ln/>
        </p:spPr>
        <p:txBody>
          <a:bodyPr/>
          <a:lstStyle/>
          <a:p>
            <a:endParaRPr lang="en-US"/>
          </a:p>
        </p:txBody>
      </p:sp>
      <p:sp>
        <p:nvSpPr>
          <p:cNvPr id="16" name="Text 14"/>
          <p:cNvSpPr/>
          <p:nvPr/>
        </p:nvSpPr>
        <p:spPr>
          <a:xfrm>
            <a:off x="457200" y="3639312"/>
            <a:ext cx="4572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457200" y="3986784"/>
            <a:ext cx="457200" cy="6766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TRUE</a:t>
            </a:r>
            <a:endParaRPr lang="en-US" sz="1000" dirty="0"/>
          </a:p>
        </p:txBody>
      </p:sp>
      <p:sp>
        <p:nvSpPr>
          <p:cNvPr id="18" name="Shape 16"/>
          <p:cNvSpPr/>
          <p:nvPr/>
        </p:nvSpPr>
        <p:spPr>
          <a:xfrm>
            <a:off x="1005840" y="3639312"/>
            <a:ext cx="3566160" cy="1024128"/>
          </a:xfrm>
          <a:prstGeom prst="rect">
            <a:avLst/>
          </a:prstGeom>
          <a:solidFill>
            <a:srgbClr val="0D9488">
              <a:alpha val="10000"/>
            </a:srgbClr>
          </a:solidFill>
          <a:ln w="10160">
            <a:solidFill>
              <a:srgbClr val="0D9488"/>
            </a:solidFill>
            <a:prstDash val="solid"/>
          </a:ln>
        </p:spPr>
        <p:txBody>
          <a:bodyPr/>
          <a:lstStyle/>
          <a:p>
            <a:endParaRPr lang="en-US"/>
          </a:p>
        </p:txBody>
      </p:sp>
      <p:sp>
        <p:nvSpPr>
          <p:cNvPr id="19" name="Text 17"/>
          <p:cNvSpPr/>
          <p:nvPr/>
        </p:nvSpPr>
        <p:spPr>
          <a:xfrm>
            <a:off x="1133856" y="3749040"/>
            <a:ext cx="3346704" cy="804672"/>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The Bell state |Φ+⟩ = (|00⟩+|11⟩)/√2 — neither photon has a definite value until one is measured.</a:t>
            </a:r>
            <a:endParaRPr lang="en-US" sz="1150" dirty="0"/>
          </a:p>
        </p:txBody>
      </p:sp>
      <p:sp>
        <p:nvSpPr>
          <p:cNvPr id="20" name="Shape 18"/>
          <p:cNvSpPr/>
          <p:nvPr/>
        </p:nvSpPr>
        <p:spPr>
          <a:xfrm>
            <a:off x="4617720" y="1261872"/>
            <a:ext cx="457200" cy="1024128"/>
          </a:xfrm>
          <a:prstGeom prst="rect">
            <a:avLst/>
          </a:prstGeom>
          <a:solidFill>
            <a:srgbClr val="D97706"/>
          </a:solidFill>
          <a:ln/>
        </p:spPr>
        <p:txBody>
          <a:bodyPr/>
          <a:lstStyle/>
          <a:p>
            <a:endParaRPr lang="en-US"/>
          </a:p>
        </p:txBody>
      </p:sp>
      <p:sp>
        <p:nvSpPr>
          <p:cNvPr id="21" name="Text 19"/>
          <p:cNvSpPr/>
          <p:nvPr/>
        </p:nvSpPr>
        <p:spPr>
          <a:xfrm>
            <a:off x="4617720" y="1261872"/>
            <a:ext cx="4572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4617720" y="1609344"/>
            <a:ext cx="457200" cy="6766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FALSE</a:t>
            </a:r>
            <a:endParaRPr lang="en-US" sz="1000" dirty="0"/>
          </a:p>
        </p:txBody>
      </p:sp>
      <p:sp>
        <p:nvSpPr>
          <p:cNvPr id="23" name="Shape 21"/>
          <p:cNvSpPr/>
          <p:nvPr/>
        </p:nvSpPr>
        <p:spPr>
          <a:xfrm>
            <a:off x="5166360" y="1261872"/>
            <a:ext cx="3566160" cy="1024128"/>
          </a:xfrm>
          <a:prstGeom prst="rect">
            <a:avLst/>
          </a:prstGeom>
          <a:solidFill>
            <a:srgbClr val="D97706">
              <a:alpha val="10000"/>
            </a:srgbClr>
          </a:solidFill>
          <a:ln w="10160">
            <a:solidFill>
              <a:srgbClr val="D97706"/>
            </a:solidFill>
            <a:prstDash val="solid"/>
          </a:ln>
        </p:spPr>
        <p:txBody>
          <a:bodyPr/>
          <a:lstStyle/>
          <a:p>
            <a:endParaRPr lang="en-US"/>
          </a:p>
        </p:txBody>
      </p:sp>
      <p:sp>
        <p:nvSpPr>
          <p:cNvPr id="24" name="Text 22"/>
          <p:cNvSpPr/>
          <p:nvPr/>
        </p:nvSpPr>
        <p:spPr>
          <a:xfrm>
            <a:off x="5294376" y="1371600"/>
            <a:ext cx="3346704" cy="804672"/>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Measurement is irreversible. The original superposition state is gone — you cannot "re-entangle" after collapse.</a:t>
            </a:r>
            <a:endParaRPr lang="en-US" sz="1150" dirty="0"/>
          </a:p>
        </p:txBody>
      </p:sp>
      <p:sp>
        <p:nvSpPr>
          <p:cNvPr id="25" name="Shape 23"/>
          <p:cNvSpPr/>
          <p:nvPr/>
        </p:nvSpPr>
        <p:spPr>
          <a:xfrm>
            <a:off x="4617720" y="2450592"/>
            <a:ext cx="457200" cy="1024128"/>
          </a:xfrm>
          <a:prstGeom prst="rect">
            <a:avLst/>
          </a:prstGeom>
          <a:solidFill>
            <a:srgbClr val="0D9488"/>
          </a:solidFill>
          <a:ln/>
        </p:spPr>
        <p:txBody>
          <a:bodyPr/>
          <a:lstStyle/>
          <a:p>
            <a:endParaRPr lang="en-US"/>
          </a:p>
        </p:txBody>
      </p:sp>
      <p:sp>
        <p:nvSpPr>
          <p:cNvPr id="26" name="Text 24"/>
          <p:cNvSpPr/>
          <p:nvPr/>
        </p:nvSpPr>
        <p:spPr>
          <a:xfrm>
            <a:off x="4617720" y="2450592"/>
            <a:ext cx="4572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4617720" y="2798064"/>
            <a:ext cx="457200" cy="6766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TRUE</a:t>
            </a:r>
            <a:endParaRPr lang="en-US" sz="1000" dirty="0"/>
          </a:p>
        </p:txBody>
      </p:sp>
      <p:sp>
        <p:nvSpPr>
          <p:cNvPr id="28" name="Shape 26"/>
          <p:cNvSpPr/>
          <p:nvPr/>
        </p:nvSpPr>
        <p:spPr>
          <a:xfrm>
            <a:off x="5166360" y="2450592"/>
            <a:ext cx="3566160" cy="1024128"/>
          </a:xfrm>
          <a:prstGeom prst="rect">
            <a:avLst/>
          </a:prstGeom>
          <a:solidFill>
            <a:srgbClr val="0D9488">
              <a:alpha val="10000"/>
            </a:srgbClr>
          </a:solidFill>
          <a:ln w="10160">
            <a:solidFill>
              <a:srgbClr val="0D9488"/>
            </a:solidFill>
            <a:prstDash val="solid"/>
          </a:ln>
        </p:spPr>
        <p:txBody>
          <a:bodyPr/>
          <a:lstStyle/>
          <a:p>
            <a:endParaRPr lang="en-US"/>
          </a:p>
        </p:txBody>
      </p:sp>
      <p:sp>
        <p:nvSpPr>
          <p:cNvPr id="29" name="Text 27"/>
          <p:cNvSpPr/>
          <p:nvPr/>
        </p:nvSpPr>
        <p:spPr>
          <a:xfrm>
            <a:off x="5294376" y="2560320"/>
            <a:ext cx="3346704" cy="804672"/>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SPDC splits one high-energy pump photon into two correlated lower-energy photons — that's the source of entanglement.</a:t>
            </a:r>
            <a:endParaRPr lang="en-US" sz="1150" dirty="0"/>
          </a:p>
        </p:txBody>
      </p:sp>
      <p:sp>
        <p:nvSpPr>
          <p:cNvPr id="30" name="Shape 28"/>
          <p:cNvSpPr/>
          <p:nvPr/>
        </p:nvSpPr>
        <p:spPr>
          <a:xfrm>
            <a:off x="4617720" y="3639312"/>
            <a:ext cx="457200" cy="1024128"/>
          </a:xfrm>
          <a:prstGeom prst="rect">
            <a:avLst/>
          </a:prstGeom>
          <a:solidFill>
            <a:srgbClr val="7C3AED"/>
          </a:solidFill>
          <a:ln/>
        </p:spPr>
        <p:txBody>
          <a:bodyPr/>
          <a:lstStyle/>
          <a:p>
            <a:endParaRPr lang="en-US"/>
          </a:p>
        </p:txBody>
      </p:sp>
      <p:sp>
        <p:nvSpPr>
          <p:cNvPr id="31" name="Text 29"/>
          <p:cNvSpPr/>
          <p:nvPr/>
        </p:nvSpPr>
        <p:spPr>
          <a:xfrm>
            <a:off x="4617720" y="3639312"/>
            <a:ext cx="4572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4617720" y="3986784"/>
            <a:ext cx="457200" cy="6766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FALSE — depends on the Bell state used</a:t>
            </a:r>
            <a:endParaRPr lang="en-US" sz="1000" dirty="0"/>
          </a:p>
        </p:txBody>
      </p:sp>
      <p:sp>
        <p:nvSpPr>
          <p:cNvPr id="33" name="Shape 31"/>
          <p:cNvSpPr/>
          <p:nvPr/>
        </p:nvSpPr>
        <p:spPr>
          <a:xfrm>
            <a:off x="5166360" y="3639312"/>
            <a:ext cx="3566160" cy="1024128"/>
          </a:xfrm>
          <a:prstGeom prst="rect">
            <a:avLst/>
          </a:prstGeom>
          <a:solidFill>
            <a:srgbClr val="7C3AED">
              <a:alpha val="10000"/>
            </a:srgbClr>
          </a:solidFill>
          <a:ln w="10160">
            <a:solidFill>
              <a:srgbClr val="7C3AED"/>
            </a:solidFill>
            <a:prstDash val="solid"/>
          </a:ln>
        </p:spPr>
        <p:txBody>
          <a:bodyPr/>
          <a:lstStyle/>
          <a:p>
            <a:endParaRPr lang="en-US"/>
          </a:p>
        </p:txBody>
      </p:sp>
      <p:sp>
        <p:nvSpPr>
          <p:cNvPr id="34" name="Text 32"/>
          <p:cNvSpPr/>
          <p:nvPr/>
        </p:nvSpPr>
        <p:spPr>
          <a:xfrm>
            <a:off x="5294376" y="3749040"/>
            <a:ext cx="3346704" cy="804672"/>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For |Φ+⟩, both photons give the SAME outcome (both 0 or both 1). For |Ψ+⟩, they give opposite outcomes. It depends on which state is prepared.</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3000" b="1" dirty="0">
                <a:solidFill>
                  <a:srgbClr val="7C3AED"/>
                </a:solidFill>
                <a:latin typeface="Calibri" pitchFamily="34" charset="0"/>
                <a:ea typeface="Calibri" pitchFamily="34" charset="-122"/>
                <a:cs typeface="Calibri" pitchFamily="34" charset="-120"/>
              </a:rPr>
              <a:t>EPR Pairs and SPDC: Generating Entangled Photons</a:t>
            </a:r>
            <a:endParaRPr lang="en-US" sz="3000" dirty="0"/>
          </a:p>
        </p:txBody>
      </p:sp>
      <p:sp>
        <p:nvSpPr>
          <p:cNvPr id="3" name="Shape 1"/>
          <p:cNvSpPr/>
          <p:nvPr/>
        </p:nvSpPr>
        <p:spPr>
          <a:xfrm>
            <a:off x="457200" y="841248"/>
            <a:ext cx="8229600" cy="27432"/>
          </a:xfrm>
          <a:prstGeom prst="rect">
            <a:avLst/>
          </a:prstGeom>
          <a:solidFill>
            <a:srgbClr val="7C3AED"/>
          </a:solidFill>
          <a:ln/>
        </p:spPr>
        <p:txBody>
          <a:bodyPr/>
          <a:lstStyle/>
          <a:p>
            <a:endParaRPr lang="en-US"/>
          </a:p>
        </p:txBody>
      </p:sp>
      <p:sp>
        <p:nvSpPr>
          <p:cNvPr id="4" name="Text 2"/>
          <p:cNvSpPr/>
          <p:nvPr/>
        </p:nvSpPr>
        <p:spPr>
          <a:xfrm>
            <a:off x="457200" y="1005840"/>
            <a:ext cx="8229600" cy="420624"/>
          </a:xfrm>
          <a:prstGeom prst="rect">
            <a:avLst/>
          </a:prstGeom>
          <a:noFill/>
          <a:ln/>
        </p:spPr>
        <p:txBody>
          <a:bodyPr wrap="square" rtlCol="0" anchor="ctr"/>
          <a:lstStyle/>
          <a:p>
            <a:pPr marL="0" indent="0">
              <a:buNone/>
            </a:pPr>
            <a:r>
              <a:rPr lang="en-US" sz="1400" dirty="0">
                <a:solidFill>
                  <a:srgbClr val="475569"/>
                </a:solidFill>
                <a:latin typeface="Calibri" pitchFamily="34" charset="0"/>
                <a:ea typeface="Calibri" pitchFamily="34" charset="-122"/>
                <a:cs typeface="Calibri" pitchFamily="34" charset="-120"/>
              </a:rPr>
              <a:t>An EPR pair (Einstein-Podolsky-Rosen) is a specific entangled two-qubit state. In optical quantum networks, EPR pairs are generated as pairs of entangled photons using SPDC.</a:t>
            </a:r>
            <a:endParaRPr lang="en-US" sz="1400" dirty="0"/>
          </a:p>
        </p:txBody>
      </p:sp>
      <p:sp>
        <p:nvSpPr>
          <p:cNvPr id="5" name="Shape 3"/>
          <p:cNvSpPr/>
          <p:nvPr/>
        </p:nvSpPr>
        <p:spPr>
          <a:xfrm>
            <a:off x="457200" y="1658493"/>
            <a:ext cx="3749040" cy="2884932"/>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6" name="Shape 4"/>
          <p:cNvSpPr/>
          <p:nvPr/>
        </p:nvSpPr>
        <p:spPr>
          <a:xfrm>
            <a:off x="457200" y="1658492"/>
            <a:ext cx="73152" cy="2884931"/>
          </a:xfrm>
          <a:prstGeom prst="rect">
            <a:avLst/>
          </a:prstGeom>
          <a:solidFill>
            <a:srgbClr val="7C3AED"/>
          </a:solidFill>
          <a:ln/>
        </p:spPr>
        <p:txBody>
          <a:bodyPr/>
          <a:lstStyle/>
          <a:p>
            <a:endParaRPr lang="en-US"/>
          </a:p>
        </p:txBody>
      </p:sp>
      <p:sp>
        <p:nvSpPr>
          <p:cNvPr id="7" name="Text 5"/>
          <p:cNvSpPr/>
          <p:nvPr/>
        </p:nvSpPr>
        <p:spPr>
          <a:xfrm>
            <a:off x="621792" y="1749933"/>
            <a:ext cx="3493008" cy="329184"/>
          </a:xfrm>
          <a:prstGeom prst="rect">
            <a:avLst/>
          </a:prstGeom>
          <a:noFill/>
          <a:ln/>
        </p:spPr>
        <p:txBody>
          <a:bodyPr wrap="square" lIns="0" tIns="0" rIns="0" bIns="0"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Spontaneous Parametric Down-Conversion (SPDC)</a:t>
            </a:r>
            <a:endParaRPr lang="en-US" sz="1400" dirty="0"/>
          </a:p>
        </p:txBody>
      </p:sp>
      <p:sp>
        <p:nvSpPr>
          <p:cNvPr id="8" name="Text 6"/>
          <p:cNvSpPr/>
          <p:nvPr/>
        </p:nvSpPr>
        <p:spPr>
          <a:xfrm>
            <a:off x="621792" y="2115692"/>
            <a:ext cx="3493008" cy="2277713"/>
          </a:xfrm>
          <a:prstGeom prst="rect">
            <a:avLst/>
          </a:prstGeom>
          <a:noFill/>
          <a:ln/>
        </p:spPr>
        <p:txBody>
          <a:bodyPr wrap="square" lIns="0" tIns="0" rIns="0" bIns="0" rtlCol="0" anchor="t"/>
          <a:lstStyle/>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A high-energy pump photon enters a nonlinear crystal (e.g., BBO crystal)</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With some probability, the pump photon splits into two lower-energy photons</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These two photons are entangled in polarization — measuring one determines the other</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They travel in opposite directions — one photon to each consumer node</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SPDC is the most practical and mature method for generating EPR pairs today</a:t>
            </a:r>
            <a:endParaRPr lang="en-US" sz="1250" dirty="0"/>
          </a:p>
        </p:txBody>
      </p:sp>
      <p:pic>
        <p:nvPicPr>
          <p:cNvPr id="17" name="SPDCDiagram"/>
          <p:cNvPicPr>
            <a:picLocks noChangeAspect="1"/>
          </p:cNvPicPr>
          <p:nvPr/>
        </p:nvPicPr>
        <p:blipFill>
          <a:blip r:embed="rId3"/>
          <a:stretch>
            <a:fillRect/>
          </a:stretch>
        </p:blipFill>
        <p:spPr>
          <a:xfrm>
            <a:off x="4572000" y="1426464"/>
            <a:ext cx="4114800" cy="3429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1C2A41E3-D1EE-EC50-6DDC-A580BE87E36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E68429A-CAAB-D16B-E940-E031A8990B79}"/>
              </a:ext>
            </a:extLst>
          </p:cNvPr>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3000" b="1" dirty="0">
                <a:solidFill>
                  <a:srgbClr val="7C3AED"/>
                </a:solidFill>
                <a:latin typeface="Calibri" pitchFamily="34" charset="0"/>
                <a:ea typeface="Calibri" pitchFamily="34" charset="-122"/>
                <a:cs typeface="Calibri" pitchFamily="34" charset="-120"/>
              </a:rPr>
              <a:t>EPR Pairs and SPDC: Generating Entangled Photons</a:t>
            </a:r>
            <a:endParaRPr lang="en-US" sz="3000" dirty="0"/>
          </a:p>
        </p:txBody>
      </p:sp>
      <p:sp>
        <p:nvSpPr>
          <p:cNvPr id="3" name="Shape 1">
            <a:extLst>
              <a:ext uri="{FF2B5EF4-FFF2-40B4-BE49-F238E27FC236}">
                <a16:creationId xmlns:a16="http://schemas.microsoft.com/office/drawing/2014/main" id="{97033953-8BD2-83CA-D5EB-D344874A4CE6}"/>
              </a:ext>
            </a:extLst>
          </p:cNvPr>
          <p:cNvSpPr/>
          <p:nvPr/>
        </p:nvSpPr>
        <p:spPr>
          <a:xfrm>
            <a:off x="457200" y="841248"/>
            <a:ext cx="8229600" cy="27432"/>
          </a:xfrm>
          <a:prstGeom prst="rect">
            <a:avLst/>
          </a:prstGeom>
          <a:solidFill>
            <a:srgbClr val="7C3AED"/>
          </a:solidFill>
          <a:ln/>
        </p:spPr>
        <p:txBody>
          <a:bodyPr/>
          <a:lstStyle/>
          <a:p>
            <a:endParaRPr lang="en-US"/>
          </a:p>
        </p:txBody>
      </p:sp>
      <p:sp>
        <p:nvSpPr>
          <p:cNvPr id="9" name="Shape 7">
            <a:extLst>
              <a:ext uri="{FF2B5EF4-FFF2-40B4-BE49-F238E27FC236}">
                <a16:creationId xmlns:a16="http://schemas.microsoft.com/office/drawing/2014/main" id="{46BBBF28-65D9-BEC4-10F4-91D7CDF68B9E}"/>
              </a:ext>
            </a:extLst>
          </p:cNvPr>
          <p:cNvSpPr/>
          <p:nvPr/>
        </p:nvSpPr>
        <p:spPr>
          <a:xfrm>
            <a:off x="521208" y="1122712"/>
            <a:ext cx="8165592" cy="1485328"/>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0" name="Shape 8">
            <a:extLst>
              <a:ext uri="{FF2B5EF4-FFF2-40B4-BE49-F238E27FC236}">
                <a16:creationId xmlns:a16="http://schemas.microsoft.com/office/drawing/2014/main" id="{A56225BD-A8A4-61EC-B9AC-B021AADFDC64}"/>
              </a:ext>
            </a:extLst>
          </p:cNvPr>
          <p:cNvSpPr/>
          <p:nvPr/>
        </p:nvSpPr>
        <p:spPr>
          <a:xfrm>
            <a:off x="521208" y="1122712"/>
            <a:ext cx="100584" cy="1485328"/>
          </a:xfrm>
          <a:prstGeom prst="rect">
            <a:avLst/>
          </a:prstGeom>
          <a:solidFill>
            <a:srgbClr val="0D9488"/>
          </a:solidFill>
          <a:ln/>
        </p:spPr>
        <p:txBody>
          <a:bodyPr/>
          <a:lstStyle/>
          <a:p>
            <a:endParaRPr lang="en-US"/>
          </a:p>
        </p:txBody>
      </p:sp>
      <p:sp>
        <p:nvSpPr>
          <p:cNvPr id="11" name="Text 9">
            <a:extLst>
              <a:ext uri="{FF2B5EF4-FFF2-40B4-BE49-F238E27FC236}">
                <a16:creationId xmlns:a16="http://schemas.microsoft.com/office/drawing/2014/main" id="{B15A8852-B640-F464-576F-B050E2A7E2AF}"/>
              </a:ext>
            </a:extLst>
          </p:cNvPr>
          <p:cNvSpPr/>
          <p:nvPr/>
        </p:nvSpPr>
        <p:spPr>
          <a:xfrm>
            <a:off x="685800" y="1214152"/>
            <a:ext cx="4087368" cy="329184"/>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Why Photons Are Used in Networks</a:t>
            </a:r>
            <a:endParaRPr lang="en-US" sz="1400" dirty="0"/>
          </a:p>
        </p:txBody>
      </p:sp>
      <p:sp>
        <p:nvSpPr>
          <p:cNvPr id="12" name="Text 10">
            <a:extLst>
              <a:ext uri="{FF2B5EF4-FFF2-40B4-BE49-F238E27FC236}">
                <a16:creationId xmlns:a16="http://schemas.microsoft.com/office/drawing/2014/main" id="{A38233BF-F4A4-1585-7EA5-8D7FB90BF421}"/>
              </a:ext>
            </a:extLst>
          </p:cNvPr>
          <p:cNvSpPr/>
          <p:nvPr/>
        </p:nvSpPr>
        <p:spPr>
          <a:xfrm>
            <a:off x="685800" y="1579912"/>
            <a:ext cx="7799832" cy="1097280"/>
          </a:xfrm>
          <a:prstGeom prst="rect">
            <a:avLst/>
          </a:prstGeom>
          <a:noFill/>
          <a:ln/>
        </p:spPr>
        <p:txBody>
          <a:bodyPr wrap="square" lIns="0" tIns="0" rIns="0" bIns="0" rtlCol="0" anchor="t"/>
          <a:lstStyle/>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Photons travel naturally through optical fiber — the same infrastructure from Seminar 2</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Photon polarization (horizontal/vertical) encodes the qubit state</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Photons interact minimally with the environment — low decoherence over fiber</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Wavelength-division multiplexing can carry quantum and classical channels on the same fiber</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Compatibility with existing optical network infrastructure is crucial for near-term deployment</a:t>
            </a:r>
            <a:endParaRPr lang="en-US" sz="1250" dirty="0"/>
          </a:p>
        </p:txBody>
      </p:sp>
      <p:sp>
        <p:nvSpPr>
          <p:cNvPr id="13" name="Shape 11">
            <a:extLst>
              <a:ext uri="{FF2B5EF4-FFF2-40B4-BE49-F238E27FC236}">
                <a16:creationId xmlns:a16="http://schemas.microsoft.com/office/drawing/2014/main" id="{6C29B08F-A31B-BF6A-0174-B130B6F5E1B5}"/>
              </a:ext>
            </a:extLst>
          </p:cNvPr>
          <p:cNvSpPr/>
          <p:nvPr/>
        </p:nvSpPr>
        <p:spPr>
          <a:xfrm>
            <a:off x="521208" y="2724912"/>
            <a:ext cx="8183880" cy="2217420"/>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4" name="Shape 12">
            <a:extLst>
              <a:ext uri="{FF2B5EF4-FFF2-40B4-BE49-F238E27FC236}">
                <a16:creationId xmlns:a16="http://schemas.microsoft.com/office/drawing/2014/main" id="{8699225E-66C6-F9CF-7980-1F48A636DD4D}"/>
              </a:ext>
            </a:extLst>
          </p:cNvPr>
          <p:cNvSpPr/>
          <p:nvPr/>
        </p:nvSpPr>
        <p:spPr>
          <a:xfrm>
            <a:off x="521208" y="2724911"/>
            <a:ext cx="100584" cy="2217419"/>
          </a:xfrm>
          <a:prstGeom prst="rect">
            <a:avLst/>
          </a:prstGeom>
          <a:solidFill>
            <a:srgbClr val="D97706"/>
          </a:solidFill>
          <a:ln/>
        </p:spPr>
        <p:txBody>
          <a:bodyPr/>
          <a:lstStyle/>
          <a:p>
            <a:endParaRPr lang="en-US"/>
          </a:p>
        </p:txBody>
      </p:sp>
      <p:sp>
        <p:nvSpPr>
          <p:cNvPr id="15" name="Text 13">
            <a:extLst>
              <a:ext uri="{FF2B5EF4-FFF2-40B4-BE49-F238E27FC236}">
                <a16:creationId xmlns:a16="http://schemas.microsoft.com/office/drawing/2014/main" id="{2C62D855-6897-A654-A4FC-1D54F5196F07}"/>
              </a:ext>
            </a:extLst>
          </p:cNvPr>
          <p:cNvSpPr/>
          <p:nvPr/>
        </p:nvSpPr>
        <p:spPr>
          <a:xfrm>
            <a:off x="685800" y="2816352"/>
            <a:ext cx="7927848" cy="329184"/>
          </a:xfrm>
          <a:prstGeom prst="rect">
            <a:avLst/>
          </a:prstGeom>
          <a:noFill/>
          <a:ln/>
        </p:spPr>
        <p:txBody>
          <a:bodyPr wrap="square" lIns="0" tIns="0" rIns="0" bIns="0" rtlCol="0" anchor="ctr"/>
          <a:lstStyle/>
          <a:p>
            <a:pPr marL="0" indent="0">
              <a:buNone/>
            </a:pPr>
            <a:r>
              <a:rPr lang="en-US" sz="1400" b="1" dirty="0">
                <a:solidFill>
                  <a:srgbClr val="D97706"/>
                </a:solidFill>
                <a:latin typeface="Calibri" pitchFamily="34" charset="0"/>
                <a:ea typeface="Calibri" pitchFamily="34" charset="-122"/>
                <a:cs typeface="Calibri" pitchFamily="34" charset="-120"/>
              </a:rPr>
              <a:t>The Transmission Challenge</a:t>
            </a:r>
            <a:endParaRPr lang="en-US" sz="1400" dirty="0"/>
          </a:p>
        </p:txBody>
      </p:sp>
      <p:sp>
        <p:nvSpPr>
          <p:cNvPr id="16" name="Text 14">
            <a:extLst>
              <a:ext uri="{FF2B5EF4-FFF2-40B4-BE49-F238E27FC236}">
                <a16:creationId xmlns:a16="http://schemas.microsoft.com/office/drawing/2014/main" id="{EEABD4C3-36F9-9093-DF95-CC5F6FC194B0}"/>
              </a:ext>
            </a:extLst>
          </p:cNvPr>
          <p:cNvSpPr/>
          <p:nvPr/>
        </p:nvSpPr>
        <p:spPr>
          <a:xfrm>
            <a:off x="685800" y="3182112"/>
            <a:ext cx="7927848" cy="1668494"/>
          </a:xfrm>
          <a:prstGeom prst="rect">
            <a:avLst/>
          </a:prstGeom>
          <a:noFill/>
          <a:ln/>
        </p:spPr>
        <p:txBody>
          <a:bodyPr wrap="square" lIns="0" tIns="0" rIns="0" bIns="0" rtlCol="0" anchor="t"/>
          <a:lstStyle/>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Both photons of an EPR pair must reach their respective consumer nodes — one photon to Node A, one photon to Node B</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They must travel on edge-disjoint paths (no shared fiber links) — otherwise both photons could be lost if that link fails</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They must use the same wavelength channel — otherwise they cannot be identified as a matched pair at the receivers</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Longer paths attenuate the signal more — transmittance η = 10</a:t>
            </a:r>
            <a:r>
              <a:rPr lang="en-US" sz="1250" baseline="30000" dirty="0">
                <a:solidFill>
                  <a:srgbClr val="475569"/>
                </a:solidFill>
                <a:latin typeface="Calibri" pitchFamily="34" charset="0"/>
                <a:ea typeface="Calibri" pitchFamily="34" charset="-122"/>
                <a:cs typeface="Calibri" pitchFamily="34" charset="-120"/>
              </a:rPr>
              <a:t>(-l/10) </a:t>
            </a:r>
            <a:r>
              <a:rPr lang="en-US" sz="1250" dirty="0">
                <a:solidFill>
                  <a:srgbClr val="475569"/>
                </a:solidFill>
                <a:latin typeface="Calibri" pitchFamily="34" charset="0"/>
                <a:ea typeface="Calibri" pitchFamily="34" charset="-122"/>
                <a:cs typeface="Calibri" pitchFamily="34" charset="-120"/>
              </a:rPr>
              <a:t>decreases exponentially with path length l</a:t>
            </a:r>
            <a:endParaRPr lang="en-US" sz="1250" dirty="0"/>
          </a:p>
        </p:txBody>
      </p:sp>
    </p:spTree>
    <p:extLst>
      <p:ext uri="{BB962C8B-B14F-4D97-AF65-F5344CB8AC3E}">
        <p14:creationId xmlns:p14="http://schemas.microsoft.com/office/powerpoint/2010/main" val="4266159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7C3AED"/>
          </a:solidFill>
          <a:ln/>
        </p:spPr>
        <p:txBody>
          <a:bodyPr/>
          <a:lstStyle/>
          <a:p>
            <a:endParaRPr lang="en-US"/>
          </a:p>
        </p:txBody>
      </p:sp>
      <p:sp>
        <p:nvSpPr>
          <p:cNvPr id="3" name="Text 1"/>
          <p:cNvSpPr/>
          <p:nvPr/>
        </p:nvSpPr>
        <p:spPr>
          <a:xfrm>
            <a:off x="320040" y="0"/>
            <a:ext cx="8503920" cy="50292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Activity 4</a:t>
            </a:r>
            <a:endParaRPr lang="en-US" sz="1500" dirty="0"/>
          </a:p>
        </p:txBody>
      </p:sp>
      <p:sp>
        <p:nvSpPr>
          <p:cNvPr id="4" name="Text 2"/>
          <p:cNvSpPr/>
          <p:nvPr/>
        </p:nvSpPr>
        <p:spPr>
          <a:xfrm>
            <a:off x="457200" y="658368"/>
            <a:ext cx="8229600" cy="658368"/>
          </a:xfrm>
          <a:prstGeom prst="rect">
            <a:avLst/>
          </a:prstGeom>
          <a:noFill/>
          <a:ln/>
        </p:spPr>
        <p:txBody>
          <a:bodyPr wrap="square" rtlCol="0" anchor="ctr"/>
          <a:lstStyle/>
          <a:p>
            <a:pPr marL="0" indent="0">
              <a:buNone/>
            </a:pPr>
            <a:r>
              <a:rPr lang="en-US" sz="2200" b="1" dirty="0">
                <a:solidFill>
                  <a:srgbClr val="1C2D5E"/>
                </a:solidFill>
                <a:latin typeface="Calibri" pitchFamily="34" charset="0"/>
                <a:ea typeface="Calibri" pitchFamily="34" charset="-122"/>
                <a:cs typeface="Calibri" pitchFamily="34" charset="-120"/>
              </a:rPr>
              <a:t>To distribute an EPR pair from source S to consumer nodes A and B, the two photons must travel along paths that are:</a:t>
            </a:r>
            <a:endParaRPr lang="en-US" sz="2200" dirty="0"/>
          </a:p>
        </p:txBody>
      </p:sp>
      <p:sp>
        <p:nvSpPr>
          <p:cNvPr id="5" name="Shape 3"/>
          <p:cNvSpPr/>
          <p:nvPr/>
        </p:nvSpPr>
        <p:spPr>
          <a:xfrm>
            <a:off x="457200" y="1444752"/>
            <a:ext cx="8229600" cy="658368"/>
          </a:xfrm>
          <a:prstGeom prst="rect">
            <a:avLst/>
          </a:prstGeom>
          <a:solidFill>
            <a:srgbClr val="1C2D5E"/>
          </a:solidFill>
          <a:ln w="10160">
            <a:solidFill>
              <a:srgbClr val="334155"/>
            </a:solidFill>
            <a:prstDash val="solid"/>
          </a:ln>
        </p:spPr>
        <p:txBody>
          <a:bodyPr/>
          <a:lstStyle/>
          <a:p>
            <a:endParaRPr lang="en-US"/>
          </a:p>
        </p:txBody>
      </p:sp>
      <p:sp>
        <p:nvSpPr>
          <p:cNvPr id="6" name="Text 4"/>
          <p:cNvSpPr/>
          <p:nvPr/>
        </p:nvSpPr>
        <p:spPr>
          <a:xfrm>
            <a:off x="548640" y="1444752"/>
            <a:ext cx="502920" cy="658368"/>
          </a:xfrm>
          <a:prstGeom prst="rect">
            <a:avLst/>
          </a:prstGeom>
          <a:noFill/>
          <a:ln/>
        </p:spPr>
        <p:txBody>
          <a:bodyPr wrap="square" lIns="0" tIns="0" rIns="0" bIns="0" rtlCol="0" anchor="ctr"/>
          <a:lstStyle/>
          <a:p>
            <a:pPr marL="0" indent="0" algn="ctr">
              <a:buNone/>
            </a:pPr>
            <a:r>
              <a:rPr lang="en-US" sz="1700" b="1" dirty="0">
                <a:solidFill>
                  <a:srgbClr val="C4B5FD"/>
                </a:solidFill>
                <a:latin typeface="Calibri" pitchFamily="34" charset="0"/>
                <a:ea typeface="Calibri" pitchFamily="34" charset="-122"/>
                <a:cs typeface="Calibri" pitchFamily="34" charset="-120"/>
              </a:rPr>
              <a:t>A</a:t>
            </a:r>
            <a:endParaRPr lang="en-US" sz="1700" dirty="0"/>
          </a:p>
        </p:txBody>
      </p:sp>
      <p:sp>
        <p:nvSpPr>
          <p:cNvPr id="7" name="Text 5"/>
          <p:cNvSpPr/>
          <p:nvPr/>
        </p:nvSpPr>
        <p:spPr>
          <a:xfrm>
            <a:off x="1115568" y="1536192"/>
            <a:ext cx="7479792"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shortest possible paths — even if they share the same fiber links — because shorter paths mean higher transmittance</a:t>
            </a:r>
            <a:endParaRPr lang="en-US" sz="1300" dirty="0"/>
          </a:p>
        </p:txBody>
      </p:sp>
      <p:sp>
        <p:nvSpPr>
          <p:cNvPr id="8" name="Shape 6"/>
          <p:cNvSpPr/>
          <p:nvPr/>
        </p:nvSpPr>
        <p:spPr>
          <a:xfrm>
            <a:off x="457200" y="2249424"/>
            <a:ext cx="8229600" cy="658368"/>
          </a:xfrm>
          <a:prstGeom prst="rect">
            <a:avLst/>
          </a:prstGeom>
          <a:solidFill>
            <a:srgbClr val="1C2D5E"/>
          </a:solidFill>
          <a:ln w="10160">
            <a:solidFill>
              <a:srgbClr val="334155"/>
            </a:solidFill>
            <a:prstDash val="solid"/>
          </a:ln>
        </p:spPr>
        <p:txBody>
          <a:bodyPr/>
          <a:lstStyle/>
          <a:p>
            <a:endParaRPr lang="en-US"/>
          </a:p>
        </p:txBody>
      </p:sp>
      <p:sp>
        <p:nvSpPr>
          <p:cNvPr id="9" name="Text 7"/>
          <p:cNvSpPr/>
          <p:nvPr/>
        </p:nvSpPr>
        <p:spPr>
          <a:xfrm>
            <a:off x="548640" y="2249424"/>
            <a:ext cx="502920" cy="658368"/>
          </a:xfrm>
          <a:prstGeom prst="rect">
            <a:avLst/>
          </a:prstGeom>
          <a:noFill/>
          <a:ln/>
        </p:spPr>
        <p:txBody>
          <a:bodyPr wrap="square" lIns="0" tIns="0" rIns="0" bIns="0" rtlCol="0" anchor="ctr"/>
          <a:lstStyle/>
          <a:p>
            <a:pPr marL="0" indent="0" algn="ctr">
              <a:buNone/>
            </a:pPr>
            <a:r>
              <a:rPr lang="en-US" sz="1700" b="1" dirty="0">
                <a:solidFill>
                  <a:srgbClr val="C4B5FD"/>
                </a:solidFill>
                <a:latin typeface="Calibri" pitchFamily="34" charset="0"/>
                <a:ea typeface="Calibri" pitchFamily="34" charset="-122"/>
                <a:cs typeface="Calibri" pitchFamily="34" charset="-120"/>
              </a:rPr>
              <a:t>B</a:t>
            </a:r>
            <a:endParaRPr lang="en-US" sz="1700" dirty="0"/>
          </a:p>
        </p:txBody>
      </p:sp>
      <p:sp>
        <p:nvSpPr>
          <p:cNvPr id="10" name="Text 8"/>
          <p:cNvSpPr/>
          <p:nvPr/>
        </p:nvSpPr>
        <p:spPr>
          <a:xfrm>
            <a:off x="1115568" y="2340864"/>
            <a:ext cx="7479792"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Edge-disjoint paths that share no fiber links, and must use the same spectrum channel</a:t>
            </a:r>
            <a:endParaRPr lang="en-US" sz="1300" dirty="0"/>
          </a:p>
        </p:txBody>
      </p:sp>
      <p:sp>
        <p:nvSpPr>
          <p:cNvPr id="11" name="Shape 9"/>
          <p:cNvSpPr/>
          <p:nvPr/>
        </p:nvSpPr>
        <p:spPr>
          <a:xfrm>
            <a:off x="457200" y="3054096"/>
            <a:ext cx="8229600" cy="658368"/>
          </a:xfrm>
          <a:prstGeom prst="rect">
            <a:avLst/>
          </a:prstGeom>
          <a:solidFill>
            <a:srgbClr val="1C2D5E"/>
          </a:solidFill>
          <a:ln w="10160">
            <a:solidFill>
              <a:srgbClr val="334155"/>
            </a:solidFill>
            <a:prstDash val="solid"/>
          </a:ln>
        </p:spPr>
        <p:txBody>
          <a:bodyPr/>
          <a:lstStyle/>
          <a:p>
            <a:endParaRPr lang="en-US"/>
          </a:p>
        </p:txBody>
      </p:sp>
      <p:sp>
        <p:nvSpPr>
          <p:cNvPr id="12" name="Text 10"/>
          <p:cNvSpPr/>
          <p:nvPr/>
        </p:nvSpPr>
        <p:spPr>
          <a:xfrm>
            <a:off x="548640" y="3054096"/>
            <a:ext cx="502920" cy="658368"/>
          </a:xfrm>
          <a:prstGeom prst="rect">
            <a:avLst/>
          </a:prstGeom>
          <a:noFill/>
          <a:ln/>
        </p:spPr>
        <p:txBody>
          <a:bodyPr wrap="square" lIns="0" tIns="0" rIns="0" bIns="0" rtlCol="0" anchor="ctr"/>
          <a:lstStyle/>
          <a:p>
            <a:pPr marL="0" indent="0" algn="ctr">
              <a:buNone/>
            </a:pPr>
            <a:r>
              <a:rPr lang="en-US" sz="1700" b="1" dirty="0">
                <a:solidFill>
                  <a:srgbClr val="C4B5FD"/>
                </a:solidFill>
                <a:latin typeface="Calibri" pitchFamily="34" charset="0"/>
                <a:ea typeface="Calibri" pitchFamily="34" charset="-122"/>
                <a:cs typeface="Calibri" pitchFamily="34" charset="-120"/>
              </a:rPr>
              <a:t>C</a:t>
            </a:r>
            <a:endParaRPr lang="en-US" sz="1700" dirty="0"/>
          </a:p>
        </p:txBody>
      </p:sp>
      <p:sp>
        <p:nvSpPr>
          <p:cNvPr id="13" name="Text 11"/>
          <p:cNvSpPr/>
          <p:nvPr/>
        </p:nvSpPr>
        <p:spPr>
          <a:xfrm>
            <a:off x="1115568" y="3145536"/>
            <a:ext cx="7479792"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Edge-disjoint paths that share no fiber links, each on a different spectrum channel to avoid interference</a:t>
            </a:r>
            <a:endParaRPr lang="en-US" sz="1300" dirty="0"/>
          </a:p>
        </p:txBody>
      </p:sp>
      <p:sp>
        <p:nvSpPr>
          <p:cNvPr id="14" name="Shape 12"/>
          <p:cNvSpPr/>
          <p:nvPr/>
        </p:nvSpPr>
        <p:spPr>
          <a:xfrm>
            <a:off x="457200" y="3858768"/>
            <a:ext cx="8229600" cy="658368"/>
          </a:xfrm>
          <a:prstGeom prst="rect">
            <a:avLst/>
          </a:prstGeom>
          <a:solidFill>
            <a:srgbClr val="1C2D5E"/>
          </a:solidFill>
          <a:ln w="10160">
            <a:solidFill>
              <a:srgbClr val="334155"/>
            </a:solidFill>
            <a:prstDash val="solid"/>
          </a:ln>
        </p:spPr>
        <p:txBody>
          <a:bodyPr/>
          <a:lstStyle/>
          <a:p>
            <a:endParaRPr lang="en-US"/>
          </a:p>
        </p:txBody>
      </p:sp>
      <p:sp>
        <p:nvSpPr>
          <p:cNvPr id="15" name="Text 13"/>
          <p:cNvSpPr/>
          <p:nvPr/>
        </p:nvSpPr>
        <p:spPr>
          <a:xfrm>
            <a:off x="548640" y="3858768"/>
            <a:ext cx="502920" cy="658368"/>
          </a:xfrm>
          <a:prstGeom prst="rect">
            <a:avLst/>
          </a:prstGeom>
          <a:noFill/>
          <a:ln/>
        </p:spPr>
        <p:txBody>
          <a:bodyPr wrap="square" lIns="0" tIns="0" rIns="0" bIns="0" rtlCol="0" anchor="ctr"/>
          <a:lstStyle/>
          <a:p>
            <a:pPr marL="0" indent="0" algn="ctr">
              <a:buNone/>
            </a:pPr>
            <a:r>
              <a:rPr lang="en-US" sz="1700" b="1" dirty="0">
                <a:solidFill>
                  <a:srgbClr val="C4B5FD"/>
                </a:solidFill>
                <a:latin typeface="Calibri" pitchFamily="34" charset="0"/>
                <a:ea typeface="Calibri" pitchFamily="34" charset="-122"/>
                <a:cs typeface="Calibri" pitchFamily="34" charset="-120"/>
              </a:rPr>
              <a:t>D</a:t>
            </a:r>
            <a:endParaRPr lang="en-US" sz="1700" dirty="0"/>
          </a:p>
        </p:txBody>
      </p:sp>
      <p:sp>
        <p:nvSpPr>
          <p:cNvPr id="16" name="Text 14"/>
          <p:cNvSpPr/>
          <p:nvPr/>
        </p:nvSpPr>
        <p:spPr>
          <a:xfrm>
            <a:off x="1115568" y="3950208"/>
            <a:ext cx="7479792"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Any two paths of equal length — channel assignment does not matter as long as no path exceeds 100 km</a:t>
            </a:r>
            <a:endParaRPr lang="en-US" sz="1300" dirty="0"/>
          </a:p>
        </p:txBody>
      </p:sp>
      <p:sp>
        <p:nvSpPr>
          <p:cNvPr id="17" name="Text 15"/>
          <p:cNvSpPr/>
          <p:nvPr/>
        </p:nvSpPr>
        <p:spPr>
          <a:xfrm>
            <a:off x="457200" y="4681728"/>
            <a:ext cx="8229600" cy="329184"/>
          </a:xfrm>
          <a:prstGeom prst="rect">
            <a:avLst/>
          </a:prstGeom>
          <a:noFill/>
          <a:ln/>
        </p:spPr>
        <p:txBody>
          <a:bodyPr wrap="square" rtlCol="0" anchor="ctr"/>
          <a:lstStyle/>
          <a:p>
            <a:pPr marL="0" indent="0">
              <a:buNone/>
            </a:pPr>
            <a:r>
              <a:rPr lang="en-US" sz="1300" i="1" dirty="0">
                <a:solidFill>
                  <a:srgbClr val="7C3AED"/>
                </a:solidFill>
                <a:latin typeface="Calibri" pitchFamily="34" charset="0"/>
                <a:ea typeface="Calibri" pitchFamily="34" charset="-122"/>
                <a:cs typeface="Calibri" pitchFamily="34" charset="-120"/>
              </a:rPr>
              <a:t>💬  Recall: both photons are matched — they must arrive as a correlated pair at the receivers.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7C3AED"/>
          </a:solidFill>
          <a:ln/>
        </p:spPr>
        <p:txBody>
          <a:bodyPr/>
          <a:lstStyle/>
          <a:p>
            <a:endParaRPr lang="en-US"/>
          </a:p>
        </p:txBody>
      </p:sp>
      <p:sp>
        <p:nvSpPr>
          <p:cNvPr id="3" name="Text 1"/>
          <p:cNvSpPr/>
          <p:nvPr/>
        </p:nvSpPr>
        <p:spPr>
          <a:xfrm>
            <a:off x="320040" y="0"/>
            <a:ext cx="8503920" cy="502920"/>
          </a:xfrm>
          <a:prstGeom prst="rect">
            <a:avLst/>
          </a:prstGeom>
          <a:noFill/>
          <a:ln/>
        </p:spPr>
        <p:txBody>
          <a:bodyPr wrap="square" lIns="0" tIns="0" rIns="0" bIns="0" rtlCol="0" anchor="ctr"/>
          <a:lstStyle/>
          <a:p>
            <a:r>
              <a:rPr lang="en-US" sz="1500" b="1" dirty="0">
                <a:solidFill>
                  <a:srgbClr val="FFFFFF"/>
                </a:solidFill>
                <a:latin typeface="Calibri" pitchFamily="34" charset="0"/>
                <a:ea typeface="Calibri" pitchFamily="34" charset="-122"/>
                <a:cs typeface="Calibri" pitchFamily="34" charset="-120"/>
              </a:rPr>
              <a:t>Activity 4 - Answer</a:t>
            </a:r>
            <a:endParaRPr lang="en-US" sz="1500" dirty="0"/>
          </a:p>
        </p:txBody>
      </p:sp>
      <p:sp>
        <p:nvSpPr>
          <p:cNvPr id="4" name="Text 2"/>
          <p:cNvSpPr/>
          <p:nvPr/>
        </p:nvSpPr>
        <p:spPr>
          <a:xfrm>
            <a:off x="457200" y="658368"/>
            <a:ext cx="8229600" cy="658368"/>
          </a:xfrm>
          <a:prstGeom prst="rect">
            <a:avLst/>
          </a:prstGeom>
          <a:noFill/>
          <a:ln/>
        </p:spPr>
        <p:txBody>
          <a:bodyPr wrap="square" rtlCol="0" anchor="ctr"/>
          <a:lstStyle/>
          <a:p>
            <a:pPr marL="0" indent="0">
              <a:buNone/>
            </a:pPr>
            <a:r>
              <a:rPr lang="en-US" sz="2200" b="1" dirty="0">
                <a:solidFill>
                  <a:srgbClr val="1C2D5E"/>
                </a:solidFill>
                <a:latin typeface="Calibri" pitchFamily="34" charset="0"/>
                <a:ea typeface="Calibri" pitchFamily="34" charset="-122"/>
                <a:cs typeface="Calibri" pitchFamily="34" charset="-120"/>
              </a:rPr>
              <a:t>To distribute an EPR pair from source S to consumer nodes A and B, the two photons must travel along paths that are:</a:t>
            </a:r>
            <a:endParaRPr lang="en-US" sz="2200" dirty="0"/>
          </a:p>
        </p:txBody>
      </p:sp>
      <p:sp>
        <p:nvSpPr>
          <p:cNvPr id="5" name="Shape 3"/>
          <p:cNvSpPr/>
          <p:nvPr/>
        </p:nvSpPr>
        <p:spPr>
          <a:xfrm>
            <a:off x="457200" y="1444752"/>
            <a:ext cx="8229600" cy="658368"/>
          </a:xfrm>
          <a:prstGeom prst="rect">
            <a:avLst/>
          </a:prstGeom>
          <a:solidFill>
            <a:srgbClr val="450A0A"/>
          </a:solidFill>
          <a:ln w="25400">
            <a:solidFill>
              <a:srgbClr val="FCA5A5"/>
            </a:solidFill>
            <a:prstDash val="solid"/>
          </a:ln>
        </p:spPr>
        <p:txBody>
          <a:bodyPr/>
          <a:lstStyle/>
          <a:p>
            <a:endParaRPr lang="en-US"/>
          </a:p>
        </p:txBody>
      </p:sp>
      <p:sp>
        <p:nvSpPr>
          <p:cNvPr id="6" name="Text 4"/>
          <p:cNvSpPr/>
          <p:nvPr/>
        </p:nvSpPr>
        <p:spPr>
          <a:xfrm>
            <a:off x="548640" y="1444752"/>
            <a:ext cx="502920" cy="658368"/>
          </a:xfrm>
          <a:prstGeom prst="rect">
            <a:avLst/>
          </a:prstGeom>
          <a:noFill/>
          <a:ln/>
        </p:spPr>
        <p:txBody>
          <a:bodyPr wrap="square" lIns="0" tIns="0" rIns="0" bIns="0" rtlCol="0" anchor="ctr"/>
          <a:lstStyle/>
          <a:p>
            <a:pPr marL="0" indent="0" algn="ctr">
              <a:buNone/>
            </a:pPr>
            <a:r>
              <a:rPr lang="en-US" sz="1700" b="1" dirty="0">
                <a:solidFill>
                  <a:srgbClr val="FCA5A5"/>
                </a:solidFill>
                <a:latin typeface="Calibri" pitchFamily="34" charset="0"/>
                <a:ea typeface="Calibri" pitchFamily="34" charset="-122"/>
                <a:cs typeface="Calibri" pitchFamily="34" charset="-120"/>
              </a:rPr>
              <a:t>A</a:t>
            </a:r>
            <a:endParaRPr lang="en-US" sz="1700" dirty="0"/>
          </a:p>
        </p:txBody>
      </p:sp>
      <p:sp>
        <p:nvSpPr>
          <p:cNvPr id="7" name="Text 5"/>
          <p:cNvSpPr/>
          <p:nvPr/>
        </p:nvSpPr>
        <p:spPr>
          <a:xfrm>
            <a:off x="1115568" y="1536192"/>
            <a:ext cx="7479792"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shortest possible paths — even if they share the same fiber links — because shorter paths mean higher transmittance</a:t>
            </a:r>
            <a:endParaRPr lang="en-US" sz="1300" dirty="0"/>
          </a:p>
        </p:txBody>
      </p:sp>
      <p:sp>
        <p:nvSpPr>
          <p:cNvPr id="8" name="Shape 6"/>
          <p:cNvSpPr/>
          <p:nvPr/>
        </p:nvSpPr>
        <p:spPr>
          <a:xfrm>
            <a:off x="457200" y="2249424"/>
            <a:ext cx="8229600" cy="658368"/>
          </a:xfrm>
          <a:prstGeom prst="rect">
            <a:avLst/>
          </a:prstGeom>
          <a:solidFill>
            <a:srgbClr val="064E3B"/>
          </a:solidFill>
          <a:ln w="25400">
            <a:solidFill>
              <a:srgbClr val="6EE7B7"/>
            </a:solidFill>
            <a:prstDash val="solid"/>
          </a:ln>
        </p:spPr>
        <p:txBody>
          <a:bodyPr/>
          <a:lstStyle/>
          <a:p>
            <a:endParaRPr lang="en-US"/>
          </a:p>
        </p:txBody>
      </p:sp>
      <p:sp>
        <p:nvSpPr>
          <p:cNvPr id="9" name="Text 7"/>
          <p:cNvSpPr/>
          <p:nvPr/>
        </p:nvSpPr>
        <p:spPr>
          <a:xfrm>
            <a:off x="548640" y="2249424"/>
            <a:ext cx="502920" cy="658368"/>
          </a:xfrm>
          <a:prstGeom prst="rect">
            <a:avLst/>
          </a:prstGeom>
          <a:noFill/>
          <a:ln/>
        </p:spPr>
        <p:txBody>
          <a:bodyPr wrap="square" lIns="0" tIns="0" rIns="0" bIns="0" rtlCol="0" anchor="ctr"/>
          <a:lstStyle/>
          <a:p>
            <a:pPr marL="0" indent="0" algn="ctr">
              <a:buNone/>
            </a:pPr>
            <a:r>
              <a:rPr lang="en-US" sz="1700" b="1" dirty="0">
                <a:solidFill>
                  <a:srgbClr val="6EE7B7"/>
                </a:solidFill>
                <a:latin typeface="Calibri" pitchFamily="34" charset="0"/>
                <a:ea typeface="Calibri" pitchFamily="34" charset="-122"/>
                <a:cs typeface="Calibri" pitchFamily="34" charset="-120"/>
              </a:rPr>
              <a:t>B</a:t>
            </a:r>
            <a:endParaRPr lang="en-US" sz="1700" dirty="0"/>
          </a:p>
        </p:txBody>
      </p:sp>
      <p:sp>
        <p:nvSpPr>
          <p:cNvPr id="10" name="Text 8"/>
          <p:cNvSpPr/>
          <p:nvPr/>
        </p:nvSpPr>
        <p:spPr>
          <a:xfrm>
            <a:off x="1115568" y="2340864"/>
            <a:ext cx="7479792"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Edge-disjoint paths that share no fiber links, and must use the same spectrum channel</a:t>
            </a:r>
            <a:endParaRPr lang="en-US" sz="1300" dirty="0"/>
          </a:p>
        </p:txBody>
      </p:sp>
      <p:sp>
        <p:nvSpPr>
          <p:cNvPr id="11" name="Shape 9"/>
          <p:cNvSpPr/>
          <p:nvPr/>
        </p:nvSpPr>
        <p:spPr>
          <a:xfrm>
            <a:off x="457200" y="3054096"/>
            <a:ext cx="8229600" cy="658368"/>
          </a:xfrm>
          <a:prstGeom prst="rect">
            <a:avLst/>
          </a:prstGeom>
          <a:solidFill>
            <a:srgbClr val="450A0A"/>
          </a:solidFill>
          <a:ln w="25400">
            <a:solidFill>
              <a:srgbClr val="FCA5A5"/>
            </a:solidFill>
            <a:prstDash val="solid"/>
          </a:ln>
        </p:spPr>
        <p:txBody>
          <a:bodyPr/>
          <a:lstStyle/>
          <a:p>
            <a:endParaRPr lang="en-US"/>
          </a:p>
        </p:txBody>
      </p:sp>
      <p:sp>
        <p:nvSpPr>
          <p:cNvPr id="12" name="Text 10"/>
          <p:cNvSpPr/>
          <p:nvPr/>
        </p:nvSpPr>
        <p:spPr>
          <a:xfrm>
            <a:off x="548640" y="3054096"/>
            <a:ext cx="502920" cy="658368"/>
          </a:xfrm>
          <a:prstGeom prst="rect">
            <a:avLst/>
          </a:prstGeom>
          <a:noFill/>
          <a:ln/>
        </p:spPr>
        <p:txBody>
          <a:bodyPr wrap="square" lIns="0" tIns="0" rIns="0" bIns="0" rtlCol="0" anchor="ctr"/>
          <a:lstStyle/>
          <a:p>
            <a:pPr marL="0" indent="0" algn="ctr">
              <a:buNone/>
            </a:pPr>
            <a:r>
              <a:rPr lang="en-US" sz="1700" b="1" dirty="0">
                <a:solidFill>
                  <a:srgbClr val="FCA5A5"/>
                </a:solidFill>
                <a:latin typeface="Calibri" pitchFamily="34" charset="0"/>
                <a:ea typeface="Calibri" pitchFamily="34" charset="-122"/>
                <a:cs typeface="Calibri" pitchFamily="34" charset="-120"/>
              </a:rPr>
              <a:t>C</a:t>
            </a:r>
            <a:endParaRPr lang="en-US" sz="1700" dirty="0"/>
          </a:p>
        </p:txBody>
      </p:sp>
      <p:sp>
        <p:nvSpPr>
          <p:cNvPr id="13" name="Text 11"/>
          <p:cNvSpPr/>
          <p:nvPr/>
        </p:nvSpPr>
        <p:spPr>
          <a:xfrm>
            <a:off x="1115568" y="3145536"/>
            <a:ext cx="7479792"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Edge-disjoint paths that share no fiber links, each on a different spectrum channel to avoid interference</a:t>
            </a:r>
            <a:endParaRPr lang="en-US" sz="1300" dirty="0"/>
          </a:p>
        </p:txBody>
      </p:sp>
      <p:sp>
        <p:nvSpPr>
          <p:cNvPr id="14" name="Shape 12"/>
          <p:cNvSpPr/>
          <p:nvPr/>
        </p:nvSpPr>
        <p:spPr>
          <a:xfrm>
            <a:off x="457200" y="3858768"/>
            <a:ext cx="8229600" cy="658368"/>
          </a:xfrm>
          <a:prstGeom prst="rect">
            <a:avLst/>
          </a:prstGeom>
          <a:solidFill>
            <a:srgbClr val="450A0A"/>
          </a:solidFill>
          <a:ln w="25400">
            <a:solidFill>
              <a:srgbClr val="FCA5A5"/>
            </a:solidFill>
            <a:prstDash val="solid"/>
          </a:ln>
        </p:spPr>
        <p:txBody>
          <a:bodyPr/>
          <a:lstStyle/>
          <a:p>
            <a:endParaRPr lang="en-US"/>
          </a:p>
        </p:txBody>
      </p:sp>
      <p:sp>
        <p:nvSpPr>
          <p:cNvPr id="15" name="Text 13"/>
          <p:cNvSpPr/>
          <p:nvPr/>
        </p:nvSpPr>
        <p:spPr>
          <a:xfrm>
            <a:off x="548640" y="3858768"/>
            <a:ext cx="502920" cy="658368"/>
          </a:xfrm>
          <a:prstGeom prst="rect">
            <a:avLst/>
          </a:prstGeom>
          <a:noFill/>
          <a:ln/>
        </p:spPr>
        <p:txBody>
          <a:bodyPr wrap="square" lIns="0" tIns="0" rIns="0" bIns="0" rtlCol="0" anchor="ctr"/>
          <a:lstStyle/>
          <a:p>
            <a:pPr marL="0" indent="0" algn="ctr">
              <a:buNone/>
            </a:pPr>
            <a:r>
              <a:rPr lang="en-US" sz="1700" b="1" dirty="0">
                <a:solidFill>
                  <a:srgbClr val="FCA5A5"/>
                </a:solidFill>
                <a:latin typeface="Calibri" pitchFamily="34" charset="0"/>
                <a:ea typeface="Calibri" pitchFamily="34" charset="-122"/>
                <a:cs typeface="Calibri" pitchFamily="34" charset="-120"/>
              </a:rPr>
              <a:t>D</a:t>
            </a:r>
            <a:endParaRPr lang="en-US" sz="1700" dirty="0"/>
          </a:p>
        </p:txBody>
      </p:sp>
      <p:sp>
        <p:nvSpPr>
          <p:cNvPr id="16" name="Text 14"/>
          <p:cNvSpPr/>
          <p:nvPr/>
        </p:nvSpPr>
        <p:spPr>
          <a:xfrm>
            <a:off x="1115568" y="3950208"/>
            <a:ext cx="7479792" cy="47548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Any two paths of equal length — channel assignment does not matter as long as no path exceeds 100 km</a:t>
            </a:r>
            <a:endParaRPr lang="en-US" sz="1300" dirty="0"/>
          </a:p>
        </p:txBody>
      </p:sp>
      <p:sp>
        <p:nvSpPr>
          <p:cNvPr id="17" name="Shape 15"/>
          <p:cNvSpPr/>
          <p:nvPr/>
        </p:nvSpPr>
        <p:spPr>
          <a:xfrm>
            <a:off x="457200" y="4572000"/>
            <a:ext cx="8229600" cy="475488"/>
          </a:xfrm>
          <a:prstGeom prst="rect">
            <a:avLst/>
          </a:prstGeom>
          <a:solidFill>
            <a:srgbClr val="064E3B"/>
          </a:solidFill>
          <a:ln w="19050">
            <a:solidFill>
              <a:srgbClr val="6EE7B7"/>
            </a:solidFill>
            <a:prstDash val="solid"/>
          </a:ln>
        </p:spPr>
        <p:txBody>
          <a:bodyPr/>
          <a:lstStyle/>
          <a:p>
            <a:endParaRPr lang="en-US"/>
          </a:p>
        </p:txBody>
      </p:sp>
      <p:sp>
        <p:nvSpPr>
          <p:cNvPr id="18" name="Text 16"/>
          <p:cNvSpPr/>
          <p:nvPr/>
        </p:nvSpPr>
        <p:spPr>
          <a:xfrm>
            <a:off x="640080" y="4572000"/>
            <a:ext cx="7863840" cy="475488"/>
          </a:xfrm>
          <a:prstGeom prst="rect">
            <a:avLst/>
          </a:prstGeom>
          <a:noFill/>
          <a:ln/>
        </p:spPr>
        <p:txBody>
          <a:bodyPr wrap="square" lIns="0" tIns="0" rIns="0" bIns="0" rtlCol="0" anchor="ctr"/>
          <a:lstStyle/>
          <a:p>
            <a:pPr marL="0" indent="0">
              <a:buNone/>
            </a:pPr>
            <a:r>
              <a:rPr lang="en-US" sz="1100" b="1" dirty="0">
                <a:solidFill>
                  <a:srgbClr val="6EE7B7"/>
                </a:solidFill>
                <a:latin typeface="Calibri" pitchFamily="34" charset="0"/>
                <a:ea typeface="Calibri" pitchFamily="34" charset="-122"/>
                <a:cs typeface="Calibri" pitchFamily="34" charset="-120"/>
              </a:rPr>
              <a:t>✓  B — The two paths must be edge-disjoint (no shared fiber, so one failure doesn't lose both photons) AND share the same spectrum channel (so receivers can identify them as a matched pair). C is wrong: different channels mean the photons cannot be correlated. A ignores disjointness. D ignores channel assignment.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7C3AED"/>
        </a:solidFill>
        <a:effectLst/>
      </p:bgPr>
    </p:bg>
    <p:spTree>
      <p:nvGrpSpPr>
        <p:cNvPr id="1" name=""/>
        <p:cNvGrpSpPr/>
        <p:nvPr/>
      </p:nvGrpSpPr>
      <p:grpSpPr>
        <a:xfrm>
          <a:off x="0" y="0"/>
          <a:ext cx="0" cy="0"/>
          <a:chOff x="0" y="0"/>
          <a:chExt cx="0" cy="0"/>
        </a:xfrm>
      </p:grpSpPr>
      <p:sp>
        <p:nvSpPr>
          <p:cNvPr id="2" name="Text 0"/>
          <p:cNvSpPr/>
          <p:nvPr/>
        </p:nvSpPr>
        <p:spPr>
          <a:xfrm>
            <a:off x="640080" y="1554480"/>
            <a:ext cx="7863840" cy="1097280"/>
          </a:xfrm>
          <a:prstGeom prst="rect">
            <a:avLst/>
          </a:prstGeom>
          <a:noFill/>
          <a:ln/>
        </p:spPr>
        <p:txBody>
          <a:bodyPr wrap="square"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Part 3: Quantum Network Architecture</a:t>
            </a:r>
            <a:endParaRPr lang="en-US" sz="4200" dirty="0"/>
          </a:p>
        </p:txBody>
      </p:sp>
      <p:sp>
        <p:nvSpPr>
          <p:cNvPr id="3" name="Text 1"/>
          <p:cNvSpPr/>
          <p:nvPr/>
        </p:nvSpPr>
        <p:spPr>
          <a:xfrm>
            <a:off x="640080" y="2743200"/>
            <a:ext cx="7863840" cy="640080"/>
          </a:xfrm>
          <a:prstGeom prst="rect">
            <a:avLst/>
          </a:prstGeom>
          <a:noFill/>
          <a:ln/>
        </p:spPr>
        <p:txBody>
          <a:bodyPr wrap="square" rtlCol="0" anchor="ctr"/>
          <a:lstStyle/>
          <a:p>
            <a:pPr marL="0" indent="0" algn="l">
              <a:buNone/>
            </a:pPr>
            <a:r>
              <a:rPr lang="en-US" sz="1900" dirty="0">
                <a:solidFill>
                  <a:srgbClr val="DBEAFE"/>
                </a:solidFill>
                <a:latin typeface="Calibri" pitchFamily="34" charset="0"/>
                <a:ea typeface="Calibri" pitchFamily="34" charset="-122"/>
                <a:cs typeface="Calibri" pitchFamily="34" charset="-120"/>
              </a:rPr>
              <a:t>Components, topology, and current deployment landscape</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3000" b="1" dirty="0">
                <a:solidFill>
                  <a:srgbClr val="7C3AED"/>
                </a:solidFill>
                <a:latin typeface="Calibri" pitchFamily="34" charset="0"/>
                <a:ea typeface="Calibri" pitchFamily="34" charset="-122"/>
                <a:cs typeface="Calibri" pitchFamily="34" charset="-120"/>
              </a:rPr>
              <a:t>Building Blocks of a Quantum Network</a:t>
            </a:r>
            <a:endParaRPr lang="en-US" sz="3000" dirty="0"/>
          </a:p>
        </p:txBody>
      </p:sp>
      <p:sp>
        <p:nvSpPr>
          <p:cNvPr id="3" name="Shape 1"/>
          <p:cNvSpPr/>
          <p:nvPr/>
        </p:nvSpPr>
        <p:spPr>
          <a:xfrm>
            <a:off x="457200" y="841248"/>
            <a:ext cx="8229600" cy="27432"/>
          </a:xfrm>
          <a:prstGeom prst="rect">
            <a:avLst/>
          </a:prstGeom>
          <a:solidFill>
            <a:srgbClr val="7C3AED"/>
          </a:solidFill>
          <a:ln/>
        </p:spPr>
        <p:txBody>
          <a:bodyPr/>
          <a:lstStyle/>
          <a:p>
            <a:endParaRPr lang="en-US"/>
          </a:p>
        </p:txBody>
      </p:sp>
      <p:sp>
        <p:nvSpPr>
          <p:cNvPr id="4" name="Text 2"/>
          <p:cNvSpPr/>
          <p:nvPr/>
        </p:nvSpPr>
        <p:spPr>
          <a:xfrm>
            <a:off x="457200" y="1005840"/>
            <a:ext cx="8229600" cy="420624"/>
          </a:xfrm>
          <a:prstGeom prst="rect">
            <a:avLst/>
          </a:prstGeom>
          <a:noFill/>
          <a:ln/>
        </p:spPr>
        <p:txBody>
          <a:bodyPr wrap="square" rtlCol="0" anchor="ctr"/>
          <a:lstStyle/>
          <a:p>
            <a:pPr marL="0" indent="0">
              <a:buNone/>
            </a:pPr>
            <a:r>
              <a:rPr lang="en-US" sz="1400" dirty="0">
                <a:solidFill>
                  <a:srgbClr val="475569"/>
                </a:solidFill>
                <a:latin typeface="Calibri" pitchFamily="34" charset="0"/>
                <a:ea typeface="Calibri" pitchFamily="34" charset="-122"/>
                <a:cs typeface="Calibri" pitchFamily="34" charset="-120"/>
              </a:rPr>
              <a:t>Quantum networks share classical fiber infrastructure, augmented with quantum-specific components for generating, routing, and detecting entangled photons.</a:t>
            </a:r>
            <a:endParaRPr lang="en-US" sz="1400" dirty="0"/>
          </a:p>
        </p:txBody>
      </p:sp>
      <p:sp>
        <p:nvSpPr>
          <p:cNvPr id="5" name="Shape 3"/>
          <p:cNvSpPr/>
          <p:nvPr/>
        </p:nvSpPr>
        <p:spPr>
          <a:xfrm>
            <a:off x="457200" y="1444752"/>
            <a:ext cx="4964906" cy="658368"/>
          </a:xfrm>
          <a:prstGeom prst="rect">
            <a:avLst/>
          </a:prstGeom>
          <a:solidFill>
            <a:srgbClr val="F1F5F9"/>
          </a:solidFill>
          <a:ln w="6350">
            <a:solidFill>
              <a:srgbClr val="E2E8F0"/>
            </a:solidFill>
            <a:prstDash val="solid"/>
          </a:ln>
        </p:spPr>
        <p:txBody>
          <a:bodyPr/>
          <a:lstStyle/>
          <a:p>
            <a:endParaRPr lang="en-US"/>
          </a:p>
        </p:txBody>
      </p:sp>
      <p:sp>
        <p:nvSpPr>
          <p:cNvPr id="6" name="Shape 4"/>
          <p:cNvSpPr/>
          <p:nvPr/>
        </p:nvSpPr>
        <p:spPr>
          <a:xfrm>
            <a:off x="457200" y="1444752"/>
            <a:ext cx="871538" cy="658368"/>
          </a:xfrm>
          <a:prstGeom prst="rect">
            <a:avLst/>
          </a:prstGeom>
          <a:solidFill>
            <a:srgbClr val="7C3AED"/>
          </a:solidFill>
          <a:ln/>
        </p:spPr>
        <p:txBody>
          <a:bodyPr/>
          <a:lstStyle/>
          <a:p>
            <a:endParaRPr lang="en-US"/>
          </a:p>
        </p:txBody>
      </p:sp>
      <p:sp>
        <p:nvSpPr>
          <p:cNvPr id="7" name="Text 5"/>
          <p:cNvSpPr/>
          <p:nvPr/>
        </p:nvSpPr>
        <p:spPr>
          <a:xfrm>
            <a:off x="457200" y="1444752"/>
            <a:ext cx="871538"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Entanglement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p>
        </p:txBody>
      </p:sp>
      <p:sp>
        <p:nvSpPr>
          <p:cNvPr id="8" name="Text 6"/>
          <p:cNvSpPr/>
          <p:nvPr/>
        </p:nvSpPr>
        <p:spPr>
          <a:xfrm>
            <a:off x="1328738" y="1444752"/>
            <a:ext cx="4093368" cy="658368"/>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A node containing a nonlinear crystal (SPDC). Generates EPR pairs. Sends one photon to each consumer. </a:t>
            </a:r>
            <a:endParaRPr lang="en-US" sz="1200" dirty="0"/>
          </a:p>
        </p:txBody>
      </p:sp>
      <p:sp>
        <p:nvSpPr>
          <p:cNvPr id="9" name="Shape 7"/>
          <p:cNvSpPr/>
          <p:nvPr/>
        </p:nvSpPr>
        <p:spPr>
          <a:xfrm>
            <a:off x="457200" y="2194560"/>
            <a:ext cx="4964906" cy="658368"/>
          </a:xfrm>
          <a:prstGeom prst="rect">
            <a:avLst/>
          </a:prstGeom>
          <a:solidFill>
            <a:srgbClr val="FFFFFF"/>
          </a:solidFill>
          <a:ln w="6350">
            <a:solidFill>
              <a:srgbClr val="E2E8F0"/>
            </a:solidFill>
            <a:prstDash val="solid"/>
          </a:ln>
        </p:spPr>
        <p:txBody>
          <a:bodyPr/>
          <a:lstStyle/>
          <a:p>
            <a:endParaRPr lang="en-US"/>
          </a:p>
        </p:txBody>
      </p:sp>
      <p:sp>
        <p:nvSpPr>
          <p:cNvPr id="10" name="Shape 8"/>
          <p:cNvSpPr/>
          <p:nvPr/>
        </p:nvSpPr>
        <p:spPr>
          <a:xfrm>
            <a:off x="457200" y="2194560"/>
            <a:ext cx="871538" cy="658368"/>
          </a:xfrm>
          <a:prstGeom prst="rect">
            <a:avLst/>
          </a:prstGeom>
          <a:solidFill>
            <a:srgbClr val="7C3AED"/>
          </a:solidFill>
          <a:ln/>
        </p:spPr>
        <p:txBody>
          <a:bodyPr/>
          <a:lstStyle/>
          <a:p>
            <a:endParaRPr lang="en-US"/>
          </a:p>
        </p:txBody>
      </p:sp>
      <p:sp>
        <p:nvSpPr>
          <p:cNvPr id="11" name="Text 9"/>
          <p:cNvSpPr/>
          <p:nvPr/>
        </p:nvSpPr>
        <p:spPr>
          <a:xfrm>
            <a:off x="457200" y="2194560"/>
            <a:ext cx="871538"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Consumer Node</a:t>
            </a:r>
            <a:endParaRPr lang="en-US" sz="1100" dirty="0"/>
          </a:p>
        </p:txBody>
      </p:sp>
      <p:sp>
        <p:nvSpPr>
          <p:cNvPr id="12" name="Text 10"/>
          <p:cNvSpPr/>
          <p:nvPr/>
        </p:nvSpPr>
        <p:spPr>
          <a:xfrm>
            <a:off x="1328738" y="2192273"/>
            <a:ext cx="4093368" cy="658367"/>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Any network node that wishes to share entanglement with another node (for QKD, distributed computing, etc.). Pairs of consumer nodes request EPR distribution.</a:t>
            </a:r>
            <a:endParaRPr lang="en-US" sz="1100" dirty="0"/>
          </a:p>
        </p:txBody>
      </p:sp>
      <p:sp>
        <p:nvSpPr>
          <p:cNvPr id="13" name="Shape 11"/>
          <p:cNvSpPr/>
          <p:nvPr/>
        </p:nvSpPr>
        <p:spPr>
          <a:xfrm>
            <a:off x="457200" y="2944368"/>
            <a:ext cx="4964906" cy="658368"/>
          </a:xfrm>
          <a:prstGeom prst="rect">
            <a:avLst/>
          </a:prstGeom>
          <a:solidFill>
            <a:srgbClr val="F1F5F9"/>
          </a:solidFill>
          <a:ln w="6350">
            <a:solidFill>
              <a:srgbClr val="E2E8F0"/>
            </a:solidFill>
            <a:prstDash val="solid"/>
          </a:ln>
        </p:spPr>
        <p:txBody>
          <a:bodyPr/>
          <a:lstStyle/>
          <a:p>
            <a:endParaRPr lang="en-US"/>
          </a:p>
        </p:txBody>
      </p:sp>
      <p:sp>
        <p:nvSpPr>
          <p:cNvPr id="14" name="Shape 12"/>
          <p:cNvSpPr/>
          <p:nvPr/>
        </p:nvSpPr>
        <p:spPr>
          <a:xfrm>
            <a:off x="457200" y="2944368"/>
            <a:ext cx="871538" cy="658368"/>
          </a:xfrm>
          <a:prstGeom prst="rect">
            <a:avLst/>
          </a:prstGeom>
          <a:solidFill>
            <a:srgbClr val="7C3AED"/>
          </a:solidFill>
          <a:ln/>
        </p:spPr>
        <p:txBody>
          <a:bodyPr/>
          <a:lstStyle/>
          <a:p>
            <a:endParaRPr lang="en-US"/>
          </a:p>
        </p:txBody>
      </p:sp>
      <p:sp>
        <p:nvSpPr>
          <p:cNvPr id="15" name="Text 13"/>
          <p:cNvSpPr/>
          <p:nvPr/>
        </p:nvSpPr>
        <p:spPr>
          <a:xfrm>
            <a:off x="457200" y="2944368"/>
            <a:ext cx="871538" cy="65836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Quantum Channel</a:t>
            </a:r>
            <a:endParaRPr lang="en-US" sz="1100" dirty="0"/>
          </a:p>
        </p:txBody>
      </p:sp>
      <p:sp>
        <p:nvSpPr>
          <p:cNvPr id="16" name="Text 14"/>
          <p:cNvSpPr/>
          <p:nvPr/>
        </p:nvSpPr>
        <p:spPr>
          <a:xfrm>
            <a:off x="1328738" y="2987800"/>
            <a:ext cx="4093368" cy="614936"/>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An optical fiber path carrying a photon. Must be low-loss and low-noise. Can share the fiber with classical WDM channels on different wavelengths.</a:t>
            </a:r>
            <a:endParaRPr lang="en-US" sz="1100" dirty="0"/>
          </a:p>
        </p:txBody>
      </p:sp>
      <p:sp>
        <p:nvSpPr>
          <p:cNvPr id="17" name="Shape 15"/>
          <p:cNvSpPr/>
          <p:nvPr/>
        </p:nvSpPr>
        <p:spPr>
          <a:xfrm>
            <a:off x="457200" y="3694176"/>
            <a:ext cx="8229600" cy="381760"/>
          </a:xfrm>
          <a:prstGeom prst="rect">
            <a:avLst/>
          </a:prstGeom>
          <a:solidFill>
            <a:srgbClr val="FFFFFF"/>
          </a:solidFill>
          <a:ln w="6350">
            <a:solidFill>
              <a:srgbClr val="E2E8F0"/>
            </a:solidFill>
            <a:prstDash val="solid"/>
          </a:ln>
        </p:spPr>
        <p:txBody>
          <a:bodyPr/>
          <a:lstStyle/>
          <a:p>
            <a:endParaRPr lang="en-US"/>
          </a:p>
        </p:txBody>
      </p:sp>
      <p:sp>
        <p:nvSpPr>
          <p:cNvPr id="18" name="Shape 16"/>
          <p:cNvSpPr/>
          <p:nvPr/>
        </p:nvSpPr>
        <p:spPr>
          <a:xfrm>
            <a:off x="457200" y="3694176"/>
            <a:ext cx="1444752" cy="384048"/>
          </a:xfrm>
          <a:prstGeom prst="rect">
            <a:avLst/>
          </a:prstGeom>
          <a:solidFill>
            <a:srgbClr val="7C3AED"/>
          </a:solidFill>
          <a:ln/>
        </p:spPr>
        <p:txBody>
          <a:bodyPr/>
          <a:lstStyle/>
          <a:p>
            <a:endParaRPr lang="en-US"/>
          </a:p>
        </p:txBody>
      </p:sp>
      <p:sp>
        <p:nvSpPr>
          <p:cNvPr id="19" name="Text 17"/>
          <p:cNvSpPr/>
          <p:nvPr/>
        </p:nvSpPr>
        <p:spPr>
          <a:xfrm>
            <a:off x="457200" y="3694176"/>
            <a:ext cx="1444752"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Photon Detector</a:t>
            </a:r>
            <a:endParaRPr lang="en-US" sz="1100" dirty="0"/>
          </a:p>
        </p:txBody>
      </p:sp>
      <p:sp>
        <p:nvSpPr>
          <p:cNvPr id="20" name="Text 18"/>
          <p:cNvSpPr/>
          <p:nvPr/>
        </p:nvSpPr>
        <p:spPr>
          <a:xfrm>
            <a:off x="2039112" y="3691888"/>
            <a:ext cx="6556248" cy="384048"/>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Single-photon avalanche diode (SPAD) or superconducting nanowire (SNSPD) at the consumer. Detects the arriving photon and collapses its state by measurement.</a:t>
            </a:r>
            <a:endParaRPr lang="en-US" sz="1100" dirty="0"/>
          </a:p>
        </p:txBody>
      </p:sp>
      <p:sp>
        <p:nvSpPr>
          <p:cNvPr id="21" name="Shape 19"/>
          <p:cNvSpPr/>
          <p:nvPr/>
        </p:nvSpPr>
        <p:spPr>
          <a:xfrm>
            <a:off x="457200" y="4137660"/>
            <a:ext cx="8229600" cy="381760"/>
          </a:xfrm>
          <a:prstGeom prst="rect">
            <a:avLst/>
          </a:prstGeom>
          <a:solidFill>
            <a:srgbClr val="F1F5F9"/>
          </a:solidFill>
          <a:ln w="6350">
            <a:solidFill>
              <a:srgbClr val="E2E8F0"/>
            </a:solidFill>
            <a:prstDash val="solid"/>
          </a:ln>
        </p:spPr>
        <p:txBody>
          <a:bodyPr/>
          <a:lstStyle/>
          <a:p>
            <a:endParaRPr lang="en-US"/>
          </a:p>
        </p:txBody>
      </p:sp>
      <p:sp>
        <p:nvSpPr>
          <p:cNvPr id="22" name="Shape 20"/>
          <p:cNvSpPr/>
          <p:nvPr/>
        </p:nvSpPr>
        <p:spPr>
          <a:xfrm>
            <a:off x="457200" y="4137660"/>
            <a:ext cx="1444752" cy="384048"/>
          </a:xfrm>
          <a:prstGeom prst="rect">
            <a:avLst/>
          </a:prstGeom>
          <a:solidFill>
            <a:srgbClr val="7C3AED"/>
          </a:solidFill>
          <a:ln/>
        </p:spPr>
        <p:txBody>
          <a:bodyPr/>
          <a:lstStyle/>
          <a:p>
            <a:endParaRPr lang="en-US"/>
          </a:p>
        </p:txBody>
      </p:sp>
      <p:sp>
        <p:nvSpPr>
          <p:cNvPr id="23" name="Text 21"/>
          <p:cNvSpPr/>
          <p:nvPr/>
        </p:nvSpPr>
        <p:spPr>
          <a:xfrm>
            <a:off x="457200" y="4137660"/>
            <a:ext cx="1444752"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Classical Channel</a:t>
            </a:r>
            <a:endParaRPr lang="en-US" sz="1100" dirty="0"/>
          </a:p>
        </p:txBody>
      </p:sp>
      <p:sp>
        <p:nvSpPr>
          <p:cNvPr id="24" name="Text 22"/>
          <p:cNvSpPr/>
          <p:nvPr/>
        </p:nvSpPr>
        <p:spPr>
          <a:xfrm>
            <a:off x="2039112" y="4135372"/>
            <a:ext cx="6556248" cy="384048"/>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A separate classical fiber path used to coordinate: communicate which photon pairs were successfully received, compare measurement bases (for QKD), etc.</a:t>
            </a:r>
            <a:endParaRPr lang="en-US" sz="1100" dirty="0"/>
          </a:p>
        </p:txBody>
      </p:sp>
      <p:sp>
        <p:nvSpPr>
          <p:cNvPr id="25" name="Shape 23"/>
          <p:cNvSpPr/>
          <p:nvPr/>
        </p:nvSpPr>
        <p:spPr>
          <a:xfrm>
            <a:off x="457200" y="4613148"/>
            <a:ext cx="8229600" cy="381760"/>
          </a:xfrm>
          <a:prstGeom prst="rect">
            <a:avLst/>
          </a:prstGeom>
          <a:solidFill>
            <a:srgbClr val="FFFFFF"/>
          </a:solidFill>
          <a:ln w="6350">
            <a:solidFill>
              <a:srgbClr val="E2E8F0"/>
            </a:solidFill>
            <a:prstDash val="solid"/>
          </a:ln>
        </p:spPr>
        <p:txBody>
          <a:bodyPr/>
          <a:lstStyle/>
          <a:p>
            <a:endParaRPr lang="en-US"/>
          </a:p>
        </p:txBody>
      </p:sp>
      <p:sp>
        <p:nvSpPr>
          <p:cNvPr id="26" name="Shape 24"/>
          <p:cNvSpPr/>
          <p:nvPr/>
        </p:nvSpPr>
        <p:spPr>
          <a:xfrm>
            <a:off x="457200" y="4613148"/>
            <a:ext cx="1444752" cy="384048"/>
          </a:xfrm>
          <a:prstGeom prst="rect">
            <a:avLst/>
          </a:prstGeom>
          <a:solidFill>
            <a:srgbClr val="7C3AED"/>
          </a:solidFill>
          <a:ln/>
        </p:spPr>
        <p:txBody>
          <a:bodyPr/>
          <a:lstStyle/>
          <a:p>
            <a:endParaRPr lang="en-US"/>
          </a:p>
        </p:txBody>
      </p:sp>
      <p:sp>
        <p:nvSpPr>
          <p:cNvPr id="27" name="Text 25"/>
          <p:cNvSpPr/>
          <p:nvPr/>
        </p:nvSpPr>
        <p:spPr>
          <a:xfrm>
            <a:off x="457200" y="4613148"/>
            <a:ext cx="1444752"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Quantum Repeater</a:t>
            </a:r>
            <a:endParaRPr lang="en-US" sz="1100" dirty="0"/>
          </a:p>
        </p:txBody>
      </p:sp>
      <p:sp>
        <p:nvSpPr>
          <p:cNvPr id="28" name="Text 26"/>
          <p:cNvSpPr/>
          <p:nvPr/>
        </p:nvSpPr>
        <p:spPr>
          <a:xfrm>
            <a:off x="2039112" y="4610860"/>
            <a:ext cx="6556248" cy="384048"/>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Stores qubits in quantum memory and performs entanglement swapping to extend range. </a:t>
            </a:r>
            <a:endParaRPr lang="en-US" sz="1100" dirty="0"/>
          </a:p>
        </p:txBody>
      </p:sp>
      <p:pic>
        <p:nvPicPr>
          <p:cNvPr id="29" name="QuantumNetArch"/>
          <p:cNvPicPr>
            <a:picLocks noChangeAspect="1"/>
          </p:cNvPicPr>
          <p:nvPr/>
        </p:nvPicPr>
        <p:blipFill>
          <a:blip r:embed="rId3"/>
          <a:stretch>
            <a:fillRect/>
          </a:stretch>
        </p:blipFill>
        <p:spPr>
          <a:xfrm>
            <a:off x="5550694" y="1428750"/>
            <a:ext cx="3593306" cy="188823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3000" b="1" dirty="0">
                <a:solidFill>
                  <a:srgbClr val="7C3AED"/>
                </a:solidFill>
                <a:latin typeface="Calibri" pitchFamily="34" charset="0"/>
                <a:ea typeface="Calibri" pitchFamily="34" charset="-122"/>
                <a:cs typeface="Calibri" pitchFamily="34" charset="-120"/>
              </a:rPr>
              <a:t>The State of Quantum Networking Today</a:t>
            </a:r>
            <a:endParaRPr lang="en-US" sz="3000" dirty="0"/>
          </a:p>
        </p:txBody>
      </p:sp>
      <p:sp>
        <p:nvSpPr>
          <p:cNvPr id="3" name="Shape 1"/>
          <p:cNvSpPr/>
          <p:nvPr/>
        </p:nvSpPr>
        <p:spPr>
          <a:xfrm>
            <a:off x="457200" y="841248"/>
            <a:ext cx="8229600" cy="27432"/>
          </a:xfrm>
          <a:prstGeom prst="rect">
            <a:avLst/>
          </a:prstGeom>
          <a:solidFill>
            <a:srgbClr val="7C3AED"/>
          </a:solidFill>
          <a:ln/>
        </p:spPr>
        <p:txBody>
          <a:bodyPr/>
          <a:lstStyle/>
          <a:p>
            <a:endParaRPr lang="en-US"/>
          </a:p>
        </p:txBody>
      </p:sp>
      <p:sp>
        <p:nvSpPr>
          <p:cNvPr id="4" name="Text 2"/>
          <p:cNvSpPr/>
          <p:nvPr/>
        </p:nvSpPr>
        <p:spPr>
          <a:xfrm>
            <a:off x="457200" y="1005840"/>
            <a:ext cx="8229600" cy="420624"/>
          </a:xfrm>
          <a:prstGeom prst="rect">
            <a:avLst/>
          </a:prstGeom>
          <a:noFill/>
          <a:ln/>
        </p:spPr>
        <p:txBody>
          <a:bodyPr wrap="square" rtlCol="0" anchor="ctr"/>
          <a:lstStyle/>
          <a:p>
            <a:pPr marL="0" indent="0">
              <a:buNone/>
            </a:pPr>
            <a:r>
              <a:rPr lang="en-US" sz="1400" dirty="0">
                <a:solidFill>
                  <a:srgbClr val="475569"/>
                </a:solidFill>
                <a:latin typeface="Calibri" pitchFamily="34" charset="0"/>
                <a:ea typeface="Calibri" pitchFamily="34" charset="-122"/>
                <a:cs typeface="Calibri" pitchFamily="34" charset="-120"/>
              </a:rPr>
              <a:t>Quantum networking is transitioning from lab experiments to early real-world deployments — with rapid progress over the last decade.</a:t>
            </a:r>
            <a:endParaRPr lang="en-US" sz="1400" dirty="0"/>
          </a:p>
        </p:txBody>
      </p:sp>
      <p:sp>
        <p:nvSpPr>
          <p:cNvPr id="9" name="Shape 7"/>
          <p:cNvSpPr/>
          <p:nvPr/>
        </p:nvSpPr>
        <p:spPr>
          <a:xfrm>
            <a:off x="630675" y="3931920"/>
            <a:ext cx="7915273" cy="1046988"/>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0" name="Shape 8"/>
          <p:cNvSpPr/>
          <p:nvPr/>
        </p:nvSpPr>
        <p:spPr>
          <a:xfrm>
            <a:off x="630676" y="3931920"/>
            <a:ext cx="73152" cy="1046988"/>
          </a:xfrm>
          <a:prstGeom prst="rect">
            <a:avLst/>
          </a:prstGeom>
          <a:solidFill>
            <a:srgbClr val="D97706"/>
          </a:solidFill>
          <a:ln/>
        </p:spPr>
        <p:txBody>
          <a:bodyPr/>
          <a:lstStyle/>
          <a:p>
            <a:endParaRPr lang="en-US"/>
          </a:p>
        </p:txBody>
      </p:sp>
      <p:sp>
        <p:nvSpPr>
          <p:cNvPr id="11" name="Text 9"/>
          <p:cNvSpPr/>
          <p:nvPr/>
        </p:nvSpPr>
        <p:spPr>
          <a:xfrm>
            <a:off x="795268" y="3931920"/>
            <a:ext cx="4087368" cy="329184"/>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Current Limitations</a:t>
            </a:r>
            <a:endParaRPr lang="en-US" sz="1200" dirty="0"/>
          </a:p>
        </p:txBody>
      </p:sp>
      <p:sp>
        <p:nvSpPr>
          <p:cNvPr id="12" name="Text 10"/>
          <p:cNvSpPr/>
          <p:nvPr/>
        </p:nvSpPr>
        <p:spPr>
          <a:xfrm>
            <a:off x="795269" y="4229100"/>
            <a:ext cx="7750680" cy="914400"/>
          </a:xfrm>
          <a:prstGeom prst="rect">
            <a:avLst/>
          </a:prstGeom>
          <a:noFill/>
          <a:ln/>
        </p:spPr>
        <p:txBody>
          <a:bodyPr wrap="square" lIns="0" tIns="0" rIns="0" bIns="0" rtlCol="0" anchor="t"/>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No quantum repeaters: limited to ~100–200 km terrestrial links without satellites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Low photon generation rates: SPDC is probabilistic — many pump pulses yield no pair</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Detector efficiency: best single-photon detectors are ~95% efficient — still lose 5%</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Decoherence: photon states degrade over time in fiber — quantum memory is immature</a:t>
            </a:r>
            <a:endParaRPr lang="en-US" sz="1100" dirty="0"/>
          </a:p>
        </p:txBody>
      </p:sp>
      <p:pic>
        <p:nvPicPr>
          <p:cNvPr id="24" name="Picture 23">
            <a:extLst>
              <a:ext uri="{FF2B5EF4-FFF2-40B4-BE49-F238E27FC236}">
                <a16:creationId xmlns:a16="http://schemas.microsoft.com/office/drawing/2014/main" id="{4ADCACA3-F77A-D907-DB63-A181AD23B2ED}"/>
              </a:ext>
            </a:extLst>
          </p:cNvPr>
          <p:cNvPicPr>
            <a:picLocks noChangeAspect="1"/>
          </p:cNvPicPr>
          <p:nvPr/>
        </p:nvPicPr>
        <p:blipFill>
          <a:blip r:embed="rId3"/>
          <a:stretch>
            <a:fillRect/>
          </a:stretch>
        </p:blipFill>
        <p:spPr>
          <a:xfrm>
            <a:off x="630674" y="1426464"/>
            <a:ext cx="7772400" cy="250084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0D9488"/>
        </a:solidFill>
        <a:effectLst/>
      </p:bgPr>
    </p:bg>
    <p:spTree>
      <p:nvGrpSpPr>
        <p:cNvPr id="1" name=""/>
        <p:cNvGrpSpPr/>
        <p:nvPr/>
      </p:nvGrpSpPr>
      <p:grpSpPr>
        <a:xfrm>
          <a:off x="0" y="0"/>
          <a:ext cx="0" cy="0"/>
          <a:chOff x="0" y="0"/>
          <a:chExt cx="0" cy="0"/>
        </a:xfrm>
      </p:grpSpPr>
      <p:sp>
        <p:nvSpPr>
          <p:cNvPr id="2" name="Text 0"/>
          <p:cNvSpPr/>
          <p:nvPr/>
        </p:nvSpPr>
        <p:spPr>
          <a:xfrm>
            <a:off x="640080" y="1554480"/>
            <a:ext cx="7863840" cy="1097280"/>
          </a:xfrm>
          <a:prstGeom prst="rect">
            <a:avLst/>
          </a:prstGeom>
          <a:noFill/>
          <a:ln/>
        </p:spPr>
        <p:txBody>
          <a:bodyPr wrap="square"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Part 4: Joint Routing and Spectrum Allocation</a:t>
            </a:r>
            <a:endParaRPr lang="en-US" sz="4200" dirty="0"/>
          </a:p>
        </p:txBody>
      </p:sp>
      <p:sp>
        <p:nvSpPr>
          <p:cNvPr id="3" name="Text 1"/>
          <p:cNvSpPr/>
          <p:nvPr/>
        </p:nvSpPr>
        <p:spPr>
          <a:xfrm>
            <a:off x="640080" y="2743200"/>
            <a:ext cx="7863840" cy="640080"/>
          </a:xfrm>
          <a:prstGeom prst="rect">
            <a:avLst/>
          </a:prstGeom>
          <a:noFill/>
          <a:ln/>
        </p:spPr>
        <p:txBody>
          <a:bodyPr wrap="square" rtlCol="0" anchor="ctr"/>
          <a:lstStyle/>
          <a:p>
            <a:pPr marL="0" indent="0" algn="l">
              <a:buNone/>
            </a:pPr>
            <a:r>
              <a:rPr lang="en-US" sz="1900" dirty="0">
                <a:solidFill>
                  <a:srgbClr val="DBEAFE"/>
                </a:solidFill>
                <a:latin typeface="Calibri" pitchFamily="34" charset="0"/>
                <a:ea typeface="Calibri" pitchFamily="34" charset="-122"/>
                <a:cs typeface="Calibri" pitchFamily="34" charset="-120"/>
              </a:rPr>
              <a:t>Why routing and spectrum cannot be solved separately in quantum networks</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3000" b="1" dirty="0">
                <a:solidFill>
                  <a:srgbClr val="0D9488"/>
                </a:solidFill>
                <a:latin typeface="Calibri" pitchFamily="34" charset="0"/>
                <a:ea typeface="Calibri" pitchFamily="34" charset="-122"/>
                <a:cs typeface="Calibri" pitchFamily="34" charset="-120"/>
              </a:rPr>
              <a:t>The Quantum RSA Problem</a:t>
            </a:r>
            <a:endParaRPr lang="en-US" sz="3000" dirty="0"/>
          </a:p>
        </p:txBody>
      </p:sp>
      <p:sp>
        <p:nvSpPr>
          <p:cNvPr id="3" name="Shape 1"/>
          <p:cNvSpPr/>
          <p:nvPr/>
        </p:nvSpPr>
        <p:spPr>
          <a:xfrm>
            <a:off x="457200" y="841248"/>
            <a:ext cx="8229600" cy="27432"/>
          </a:xfrm>
          <a:prstGeom prst="rect">
            <a:avLst/>
          </a:prstGeom>
          <a:solidFill>
            <a:srgbClr val="0D9488"/>
          </a:solidFill>
          <a:ln/>
        </p:spPr>
        <p:txBody>
          <a:bodyPr/>
          <a:lstStyle/>
          <a:p>
            <a:endParaRPr lang="en-US"/>
          </a:p>
        </p:txBody>
      </p:sp>
      <p:sp>
        <p:nvSpPr>
          <p:cNvPr id="4" name="Text 2"/>
          <p:cNvSpPr/>
          <p:nvPr/>
        </p:nvSpPr>
        <p:spPr>
          <a:xfrm>
            <a:off x="457200" y="1005840"/>
            <a:ext cx="8229600" cy="457200"/>
          </a:xfrm>
          <a:prstGeom prst="rect">
            <a:avLst/>
          </a:prstGeom>
          <a:noFill/>
          <a:ln/>
        </p:spPr>
        <p:txBody>
          <a:bodyPr wrap="square" rtlCol="0" anchor="ctr"/>
          <a:lstStyle/>
          <a:p>
            <a:pPr marL="0" indent="0">
              <a:buNone/>
            </a:pPr>
            <a:r>
              <a:rPr lang="en-US" sz="1400" dirty="0">
                <a:solidFill>
                  <a:srgbClr val="475569"/>
                </a:solidFill>
                <a:latin typeface="Calibri" pitchFamily="34" charset="0"/>
                <a:ea typeface="Calibri" pitchFamily="34" charset="-122"/>
                <a:cs typeface="Calibri" pitchFamily="34" charset="-120"/>
              </a:rPr>
              <a:t>Given a set of consumer node pairs, all wanting EPR distribution from a single source, find: (1) edge-disjoint path pairs for each consumer pair, and (2) a spectrum channel for each — maximizing the minimum throughput.</a:t>
            </a:r>
            <a:endParaRPr lang="en-US" sz="1400" dirty="0"/>
          </a:p>
        </p:txBody>
      </p:sp>
      <p:sp>
        <p:nvSpPr>
          <p:cNvPr id="5" name="Shape 3"/>
          <p:cNvSpPr/>
          <p:nvPr/>
        </p:nvSpPr>
        <p:spPr>
          <a:xfrm>
            <a:off x="457200" y="1572768"/>
            <a:ext cx="3749040" cy="1956816"/>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6" name="Shape 4"/>
          <p:cNvSpPr/>
          <p:nvPr/>
        </p:nvSpPr>
        <p:spPr>
          <a:xfrm>
            <a:off x="457200" y="1572767"/>
            <a:ext cx="73152" cy="1956815"/>
          </a:xfrm>
          <a:prstGeom prst="rect">
            <a:avLst/>
          </a:prstGeom>
          <a:solidFill>
            <a:srgbClr val="0D9488"/>
          </a:solidFill>
          <a:ln/>
        </p:spPr>
        <p:txBody>
          <a:bodyPr/>
          <a:lstStyle/>
          <a:p>
            <a:endParaRPr lang="en-US"/>
          </a:p>
        </p:txBody>
      </p:sp>
      <p:sp>
        <p:nvSpPr>
          <p:cNvPr id="7" name="Text 5"/>
          <p:cNvSpPr/>
          <p:nvPr/>
        </p:nvSpPr>
        <p:spPr>
          <a:xfrm>
            <a:off x="621792" y="1664208"/>
            <a:ext cx="3493008" cy="329184"/>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What We Must Decide Per Consumer Pair (i, j)</a:t>
            </a:r>
            <a:endParaRPr lang="en-US" sz="1400" dirty="0"/>
          </a:p>
        </p:txBody>
      </p:sp>
      <p:sp>
        <p:nvSpPr>
          <p:cNvPr id="8" name="Text 6"/>
          <p:cNvSpPr/>
          <p:nvPr/>
        </p:nvSpPr>
        <p:spPr>
          <a:xfrm>
            <a:off x="621792" y="2029968"/>
            <a:ext cx="3493008" cy="1294418"/>
          </a:xfrm>
          <a:prstGeom prst="rect">
            <a:avLst/>
          </a:prstGeom>
          <a:noFill/>
          <a:ln/>
        </p:spPr>
        <p:txBody>
          <a:bodyPr wrap="square" lIns="0" tIns="0" rIns="0" bIns="0" rtlCol="0" anchor="t"/>
          <a:lstStyle/>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Path pair R = (p</a:t>
            </a:r>
            <a:r>
              <a:rPr lang="en-US" sz="1250" baseline="-25000" dirty="0">
                <a:solidFill>
                  <a:srgbClr val="475569"/>
                </a:solidFill>
                <a:latin typeface="Calibri" pitchFamily="34" charset="0"/>
                <a:ea typeface="Calibri" pitchFamily="34" charset="-122"/>
                <a:cs typeface="Calibri" pitchFamily="34" charset="-120"/>
              </a:rPr>
              <a:t>i</a:t>
            </a:r>
            <a:r>
              <a:rPr lang="en-US" sz="1250" dirty="0">
                <a:solidFill>
                  <a:srgbClr val="475569"/>
                </a:solidFill>
                <a:latin typeface="Calibri" pitchFamily="34" charset="0"/>
                <a:ea typeface="Calibri" pitchFamily="34" charset="-122"/>
                <a:cs typeface="Calibri" pitchFamily="34" charset="-120"/>
              </a:rPr>
              <a:t>, p</a:t>
            </a:r>
            <a:r>
              <a:rPr lang="en-US" sz="1250" baseline="-25000" dirty="0">
                <a:solidFill>
                  <a:srgbClr val="475569"/>
                </a:solidFill>
                <a:latin typeface="Calibri" pitchFamily="34" charset="0"/>
                <a:ea typeface="Calibri" pitchFamily="34" charset="-122"/>
                <a:cs typeface="Calibri" pitchFamily="34" charset="-120"/>
              </a:rPr>
              <a:t>j</a:t>
            </a:r>
            <a:r>
              <a:rPr lang="en-US" sz="1250" dirty="0">
                <a:solidFill>
                  <a:srgbClr val="475569"/>
                </a:solidFill>
                <a:latin typeface="Calibri" pitchFamily="34" charset="0"/>
                <a:ea typeface="Calibri" pitchFamily="34" charset="-122"/>
                <a:cs typeface="Calibri" pitchFamily="34" charset="-120"/>
              </a:rPr>
              <a:t>): two edge-disjoint paths from source s to nodes i and j</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Both paths in R must use the same spectrum channel x (they carry matched photons)</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Y</a:t>
            </a:r>
            <a:r>
              <a:rPr lang="en-US" sz="1250" baseline="-25000" dirty="0">
                <a:solidFill>
                  <a:srgbClr val="475569"/>
                </a:solidFill>
                <a:latin typeface="Calibri" pitchFamily="34" charset="0"/>
                <a:ea typeface="Calibri" pitchFamily="34" charset="-122"/>
                <a:cs typeface="Calibri" pitchFamily="34" charset="-120"/>
              </a:rPr>
              <a:t>R,(i,j)</a:t>
            </a:r>
            <a:r>
              <a:rPr lang="en-US" sz="1250" dirty="0">
                <a:solidFill>
                  <a:srgbClr val="475569"/>
                </a:solidFill>
                <a:latin typeface="Calibri" pitchFamily="34" charset="0"/>
                <a:ea typeface="Calibri" pitchFamily="34" charset="-122"/>
                <a:cs typeface="Calibri" pitchFamily="34" charset="-120"/>
              </a:rPr>
              <a:t> = 1 if pair (i,j) uses path pair R</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X</a:t>
            </a:r>
            <a:r>
              <a:rPr lang="en-US" sz="1250" baseline="-25000" dirty="0">
                <a:solidFill>
                  <a:srgbClr val="475569"/>
                </a:solidFill>
                <a:latin typeface="Calibri" pitchFamily="34" charset="0"/>
                <a:ea typeface="Calibri" pitchFamily="34" charset="-122"/>
                <a:cs typeface="Calibri" pitchFamily="34" charset="-120"/>
              </a:rPr>
              <a:t>x,R</a:t>
            </a:r>
            <a:r>
              <a:rPr lang="en-US" sz="1250" dirty="0">
                <a:solidFill>
                  <a:srgbClr val="475569"/>
                </a:solidFill>
                <a:latin typeface="Calibri" pitchFamily="34" charset="0"/>
                <a:ea typeface="Calibri" pitchFamily="34" charset="-122"/>
                <a:cs typeface="Calibri" pitchFamily="34" charset="-120"/>
              </a:rPr>
              <a:t> = 1 if channel x is used for path pair R</a:t>
            </a:r>
            <a:endParaRPr lang="en-US" sz="1250" dirty="0"/>
          </a:p>
        </p:txBody>
      </p:sp>
      <p:sp>
        <p:nvSpPr>
          <p:cNvPr id="9" name="Shape 7"/>
          <p:cNvSpPr/>
          <p:nvPr/>
        </p:nvSpPr>
        <p:spPr>
          <a:xfrm>
            <a:off x="4343400" y="1572768"/>
            <a:ext cx="4343400" cy="1956814"/>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0" name="Shape 8"/>
          <p:cNvSpPr/>
          <p:nvPr/>
        </p:nvSpPr>
        <p:spPr>
          <a:xfrm>
            <a:off x="4343400" y="1572767"/>
            <a:ext cx="73152" cy="1956813"/>
          </a:xfrm>
          <a:prstGeom prst="rect">
            <a:avLst/>
          </a:prstGeom>
          <a:solidFill>
            <a:srgbClr val="0D9488"/>
          </a:solidFill>
          <a:ln/>
        </p:spPr>
        <p:txBody>
          <a:bodyPr/>
          <a:lstStyle/>
          <a:p>
            <a:endParaRPr lang="en-US"/>
          </a:p>
        </p:txBody>
      </p:sp>
      <p:sp>
        <p:nvSpPr>
          <p:cNvPr id="11" name="Text 9"/>
          <p:cNvSpPr/>
          <p:nvPr/>
        </p:nvSpPr>
        <p:spPr>
          <a:xfrm>
            <a:off x="4507992" y="1664208"/>
            <a:ext cx="4087368" cy="329184"/>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Constraints</a:t>
            </a:r>
            <a:endParaRPr lang="en-US" sz="1400" dirty="0"/>
          </a:p>
        </p:txBody>
      </p:sp>
      <p:sp>
        <p:nvSpPr>
          <p:cNvPr id="12" name="Text 10"/>
          <p:cNvSpPr/>
          <p:nvPr/>
        </p:nvSpPr>
        <p:spPr>
          <a:xfrm>
            <a:off x="4507992" y="2029968"/>
            <a:ext cx="4087368" cy="1499612"/>
          </a:xfrm>
          <a:prstGeom prst="rect">
            <a:avLst/>
          </a:prstGeom>
          <a:noFill/>
          <a:ln/>
        </p:spPr>
        <p:txBody>
          <a:bodyPr wrap="square" lIns="0" tIns="0" rIns="0" bIns="0" rtlCol="0" anchor="t"/>
          <a:lstStyle/>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Edge disjointness: p</a:t>
            </a:r>
            <a:r>
              <a:rPr lang="en-US" sz="1250" baseline="-25000" dirty="0">
                <a:solidFill>
                  <a:srgbClr val="475569"/>
                </a:solidFill>
                <a:latin typeface="Calibri" pitchFamily="34" charset="0"/>
                <a:ea typeface="Calibri" pitchFamily="34" charset="-122"/>
                <a:cs typeface="Calibri" pitchFamily="34" charset="-120"/>
              </a:rPr>
              <a:t>i</a:t>
            </a:r>
            <a:r>
              <a:rPr lang="en-US" sz="1250" dirty="0">
                <a:solidFill>
                  <a:srgbClr val="475569"/>
                </a:solidFill>
                <a:latin typeface="Calibri" pitchFamily="34" charset="0"/>
                <a:ea typeface="Calibri" pitchFamily="34" charset="-122"/>
                <a:cs typeface="Calibri" pitchFamily="34" charset="-120"/>
              </a:rPr>
              <a:t> and p</a:t>
            </a:r>
            <a:r>
              <a:rPr lang="en-US" sz="1250" baseline="-25000" dirty="0">
                <a:solidFill>
                  <a:srgbClr val="475569"/>
                </a:solidFill>
                <a:latin typeface="Calibri" pitchFamily="34" charset="0"/>
                <a:ea typeface="Calibri" pitchFamily="34" charset="-122"/>
                <a:cs typeface="Calibri" pitchFamily="34" charset="-120"/>
              </a:rPr>
              <a:t>j</a:t>
            </a:r>
            <a:r>
              <a:rPr lang="en-US" sz="1250" dirty="0">
                <a:solidFill>
                  <a:srgbClr val="475569"/>
                </a:solidFill>
                <a:latin typeface="Calibri" pitchFamily="34" charset="0"/>
                <a:ea typeface="Calibri" pitchFamily="34" charset="-122"/>
                <a:cs typeface="Calibri" pitchFamily="34" charset="-120"/>
              </a:rPr>
              <a:t> share no fiber link (path-level constraint, precomputed)</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Channel capacity: at most ⌊W/W</a:t>
            </a:r>
            <a:r>
              <a:rPr lang="en-US" sz="1250" baseline="-25000" dirty="0">
                <a:solidFill>
                  <a:srgbClr val="475569"/>
                </a:solidFill>
                <a:latin typeface="Calibri" pitchFamily="34" charset="0"/>
                <a:ea typeface="Calibri" pitchFamily="34" charset="-122"/>
                <a:cs typeface="Calibri" pitchFamily="34" charset="-120"/>
              </a:rPr>
              <a:t>c</a:t>
            </a:r>
            <a:r>
              <a:rPr lang="en-US" sz="1250" dirty="0">
                <a:solidFill>
                  <a:srgbClr val="475569"/>
                </a:solidFill>
                <a:latin typeface="Calibri" pitchFamily="34" charset="0"/>
                <a:ea typeface="Calibri" pitchFamily="34" charset="-122"/>
                <a:cs typeface="Calibri" pitchFamily="34" charset="-120"/>
              </a:rPr>
              <a:t>⌋ channels per link (W = total bandwidth, W</a:t>
            </a:r>
            <a:r>
              <a:rPr lang="en-US" sz="1250" baseline="-25000" dirty="0">
                <a:solidFill>
                  <a:srgbClr val="475569"/>
                </a:solidFill>
                <a:latin typeface="Calibri" pitchFamily="34" charset="0"/>
                <a:ea typeface="Calibri" pitchFamily="34" charset="-122"/>
                <a:cs typeface="Calibri" pitchFamily="34" charset="-120"/>
              </a:rPr>
              <a:t>c</a:t>
            </a:r>
            <a:r>
              <a:rPr lang="en-US" sz="1250" dirty="0">
                <a:solidFill>
                  <a:srgbClr val="475569"/>
                </a:solidFill>
                <a:latin typeface="Calibri" pitchFamily="34" charset="0"/>
                <a:ea typeface="Calibri" pitchFamily="34" charset="-122"/>
                <a:cs typeface="Calibri" pitchFamily="34" charset="-120"/>
              </a:rPr>
              <a:t> = channel width)</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No contention: if two path pairs R and R' share any fiber link, they cannot use the same channel x</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Each consumer pair gets exactly one path pair (routing decision)</a:t>
            </a:r>
            <a:endParaRPr lang="en-US" sz="1250" dirty="0"/>
          </a:p>
        </p:txBody>
      </p:sp>
      <p:sp>
        <p:nvSpPr>
          <p:cNvPr id="13" name="Shape 11"/>
          <p:cNvSpPr/>
          <p:nvPr/>
        </p:nvSpPr>
        <p:spPr>
          <a:xfrm>
            <a:off x="457200" y="3639312"/>
            <a:ext cx="8183880" cy="1325880"/>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4" name="Shape 12"/>
          <p:cNvSpPr/>
          <p:nvPr/>
        </p:nvSpPr>
        <p:spPr>
          <a:xfrm>
            <a:off x="457200" y="3639312"/>
            <a:ext cx="64008" cy="1325880"/>
          </a:xfrm>
          <a:prstGeom prst="rect">
            <a:avLst/>
          </a:prstGeom>
          <a:solidFill>
            <a:srgbClr val="7C3AED"/>
          </a:solidFill>
          <a:ln/>
        </p:spPr>
        <p:txBody>
          <a:bodyPr/>
          <a:lstStyle/>
          <a:p>
            <a:endParaRPr lang="en-US"/>
          </a:p>
        </p:txBody>
      </p:sp>
      <p:sp>
        <p:nvSpPr>
          <p:cNvPr id="15" name="Text 13"/>
          <p:cNvSpPr/>
          <p:nvPr/>
        </p:nvSpPr>
        <p:spPr>
          <a:xfrm>
            <a:off x="621792" y="3730752"/>
            <a:ext cx="7927848" cy="329184"/>
          </a:xfrm>
          <a:prstGeom prst="rect">
            <a:avLst/>
          </a:prstGeom>
          <a:noFill/>
          <a:ln/>
        </p:spPr>
        <p:txBody>
          <a:bodyPr wrap="square" lIns="0" tIns="0" rIns="0" bIns="0"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Objective: Maximize Minimum Throughput</a:t>
            </a:r>
            <a:endParaRPr lang="en-US" sz="1400" dirty="0"/>
          </a:p>
        </p:txBody>
      </p:sp>
      <p:sp>
        <p:nvSpPr>
          <p:cNvPr id="16" name="Text 14"/>
          <p:cNvSpPr/>
          <p:nvPr/>
        </p:nvSpPr>
        <p:spPr>
          <a:xfrm>
            <a:off x="621792" y="4096512"/>
            <a:ext cx="7927848" cy="758952"/>
          </a:xfrm>
          <a:prstGeom prst="rect">
            <a:avLst/>
          </a:prstGeom>
          <a:noFill/>
          <a:ln/>
        </p:spPr>
        <p:txBody>
          <a:bodyPr wrap="square" lIns="0" tIns="0" rIns="0" bIns="0" rtlCol="0" anchor="t"/>
          <a:lstStyle/>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Throughput for pair (i,j) = Σx Σr X</a:t>
            </a:r>
            <a:r>
              <a:rPr lang="en-US" sz="1250" baseline="-25000" dirty="0">
                <a:solidFill>
                  <a:srgbClr val="475569"/>
                </a:solidFill>
                <a:latin typeface="Calibri" pitchFamily="34" charset="0"/>
                <a:ea typeface="Calibri" pitchFamily="34" charset="-122"/>
                <a:cs typeface="Calibri" pitchFamily="34" charset="-120"/>
              </a:rPr>
              <a:t>x,R</a:t>
            </a:r>
            <a:r>
              <a:rPr lang="en-US" sz="1250" dirty="0">
                <a:solidFill>
                  <a:srgbClr val="475569"/>
                </a:solidFill>
                <a:latin typeface="Calibri" pitchFamily="34" charset="0"/>
                <a:ea typeface="Calibri" pitchFamily="34" charset="-122"/>
                <a:cs typeface="Calibri" pitchFamily="34" charset="-120"/>
              </a:rPr>
              <a:t> × Y</a:t>
            </a:r>
            <a:r>
              <a:rPr lang="en-US" sz="1250" baseline="-25000" dirty="0">
                <a:solidFill>
                  <a:srgbClr val="475569"/>
                </a:solidFill>
                <a:latin typeface="Calibri" pitchFamily="34" charset="0"/>
                <a:ea typeface="Calibri" pitchFamily="34" charset="-122"/>
                <a:cs typeface="Calibri" pitchFamily="34" charset="-120"/>
              </a:rPr>
              <a:t>R,(i,j)</a:t>
            </a:r>
            <a:r>
              <a:rPr lang="en-US" sz="1250" dirty="0">
                <a:solidFill>
                  <a:srgbClr val="475569"/>
                </a:solidFill>
                <a:latin typeface="Calibri" pitchFamily="34" charset="0"/>
                <a:ea typeface="Calibri" pitchFamily="34" charset="-122"/>
                <a:cs typeface="Calibri" pitchFamily="34" charset="-120"/>
              </a:rPr>
              <a:t> × ηR  where ηR = 10</a:t>
            </a:r>
            <a:r>
              <a:rPr lang="en-US" sz="1250" baseline="30000" dirty="0">
                <a:solidFill>
                  <a:srgbClr val="475569"/>
                </a:solidFill>
                <a:latin typeface="Calibri" pitchFamily="34" charset="0"/>
                <a:ea typeface="Calibri" pitchFamily="34" charset="-122"/>
                <a:cs typeface="Calibri" pitchFamily="34" charset="-120"/>
              </a:rPr>
              <a:t>(-l(i,j)/10)</a:t>
            </a:r>
            <a:endParaRPr lang="en-US" sz="1250" baseline="3000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We maximize T = min over all (i,j) of their throughput — a max-min (fairness) objective</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This ensures every consumer pair receives at least T EPR pairs per time unit</a:t>
            </a:r>
            <a:endParaRPr lang="en-US" sz="1250" dirty="0"/>
          </a:p>
          <a:p>
            <a:pPr marL="342900" indent="-342900">
              <a:buSzPct val="100000"/>
              <a:buChar char="•"/>
            </a:pPr>
            <a:r>
              <a:rPr lang="en-US" sz="1250" dirty="0">
                <a:solidFill>
                  <a:srgbClr val="475569"/>
                </a:solidFill>
                <a:latin typeface="Calibri" pitchFamily="34" charset="0"/>
                <a:ea typeface="Calibri" pitchFamily="34" charset="-122"/>
                <a:cs typeface="Calibri" pitchFamily="34" charset="-120"/>
              </a:rPr>
              <a:t>The bilinear product X</a:t>
            </a:r>
            <a:r>
              <a:rPr lang="en-US" sz="1250" baseline="-25000" dirty="0">
                <a:solidFill>
                  <a:srgbClr val="475569"/>
                </a:solidFill>
                <a:latin typeface="Calibri" pitchFamily="34" charset="0"/>
                <a:ea typeface="Calibri" pitchFamily="34" charset="-122"/>
                <a:cs typeface="Calibri" pitchFamily="34" charset="-120"/>
              </a:rPr>
              <a:t>x,R</a:t>
            </a:r>
            <a:r>
              <a:rPr lang="en-US" sz="1250" dirty="0">
                <a:solidFill>
                  <a:srgbClr val="475569"/>
                </a:solidFill>
                <a:latin typeface="Calibri" pitchFamily="34" charset="0"/>
                <a:ea typeface="Calibri" pitchFamily="34" charset="-122"/>
                <a:cs typeface="Calibri" pitchFamily="34" charset="-120"/>
              </a:rPr>
              <a:t> × Y</a:t>
            </a:r>
            <a:r>
              <a:rPr lang="en-US" sz="1250" baseline="-25000" dirty="0">
                <a:solidFill>
                  <a:srgbClr val="475569"/>
                </a:solidFill>
                <a:latin typeface="Calibri" pitchFamily="34" charset="0"/>
                <a:ea typeface="Calibri" pitchFamily="34" charset="-122"/>
                <a:cs typeface="Calibri" pitchFamily="34" charset="-120"/>
              </a:rPr>
              <a:t>R,(i,j)</a:t>
            </a:r>
            <a:r>
              <a:rPr lang="en-US" sz="1250" dirty="0">
                <a:solidFill>
                  <a:srgbClr val="475569"/>
                </a:solidFill>
                <a:latin typeface="Calibri" pitchFamily="34" charset="0"/>
                <a:ea typeface="Calibri" pitchFamily="34" charset="-122"/>
                <a:cs typeface="Calibri" pitchFamily="34" charset="-120"/>
              </a:rPr>
              <a:t> requires the McCormick envelope technique to linearize into an ILP</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3000" b="1" dirty="0">
                <a:solidFill>
                  <a:srgbClr val="0D9488"/>
                </a:solidFill>
                <a:latin typeface="Calibri" pitchFamily="34" charset="0"/>
                <a:ea typeface="Calibri" pitchFamily="34" charset="-122"/>
                <a:cs typeface="Calibri" pitchFamily="34" charset="-120"/>
              </a:rPr>
              <a:t>Why Separate Routing + Spectrum Fails</a:t>
            </a:r>
            <a:endParaRPr lang="en-US" sz="3000" dirty="0"/>
          </a:p>
        </p:txBody>
      </p:sp>
      <p:sp>
        <p:nvSpPr>
          <p:cNvPr id="3" name="Shape 1"/>
          <p:cNvSpPr/>
          <p:nvPr/>
        </p:nvSpPr>
        <p:spPr>
          <a:xfrm>
            <a:off x="457200" y="841248"/>
            <a:ext cx="8229600" cy="27432"/>
          </a:xfrm>
          <a:prstGeom prst="rect">
            <a:avLst/>
          </a:prstGeom>
          <a:solidFill>
            <a:srgbClr val="0D9488"/>
          </a:solidFill>
          <a:ln/>
        </p:spPr>
        <p:txBody>
          <a:bodyPr/>
          <a:lstStyle/>
          <a:p>
            <a:endParaRPr lang="en-US"/>
          </a:p>
        </p:txBody>
      </p:sp>
      <p:sp>
        <p:nvSpPr>
          <p:cNvPr id="5" name="Shape 3"/>
          <p:cNvSpPr/>
          <p:nvPr/>
        </p:nvSpPr>
        <p:spPr>
          <a:xfrm>
            <a:off x="548640" y="2552276"/>
            <a:ext cx="8138160" cy="1504569"/>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6" name="Shape 4"/>
          <p:cNvSpPr/>
          <p:nvPr/>
        </p:nvSpPr>
        <p:spPr>
          <a:xfrm>
            <a:off x="548640" y="2552276"/>
            <a:ext cx="64008" cy="1504569"/>
          </a:xfrm>
          <a:prstGeom prst="rect">
            <a:avLst/>
          </a:prstGeom>
          <a:solidFill>
            <a:srgbClr val="0D9488"/>
          </a:solidFill>
          <a:ln/>
        </p:spPr>
        <p:txBody>
          <a:bodyPr/>
          <a:lstStyle/>
          <a:p>
            <a:endParaRPr lang="en-US"/>
          </a:p>
        </p:txBody>
      </p:sp>
      <p:sp>
        <p:nvSpPr>
          <p:cNvPr id="7" name="Text 5"/>
          <p:cNvSpPr/>
          <p:nvPr/>
        </p:nvSpPr>
        <p:spPr>
          <a:xfrm>
            <a:off x="713232" y="2494321"/>
            <a:ext cx="3493008" cy="329184"/>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The Motivating Example (from our paper)</a:t>
            </a:r>
            <a:endParaRPr lang="en-US" sz="1100" dirty="0"/>
          </a:p>
        </p:txBody>
      </p:sp>
      <p:sp>
        <p:nvSpPr>
          <p:cNvPr id="8" name="Text 6"/>
          <p:cNvSpPr/>
          <p:nvPr/>
        </p:nvSpPr>
        <p:spPr>
          <a:xfrm>
            <a:off x="713232" y="2769741"/>
            <a:ext cx="7973568" cy="1233340"/>
          </a:xfrm>
          <a:prstGeom prst="rect">
            <a:avLst/>
          </a:prstGeom>
          <a:noFill/>
          <a:ln/>
        </p:spPr>
        <p:txBody>
          <a:bodyPr wrap="square" lIns="0" tIns="0" rIns="0" bIns="0" rtlCol="0" anchor="t"/>
          <a:lstStyle/>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5-node topology: nodes 0–4. Node 0 = entanglement source.</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Fibers (0,1) and (1,2) are very short (weight 0.1). All others have weight 1.0.</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Consumer pairs: (1,2), (1,3), (1,4), (2,3), (2,4), (3,4) — all 6 pairs.</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Shortest path approach: pairs (1,3), (1,4), (2,3), (2,4) all want to use the short path 0→1→2.</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Result: 5 consumer pairs compete for fiber (0,1). With only 3 channels available → infeasible.</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The algorithm finds no valid spectrum assignment — reports zero throughput.</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Joint optimization: reroutes (2,3) via 0→2 instead — avoids the bottleneck fiber.</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Result: feasible assignment with T = 0.631 (full throughput restored).</a:t>
            </a:r>
            <a:endParaRPr lang="en-US" sz="1000" dirty="0"/>
          </a:p>
        </p:txBody>
      </p:sp>
      <p:sp>
        <p:nvSpPr>
          <p:cNvPr id="9" name="Shape 7"/>
          <p:cNvSpPr/>
          <p:nvPr/>
        </p:nvSpPr>
        <p:spPr>
          <a:xfrm>
            <a:off x="548640" y="4056845"/>
            <a:ext cx="8138160" cy="1017431"/>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0" name="Shape 8"/>
          <p:cNvSpPr/>
          <p:nvPr/>
        </p:nvSpPr>
        <p:spPr>
          <a:xfrm>
            <a:off x="548640" y="4056845"/>
            <a:ext cx="64008" cy="1017431"/>
          </a:xfrm>
          <a:prstGeom prst="rect">
            <a:avLst/>
          </a:prstGeom>
          <a:solidFill>
            <a:srgbClr val="7C3AED"/>
          </a:solidFill>
          <a:ln/>
        </p:spPr>
        <p:txBody>
          <a:bodyPr/>
          <a:lstStyle/>
          <a:p>
            <a:endParaRPr lang="en-US"/>
          </a:p>
        </p:txBody>
      </p:sp>
      <p:sp>
        <p:nvSpPr>
          <p:cNvPr id="11" name="Text 9"/>
          <p:cNvSpPr/>
          <p:nvPr/>
        </p:nvSpPr>
        <p:spPr>
          <a:xfrm>
            <a:off x="713232" y="4003081"/>
            <a:ext cx="4087368" cy="329184"/>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Lesson: Routing and Spectrum Are Coupled</a:t>
            </a:r>
            <a:endParaRPr lang="en-US" sz="1100" dirty="0"/>
          </a:p>
        </p:txBody>
      </p:sp>
      <p:sp>
        <p:nvSpPr>
          <p:cNvPr id="12" name="Text 10"/>
          <p:cNvSpPr/>
          <p:nvPr/>
        </p:nvSpPr>
        <p:spPr>
          <a:xfrm>
            <a:off x="713232" y="4274310"/>
            <a:ext cx="7973568" cy="2450592"/>
          </a:xfrm>
          <a:prstGeom prst="rect">
            <a:avLst/>
          </a:prstGeom>
          <a:noFill/>
          <a:ln/>
        </p:spPr>
        <p:txBody>
          <a:bodyPr wrap="square" lIns="0" tIns="0" rIns="0" bIns="0" rtlCol="0" anchor="t"/>
          <a:lstStyle/>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The spectrum assignment depends on which links are used (routing)</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But routing must account for whether spectrum will be available (spectrum)</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Solving them in sequence guarantees neither feasibility nor optimality</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The only correct approach is joint optimization — or a heuristic that couples both decisions</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Our contribution: formulate the joint problem as an ILP + propose the RCH heuristic to solve it scalably</a:t>
            </a:r>
            <a:endParaRPr lang="en-US" sz="1000" dirty="0"/>
          </a:p>
        </p:txBody>
      </p:sp>
      <p:pic>
        <p:nvPicPr>
          <p:cNvPr id="13" name="JointRSA"/>
          <p:cNvPicPr>
            <a:picLocks noChangeAspect="1"/>
          </p:cNvPicPr>
          <p:nvPr/>
        </p:nvPicPr>
        <p:blipFill>
          <a:blip r:embed="rId3"/>
          <a:stretch>
            <a:fillRect/>
          </a:stretch>
        </p:blipFill>
        <p:spPr>
          <a:xfrm>
            <a:off x="1333671" y="926635"/>
            <a:ext cx="6019457" cy="162564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3000" b="1" dirty="0">
                <a:solidFill>
                  <a:srgbClr val="0D9488"/>
                </a:solidFill>
                <a:latin typeface="Calibri" pitchFamily="34" charset="0"/>
                <a:ea typeface="Calibri" pitchFamily="34" charset="-122"/>
                <a:cs typeface="Calibri" pitchFamily="34" charset="-120"/>
              </a:rPr>
              <a:t>Our Solution: Random Clique Heuristic (RCH)</a:t>
            </a:r>
            <a:endParaRPr lang="en-US" sz="3000" dirty="0"/>
          </a:p>
        </p:txBody>
      </p:sp>
      <p:sp>
        <p:nvSpPr>
          <p:cNvPr id="3" name="Shape 1"/>
          <p:cNvSpPr/>
          <p:nvPr/>
        </p:nvSpPr>
        <p:spPr>
          <a:xfrm>
            <a:off x="457200" y="841248"/>
            <a:ext cx="8229600" cy="27432"/>
          </a:xfrm>
          <a:prstGeom prst="rect">
            <a:avLst/>
          </a:prstGeom>
          <a:solidFill>
            <a:srgbClr val="0D9488"/>
          </a:solidFill>
          <a:ln/>
        </p:spPr>
        <p:txBody>
          <a:bodyPr/>
          <a:lstStyle/>
          <a:p>
            <a:endParaRPr lang="en-US"/>
          </a:p>
        </p:txBody>
      </p:sp>
      <p:sp>
        <p:nvSpPr>
          <p:cNvPr id="5" name="Shape 3"/>
          <p:cNvSpPr/>
          <p:nvPr/>
        </p:nvSpPr>
        <p:spPr>
          <a:xfrm>
            <a:off x="489204" y="987552"/>
            <a:ext cx="1481328" cy="685800"/>
          </a:xfrm>
          <a:prstGeom prst="rect">
            <a:avLst/>
          </a:prstGeom>
          <a:solidFill>
            <a:srgbClr val="0D9488"/>
          </a:solidFill>
          <a:ln w="15240">
            <a:solidFill>
              <a:srgbClr val="0D9488"/>
            </a:solidFill>
            <a:prstDash val="solid"/>
          </a:ln>
        </p:spPr>
        <p:txBody>
          <a:bodyPr/>
          <a:lstStyle/>
          <a:p>
            <a:endParaRPr lang="en-US"/>
          </a:p>
        </p:txBody>
      </p:sp>
      <p:sp>
        <p:nvSpPr>
          <p:cNvPr id="6" name="Text 4"/>
          <p:cNvSpPr/>
          <p:nvPr/>
        </p:nvSpPr>
        <p:spPr>
          <a:xfrm>
            <a:off x="489204" y="987552"/>
            <a:ext cx="1481328" cy="6858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Suurballe's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Seed Pairs</a:t>
            </a:r>
            <a:endParaRPr lang="en-US" sz="1100" dirty="0"/>
          </a:p>
        </p:txBody>
      </p:sp>
      <p:sp>
        <p:nvSpPr>
          <p:cNvPr id="7" name="Shape 5"/>
          <p:cNvSpPr/>
          <p:nvPr/>
        </p:nvSpPr>
        <p:spPr>
          <a:xfrm>
            <a:off x="1970532" y="1330452"/>
            <a:ext cx="164592" cy="0"/>
          </a:xfrm>
          <a:prstGeom prst="line">
            <a:avLst/>
          </a:prstGeom>
          <a:noFill/>
          <a:ln w="19050">
            <a:solidFill>
              <a:srgbClr val="0D9488"/>
            </a:solidFill>
            <a:prstDash val="solid"/>
          </a:ln>
        </p:spPr>
        <p:txBody>
          <a:bodyPr/>
          <a:lstStyle/>
          <a:p>
            <a:endParaRPr lang="en-US"/>
          </a:p>
        </p:txBody>
      </p:sp>
      <p:sp>
        <p:nvSpPr>
          <p:cNvPr id="8" name="Shape 6"/>
          <p:cNvSpPr/>
          <p:nvPr/>
        </p:nvSpPr>
        <p:spPr>
          <a:xfrm>
            <a:off x="2135124" y="987552"/>
            <a:ext cx="1481328" cy="685800"/>
          </a:xfrm>
          <a:prstGeom prst="rect">
            <a:avLst/>
          </a:prstGeom>
          <a:solidFill>
            <a:srgbClr val="FFFFFF"/>
          </a:solidFill>
          <a:ln w="15240">
            <a:solidFill>
              <a:srgbClr val="0D9488"/>
            </a:solidFill>
            <a:prstDash val="solid"/>
          </a:ln>
        </p:spPr>
        <p:txBody>
          <a:bodyPr/>
          <a:lstStyle/>
          <a:p>
            <a:endParaRPr lang="en-US"/>
          </a:p>
        </p:txBody>
      </p:sp>
      <p:sp>
        <p:nvSpPr>
          <p:cNvPr id="9" name="Text 7"/>
          <p:cNvSpPr/>
          <p:nvPr/>
        </p:nvSpPr>
        <p:spPr>
          <a:xfrm>
            <a:off x="2135124" y="987552"/>
            <a:ext cx="1481328" cy="685800"/>
          </a:xfrm>
          <a:prstGeom prst="rect">
            <a:avLst/>
          </a:prstGeom>
          <a:noFill/>
          <a:ln/>
        </p:spPr>
        <p:txBody>
          <a:bodyPr wrap="square" lIns="0" tIns="0" rIns="0" bIns="0" rtlCol="0" anchor="ctr"/>
          <a:lstStyle/>
          <a:p>
            <a:pPr marL="0" indent="0" algn="ctr">
              <a:buNone/>
            </a:pPr>
            <a:r>
              <a:rPr lang="en-US" sz="1100" dirty="0">
                <a:solidFill>
                  <a:srgbClr val="0D9488"/>
                </a:solidFill>
                <a:latin typeface="Calibri" pitchFamily="34" charset="0"/>
                <a:ea typeface="Calibri" pitchFamily="34" charset="-122"/>
                <a:cs typeface="Calibri" pitchFamily="34" charset="-120"/>
              </a:rPr>
              <a:t>Build Conflict</a:t>
            </a:r>
            <a:endParaRPr lang="en-US" sz="1100" dirty="0"/>
          </a:p>
          <a:p>
            <a:pPr marL="0" indent="0" algn="ctr">
              <a:buNone/>
            </a:pPr>
            <a:r>
              <a:rPr lang="en-US" sz="1100" dirty="0">
                <a:solidFill>
                  <a:srgbClr val="0D9488"/>
                </a:solidFill>
                <a:latin typeface="Calibri" pitchFamily="34" charset="0"/>
                <a:ea typeface="Calibri" pitchFamily="34" charset="-122"/>
                <a:cs typeface="Calibri" pitchFamily="34" charset="-120"/>
              </a:rPr>
              <a:t>Graph</a:t>
            </a:r>
            <a:endParaRPr lang="en-US" sz="1100" dirty="0"/>
          </a:p>
        </p:txBody>
      </p:sp>
      <p:sp>
        <p:nvSpPr>
          <p:cNvPr id="10" name="Shape 8"/>
          <p:cNvSpPr/>
          <p:nvPr/>
        </p:nvSpPr>
        <p:spPr>
          <a:xfrm>
            <a:off x="3616452" y="1330452"/>
            <a:ext cx="164592" cy="0"/>
          </a:xfrm>
          <a:prstGeom prst="line">
            <a:avLst/>
          </a:prstGeom>
          <a:noFill/>
          <a:ln w="19050">
            <a:solidFill>
              <a:srgbClr val="0D9488"/>
            </a:solidFill>
            <a:prstDash val="solid"/>
          </a:ln>
        </p:spPr>
        <p:txBody>
          <a:bodyPr/>
          <a:lstStyle/>
          <a:p>
            <a:endParaRPr lang="en-US"/>
          </a:p>
        </p:txBody>
      </p:sp>
      <p:sp>
        <p:nvSpPr>
          <p:cNvPr id="11" name="Shape 9"/>
          <p:cNvSpPr/>
          <p:nvPr/>
        </p:nvSpPr>
        <p:spPr>
          <a:xfrm>
            <a:off x="3781044" y="987552"/>
            <a:ext cx="1481328" cy="685800"/>
          </a:xfrm>
          <a:prstGeom prst="rect">
            <a:avLst/>
          </a:prstGeom>
          <a:solidFill>
            <a:srgbClr val="FFFFFF"/>
          </a:solidFill>
          <a:ln w="15240">
            <a:solidFill>
              <a:srgbClr val="0D9488"/>
            </a:solidFill>
            <a:prstDash val="solid"/>
          </a:ln>
        </p:spPr>
        <p:txBody>
          <a:bodyPr/>
          <a:lstStyle/>
          <a:p>
            <a:endParaRPr lang="en-US"/>
          </a:p>
        </p:txBody>
      </p:sp>
      <p:sp>
        <p:nvSpPr>
          <p:cNvPr id="12" name="Text 10"/>
          <p:cNvSpPr/>
          <p:nvPr/>
        </p:nvSpPr>
        <p:spPr>
          <a:xfrm>
            <a:off x="3781044" y="987552"/>
            <a:ext cx="1481328" cy="685800"/>
          </a:xfrm>
          <a:prstGeom prst="rect">
            <a:avLst/>
          </a:prstGeom>
          <a:noFill/>
          <a:ln/>
        </p:spPr>
        <p:txBody>
          <a:bodyPr wrap="square" lIns="0" tIns="0" rIns="0" bIns="0" rtlCol="0" anchor="ctr"/>
          <a:lstStyle/>
          <a:p>
            <a:pPr marL="0" indent="0" algn="ctr">
              <a:buNone/>
            </a:pPr>
            <a:r>
              <a:rPr lang="en-US" sz="1100" dirty="0">
                <a:solidFill>
                  <a:srgbClr val="0D9488"/>
                </a:solidFill>
                <a:latin typeface="Calibri" pitchFamily="34" charset="0"/>
                <a:ea typeface="Calibri" pitchFamily="34" charset="-122"/>
                <a:cs typeface="Calibri" pitchFamily="34" charset="-120"/>
              </a:rPr>
              <a:t>Find Max</a:t>
            </a:r>
            <a:endParaRPr lang="en-US" sz="1100" dirty="0"/>
          </a:p>
          <a:p>
            <a:pPr marL="0" indent="0" algn="ctr">
              <a:buNone/>
            </a:pPr>
            <a:r>
              <a:rPr lang="en-US" sz="1100" dirty="0">
                <a:solidFill>
                  <a:srgbClr val="0D9488"/>
                </a:solidFill>
                <a:latin typeface="Calibri" pitchFamily="34" charset="0"/>
                <a:ea typeface="Calibri" pitchFamily="34" charset="-122"/>
                <a:cs typeface="Calibri" pitchFamily="34" charset="-120"/>
              </a:rPr>
              <a:t>Clique</a:t>
            </a:r>
            <a:endParaRPr lang="en-US" sz="1100" dirty="0"/>
          </a:p>
        </p:txBody>
      </p:sp>
      <p:sp>
        <p:nvSpPr>
          <p:cNvPr id="13" name="Shape 11"/>
          <p:cNvSpPr/>
          <p:nvPr/>
        </p:nvSpPr>
        <p:spPr>
          <a:xfrm>
            <a:off x="5262372" y="1330452"/>
            <a:ext cx="164592" cy="0"/>
          </a:xfrm>
          <a:prstGeom prst="line">
            <a:avLst/>
          </a:prstGeom>
          <a:noFill/>
          <a:ln w="19050">
            <a:solidFill>
              <a:srgbClr val="0D9488"/>
            </a:solidFill>
            <a:prstDash val="solid"/>
          </a:ln>
        </p:spPr>
        <p:txBody>
          <a:bodyPr/>
          <a:lstStyle/>
          <a:p>
            <a:endParaRPr lang="en-US"/>
          </a:p>
        </p:txBody>
      </p:sp>
      <p:sp>
        <p:nvSpPr>
          <p:cNvPr id="14" name="Shape 12"/>
          <p:cNvSpPr/>
          <p:nvPr/>
        </p:nvSpPr>
        <p:spPr>
          <a:xfrm>
            <a:off x="5426964" y="987552"/>
            <a:ext cx="1481328" cy="685800"/>
          </a:xfrm>
          <a:prstGeom prst="rect">
            <a:avLst/>
          </a:prstGeom>
          <a:solidFill>
            <a:srgbClr val="FFFFFF"/>
          </a:solidFill>
          <a:ln w="15240">
            <a:solidFill>
              <a:srgbClr val="0D9488"/>
            </a:solidFill>
            <a:prstDash val="solid"/>
          </a:ln>
        </p:spPr>
        <p:txBody>
          <a:bodyPr/>
          <a:lstStyle/>
          <a:p>
            <a:endParaRPr lang="en-US"/>
          </a:p>
        </p:txBody>
      </p:sp>
      <p:sp>
        <p:nvSpPr>
          <p:cNvPr id="15" name="Text 13"/>
          <p:cNvSpPr/>
          <p:nvPr/>
        </p:nvSpPr>
        <p:spPr>
          <a:xfrm>
            <a:off x="5426964" y="987552"/>
            <a:ext cx="1481328" cy="685800"/>
          </a:xfrm>
          <a:prstGeom prst="rect">
            <a:avLst/>
          </a:prstGeom>
          <a:noFill/>
          <a:ln/>
        </p:spPr>
        <p:txBody>
          <a:bodyPr wrap="square" lIns="0" tIns="0" rIns="0" bIns="0" rtlCol="0" anchor="ctr"/>
          <a:lstStyle/>
          <a:p>
            <a:pPr marL="0" indent="0" algn="ctr">
              <a:buNone/>
            </a:pPr>
            <a:r>
              <a:rPr lang="en-US" sz="1100" dirty="0">
                <a:solidFill>
                  <a:srgbClr val="0D9488"/>
                </a:solidFill>
                <a:latin typeface="Calibri" pitchFamily="34" charset="0"/>
                <a:ea typeface="Calibri" pitchFamily="34" charset="-122"/>
                <a:cs typeface="Calibri" pitchFamily="34" charset="-120"/>
              </a:rPr>
              <a:t>Stochastic</a:t>
            </a:r>
            <a:endParaRPr lang="en-US" sz="1100" dirty="0"/>
          </a:p>
          <a:p>
            <a:pPr marL="0" indent="0" algn="ctr">
              <a:buNone/>
            </a:pPr>
            <a:r>
              <a:rPr lang="en-US" sz="1100" dirty="0">
                <a:solidFill>
                  <a:srgbClr val="0D9488"/>
                </a:solidFill>
                <a:latin typeface="Calibri" pitchFamily="34" charset="0"/>
                <a:ea typeface="Calibri" pitchFamily="34" charset="-122"/>
                <a:cs typeface="Calibri" pitchFamily="34" charset="-120"/>
              </a:rPr>
              <a:t>Augmentation</a:t>
            </a:r>
            <a:endParaRPr lang="en-US" sz="1100" dirty="0"/>
          </a:p>
        </p:txBody>
      </p:sp>
      <p:sp>
        <p:nvSpPr>
          <p:cNvPr id="16" name="Shape 14"/>
          <p:cNvSpPr/>
          <p:nvPr/>
        </p:nvSpPr>
        <p:spPr>
          <a:xfrm>
            <a:off x="6908292" y="1330452"/>
            <a:ext cx="164592" cy="0"/>
          </a:xfrm>
          <a:prstGeom prst="line">
            <a:avLst/>
          </a:prstGeom>
          <a:noFill/>
          <a:ln w="19050">
            <a:solidFill>
              <a:srgbClr val="0D9488"/>
            </a:solidFill>
            <a:prstDash val="solid"/>
          </a:ln>
        </p:spPr>
        <p:txBody>
          <a:bodyPr/>
          <a:lstStyle/>
          <a:p>
            <a:endParaRPr lang="en-US"/>
          </a:p>
        </p:txBody>
      </p:sp>
      <p:sp>
        <p:nvSpPr>
          <p:cNvPr id="17" name="Shape 15"/>
          <p:cNvSpPr/>
          <p:nvPr/>
        </p:nvSpPr>
        <p:spPr>
          <a:xfrm>
            <a:off x="7072884" y="987552"/>
            <a:ext cx="1481328" cy="685800"/>
          </a:xfrm>
          <a:prstGeom prst="rect">
            <a:avLst/>
          </a:prstGeom>
          <a:solidFill>
            <a:srgbClr val="FFFFFF"/>
          </a:solidFill>
          <a:ln w="15240">
            <a:solidFill>
              <a:srgbClr val="0D9488"/>
            </a:solidFill>
            <a:prstDash val="solid"/>
          </a:ln>
        </p:spPr>
        <p:txBody>
          <a:bodyPr/>
          <a:lstStyle/>
          <a:p>
            <a:endParaRPr lang="en-US"/>
          </a:p>
        </p:txBody>
      </p:sp>
      <p:sp>
        <p:nvSpPr>
          <p:cNvPr id="18" name="Text 16"/>
          <p:cNvSpPr/>
          <p:nvPr/>
        </p:nvSpPr>
        <p:spPr>
          <a:xfrm>
            <a:off x="7072884" y="987552"/>
            <a:ext cx="1481328" cy="685800"/>
          </a:xfrm>
          <a:prstGeom prst="rect">
            <a:avLst/>
          </a:prstGeom>
          <a:noFill/>
          <a:ln/>
        </p:spPr>
        <p:txBody>
          <a:bodyPr wrap="square" lIns="0" tIns="0" rIns="0" bIns="0" rtlCol="0" anchor="ctr"/>
          <a:lstStyle/>
          <a:p>
            <a:pPr marL="0" indent="0" algn="ctr">
              <a:buNone/>
            </a:pPr>
            <a:r>
              <a:rPr lang="en-US" sz="1100" dirty="0">
                <a:solidFill>
                  <a:srgbClr val="0D9488"/>
                </a:solidFill>
                <a:latin typeface="Calibri" pitchFamily="34" charset="0"/>
                <a:ea typeface="Calibri" pitchFamily="34" charset="-122"/>
                <a:cs typeface="Calibri" pitchFamily="34" charset="-120"/>
              </a:rPr>
              <a:t>Lagrangian</a:t>
            </a:r>
            <a:endParaRPr lang="en-US" sz="1100" dirty="0"/>
          </a:p>
          <a:p>
            <a:pPr marL="0" indent="0" algn="ctr">
              <a:buNone/>
            </a:pPr>
            <a:r>
              <a:rPr lang="en-US" sz="1100" dirty="0">
                <a:solidFill>
                  <a:srgbClr val="0D9488"/>
                </a:solidFill>
                <a:latin typeface="Calibri" pitchFamily="34" charset="0"/>
                <a:ea typeface="Calibri" pitchFamily="34" charset="-122"/>
                <a:cs typeface="Calibri" pitchFamily="34" charset="-120"/>
              </a:rPr>
              <a:t>ILP Solve</a:t>
            </a:r>
            <a:endParaRPr lang="en-US" sz="1100" dirty="0"/>
          </a:p>
        </p:txBody>
      </p:sp>
      <p:sp>
        <p:nvSpPr>
          <p:cNvPr id="19" name="Shape 17"/>
          <p:cNvSpPr/>
          <p:nvPr/>
        </p:nvSpPr>
        <p:spPr>
          <a:xfrm>
            <a:off x="489204" y="1792223"/>
            <a:ext cx="2331720" cy="2457801"/>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20" name="Shape 18"/>
          <p:cNvSpPr/>
          <p:nvPr/>
        </p:nvSpPr>
        <p:spPr>
          <a:xfrm>
            <a:off x="489204" y="1792224"/>
            <a:ext cx="73152" cy="2457800"/>
          </a:xfrm>
          <a:prstGeom prst="rect">
            <a:avLst/>
          </a:prstGeom>
          <a:solidFill>
            <a:srgbClr val="0D9488"/>
          </a:solidFill>
          <a:ln/>
        </p:spPr>
        <p:txBody>
          <a:bodyPr/>
          <a:lstStyle/>
          <a:p>
            <a:endParaRPr lang="en-US"/>
          </a:p>
        </p:txBody>
      </p:sp>
      <p:sp>
        <p:nvSpPr>
          <p:cNvPr id="21" name="Text 19"/>
          <p:cNvSpPr/>
          <p:nvPr/>
        </p:nvSpPr>
        <p:spPr>
          <a:xfrm>
            <a:off x="653796" y="1801368"/>
            <a:ext cx="2075688" cy="329184"/>
          </a:xfrm>
          <a:prstGeom prst="rect">
            <a:avLst/>
          </a:prstGeom>
          <a:noFill/>
          <a:ln/>
        </p:spPr>
        <p:txBody>
          <a:bodyPr wrap="square" lIns="0" tIns="0" rIns="0" bIns="0"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Stage 1: Seed Pairs</a:t>
            </a:r>
            <a:endParaRPr lang="en-US" sz="1400" dirty="0"/>
          </a:p>
        </p:txBody>
      </p:sp>
      <p:sp>
        <p:nvSpPr>
          <p:cNvPr id="22" name="Text 20"/>
          <p:cNvSpPr/>
          <p:nvPr/>
        </p:nvSpPr>
        <p:spPr>
          <a:xfrm>
            <a:off x="653796" y="2139696"/>
            <a:ext cx="2075688" cy="2016252"/>
          </a:xfrm>
          <a:prstGeom prst="rect">
            <a:avLst/>
          </a:prstGeom>
          <a:noFill/>
          <a:ln/>
        </p:spPr>
        <p:txBody>
          <a:bodyPr wrap="square" lIns="0" tIns="0" rIns="0" bIns="0" rtlCol="0" anchor="t"/>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For each consumer pair (i,j): use Suurballe's algorithm to find the minimum-cost pair of edge-disjoint paths from source s to both i and j</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This gives the "best" natural routing for each pair without any awareness of contention</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These seed pairs are the starting point — they may conflict with each other on shared links</a:t>
            </a:r>
            <a:endParaRPr lang="en-US" sz="1100" dirty="0"/>
          </a:p>
        </p:txBody>
      </p:sp>
      <p:sp>
        <p:nvSpPr>
          <p:cNvPr id="23" name="Shape 21"/>
          <p:cNvSpPr/>
          <p:nvPr/>
        </p:nvSpPr>
        <p:spPr>
          <a:xfrm>
            <a:off x="2958084" y="1792223"/>
            <a:ext cx="2331720" cy="2457797"/>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24" name="Shape 22"/>
          <p:cNvSpPr/>
          <p:nvPr/>
        </p:nvSpPr>
        <p:spPr>
          <a:xfrm>
            <a:off x="2958084" y="1792224"/>
            <a:ext cx="82296" cy="2457796"/>
          </a:xfrm>
          <a:prstGeom prst="rect">
            <a:avLst/>
          </a:prstGeom>
          <a:solidFill>
            <a:srgbClr val="D97706"/>
          </a:solidFill>
          <a:ln/>
        </p:spPr>
        <p:txBody>
          <a:bodyPr/>
          <a:lstStyle/>
          <a:p>
            <a:endParaRPr lang="en-US"/>
          </a:p>
        </p:txBody>
      </p:sp>
      <p:sp>
        <p:nvSpPr>
          <p:cNvPr id="25" name="Text 23"/>
          <p:cNvSpPr/>
          <p:nvPr/>
        </p:nvSpPr>
        <p:spPr>
          <a:xfrm>
            <a:off x="3122676" y="1801368"/>
            <a:ext cx="2075688" cy="329184"/>
          </a:xfrm>
          <a:prstGeom prst="rect">
            <a:avLst/>
          </a:prstGeom>
          <a:noFill/>
          <a:ln/>
        </p:spPr>
        <p:txBody>
          <a:bodyPr wrap="square" lIns="0" tIns="0" rIns="0" bIns="0" rtlCol="0" anchor="ctr"/>
          <a:lstStyle/>
          <a:p>
            <a:pPr marL="0" indent="0">
              <a:buNone/>
            </a:pPr>
            <a:r>
              <a:rPr lang="en-US" sz="1400" b="1" dirty="0">
                <a:solidFill>
                  <a:srgbClr val="D97706"/>
                </a:solidFill>
                <a:latin typeface="Calibri" pitchFamily="34" charset="0"/>
                <a:ea typeface="Calibri" pitchFamily="34" charset="-122"/>
                <a:cs typeface="Calibri" pitchFamily="34" charset="-120"/>
              </a:rPr>
              <a:t>Stage 2: Conflict Graph</a:t>
            </a:r>
            <a:endParaRPr lang="en-US" sz="1400" dirty="0"/>
          </a:p>
        </p:txBody>
      </p:sp>
      <p:sp>
        <p:nvSpPr>
          <p:cNvPr id="26" name="Text 24"/>
          <p:cNvSpPr/>
          <p:nvPr/>
        </p:nvSpPr>
        <p:spPr>
          <a:xfrm>
            <a:off x="3122676" y="2139696"/>
            <a:ext cx="2075688" cy="2016252"/>
          </a:xfrm>
          <a:prstGeom prst="rect">
            <a:avLst/>
          </a:prstGeom>
          <a:noFill/>
          <a:ln/>
        </p:spPr>
        <p:txBody>
          <a:bodyPr wrap="square" lIns="0" tIns="0" rIns="0" bIns="0" rtlCol="0" anchor="t"/>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Build a conflict graph H: two consumer pairs are adjacent in H if their seed path pairs share at least one fiber link</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Edges in H indicate contention risk — these pairs compete for the same spectrum</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Find the maximum clique K in H (the most mutually conflicting group) using a greedy approximation</a:t>
            </a:r>
            <a:endParaRPr lang="en-US" sz="1100" dirty="0"/>
          </a:p>
        </p:txBody>
      </p:sp>
      <p:sp>
        <p:nvSpPr>
          <p:cNvPr id="27" name="Shape 25"/>
          <p:cNvSpPr/>
          <p:nvPr/>
        </p:nvSpPr>
        <p:spPr>
          <a:xfrm>
            <a:off x="5426964" y="1792223"/>
            <a:ext cx="3291840" cy="2457795"/>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28" name="Shape 26"/>
          <p:cNvSpPr/>
          <p:nvPr/>
        </p:nvSpPr>
        <p:spPr>
          <a:xfrm>
            <a:off x="5426964" y="1792224"/>
            <a:ext cx="64008" cy="2457794"/>
          </a:xfrm>
          <a:prstGeom prst="rect">
            <a:avLst/>
          </a:prstGeom>
          <a:solidFill>
            <a:srgbClr val="7C3AED"/>
          </a:solidFill>
          <a:ln/>
        </p:spPr>
        <p:txBody>
          <a:bodyPr/>
          <a:lstStyle/>
          <a:p>
            <a:endParaRPr lang="en-US"/>
          </a:p>
        </p:txBody>
      </p:sp>
      <p:sp>
        <p:nvSpPr>
          <p:cNvPr id="29" name="Text 27"/>
          <p:cNvSpPr/>
          <p:nvPr/>
        </p:nvSpPr>
        <p:spPr>
          <a:xfrm>
            <a:off x="5600700" y="1810512"/>
            <a:ext cx="3035808" cy="329184"/>
          </a:xfrm>
          <a:prstGeom prst="rect">
            <a:avLst/>
          </a:prstGeom>
          <a:noFill/>
          <a:ln/>
        </p:spPr>
        <p:txBody>
          <a:bodyPr wrap="square" lIns="0" tIns="0" rIns="0" bIns="0"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Stage 3: Augmentation</a:t>
            </a:r>
            <a:endParaRPr lang="en-US" sz="1400" dirty="0"/>
          </a:p>
        </p:txBody>
      </p:sp>
      <p:sp>
        <p:nvSpPr>
          <p:cNvPr id="30" name="Text 28"/>
          <p:cNvSpPr/>
          <p:nvPr/>
        </p:nvSpPr>
        <p:spPr>
          <a:xfrm>
            <a:off x="5586984" y="2157984"/>
            <a:ext cx="3035808" cy="1819656"/>
          </a:xfrm>
          <a:prstGeom prst="rect">
            <a:avLst/>
          </a:prstGeom>
          <a:noFill/>
          <a:ln/>
        </p:spPr>
        <p:txBody>
          <a:bodyPr wrap="square" lIns="0" tIns="0" rIns="0" bIns="0" rtlCol="0" anchor="t"/>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For each pair in the max clique K (selected with probability p</a:t>
            </a:r>
            <a:r>
              <a:rPr lang="en-US" sz="1100" baseline="-25000" dirty="0">
                <a:solidFill>
                  <a:srgbClr val="475569"/>
                </a:solidFill>
                <a:latin typeface="Calibri" pitchFamily="34" charset="0"/>
                <a:ea typeface="Calibri" pitchFamily="34" charset="-122"/>
                <a:cs typeface="Calibri" pitchFamily="34" charset="-120"/>
              </a:rPr>
              <a:t>clique</a:t>
            </a:r>
            <a:r>
              <a:rPr lang="en-US" sz="1100" dirty="0">
                <a:solidFill>
                  <a:srgbClr val="475569"/>
                </a:solidFill>
                <a:latin typeface="Calibri" pitchFamily="34" charset="0"/>
                <a:ea typeface="Calibri" pitchFamily="34" charset="-122"/>
                <a:cs typeface="Calibri" pitchFamily="34" charset="-120"/>
              </a:rPr>
              <a:t>):</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Inflate edge weights of already-known path pairs to discourage reuse</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Rerun Suurballe's on inflated graph → new detour pair (forced to avoid known edges)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Repeat up to k times — adds diverse alternative routes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Final ILP has richer routing options precisely where contention is worst</a:t>
            </a:r>
            <a:endParaRPr lang="en-US" sz="1100" dirty="0"/>
          </a:p>
        </p:txBody>
      </p:sp>
      <p:sp>
        <p:nvSpPr>
          <p:cNvPr id="31" name="Text 29"/>
          <p:cNvSpPr/>
          <p:nvPr/>
        </p:nvSpPr>
        <p:spPr>
          <a:xfrm>
            <a:off x="406908" y="4320539"/>
            <a:ext cx="8229600" cy="347472"/>
          </a:xfrm>
          <a:prstGeom prst="rect">
            <a:avLst/>
          </a:prstGeom>
          <a:noFill/>
          <a:ln/>
        </p:spPr>
        <p:txBody>
          <a:bodyPr wrap="square" rtlCol="0" anchor="ctr"/>
          <a:lstStyle/>
          <a:p>
            <a:pPr marL="0" indent="0">
              <a:buNone/>
            </a:pPr>
            <a:r>
              <a:rPr lang="en-US" sz="1300" i="1" dirty="0">
                <a:solidFill>
                  <a:srgbClr val="475569"/>
                </a:solidFill>
                <a:latin typeface="Calibri" pitchFamily="34" charset="0"/>
                <a:ea typeface="Calibri" pitchFamily="34" charset="-122"/>
                <a:cs typeface="Calibri" pitchFamily="34" charset="-120"/>
              </a:rPr>
              <a:t>After augmentation: solve the joint RSA ILP using Lagrangian relaxation — dualizing the contention constraint and solving with a subgradient algorithm.</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3000" b="1" dirty="0">
                <a:solidFill>
                  <a:srgbClr val="0D9488"/>
                </a:solidFill>
                <a:latin typeface="Calibri" pitchFamily="34" charset="0"/>
                <a:ea typeface="Calibri" pitchFamily="34" charset="-122"/>
                <a:cs typeface="Calibri" pitchFamily="34" charset="-120"/>
              </a:rPr>
              <a:t>Solving the ILP: Lagrangian Relaxation</a:t>
            </a:r>
            <a:endParaRPr lang="en-US" sz="3000" dirty="0"/>
          </a:p>
        </p:txBody>
      </p:sp>
      <p:sp>
        <p:nvSpPr>
          <p:cNvPr id="3" name="Shape 1"/>
          <p:cNvSpPr/>
          <p:nvPr/>
        </p:nvSpPr>
        <p:spPr>
          <a:xfrm>
            <a:off x="457200" y="841248"/>
            <a:ext cx="8229600" cy="27432"/>
          </a:xfrm>
          <a:prstGeom prst="rect">
            <a:avLst/>
          </a:prstGeom>
          <a:solidFill>
            <a:srgbClr val="0D9488"/>
          </a:solidFill>
          <a:ln/>
        </p:spPr>
        <p:txBody>
          <a:bodyPr/>
          <a:lstStyle/>
          <a:p>
            <a:endParaRPr lang="en-US"/>
          </a:p>
        </p:txBody>
      </p:sp>
      <p:sp>
        <p:nvSpPr>
          <p:cNvPr id="4" name="Text 2"/>
          <p:cNvSpPr/>
          <p:nvPr/>
        </p:nvSpPr>
        <p:spPr>
          <a:xfrm>
            <a:off x="457200" y="1005840"/>
            <a:ext cx="8229600" cy="420624"/>
          </a:xfrm>
          <a:prstGeom prst="rect">
            <a:avLst/>
          </a:prstGeom>
          <a:noFill/>
          <a:ln/>
        </p:spPr>
        <p:txBody>
          <a:bodyPr wrap="square" rtlCol="0" anchor="ctr"/>
          <a:lstStyle/>
          <a:p>
            <a:pPr marL="0" indent="0">
              <a:buNone/>
            </a:pPr>
            <a:r>
              <a:rPr lang="en-US" sz="1400" dirty="0">
                <a:solidFill>
                  <a:srgbClr val="475569"/>
                </a:solidFill>
                <a:latin typeface="Calibri" pitchFamily="34" charset="0"/>
                <a:ea typeface="Calibri" pitchFamily="34" charset="-122"/>
                <a:cs typeface="Calibri" pitchFamily="34" charset="-120"/>
              </a:rPr>
              <a:t>The joint RSA ILP is hard to solve directly due to the contention constraint coupling all path pairs. Lagrangian relaxation moves this constraint into the objective.</a:t>
            </a:r>
            <a:endParaRPr lang="en-US" sz="1400" dirty="0"/>
          </a:p>
        </p:txBody>
      </p:sp>
      <p:sp>
        <p:nvSpPr>
          <p:cNvPr id="5" name="Shape 3"/>
          <p:cNvSpPr/>
          <p:nvPr/>
        </p:nvSpPr>
        <p:spPr>
          <a:xfrm>
            <a:off x="457200" y="1426464"/>
            <a:ext cx="3840480" cy="1426464"/>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6" name="Shape 4"/>
          <p:cNvSpPr/>
          <p:nvPr/>
        </p:nvSpPr>
        <p:spPr>
          <a:xfrm>
            <a:off x="457200" y="1426464"/>
            <a:ext cx="68580" cy="1426464"/>
          </a:xfrm>
          <a:prstGeom prst="rect">
            <a:avLst/>
          </a:prstGeom>
          <a:solidFill>
            <a:srgbClr val="0D9488"/>
          </a:solidFill>
          <a:ln/>
        </p:spPr>
        <p:txBody>
          <a:bodyPr/>
          <a:lstStyle/>
          <a:p>
            <a:endParaRPr lang="en-US"/>
          </a:p>
        </p:txBody>
      </p:sp>
      <p:sp>
        <p:nvSpPr>
          <p:cNvPr id="7" name="Text 5"/>
          <p:cNvSpPr/>
          <p:nvPr/>
        </p:nvSpPr>
        <p:spPr>
          <a:xfrm>
            <a:off x="617220" y="1380744"/>
            <a:ext cx="3584448" cy="329184"/>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What Is Lagrangian Relaxation?</a:t>
            </a:r>
            <a:endParaRPr lang="en-US" sz="1100" dirty="0"/>
          </a:p>
        </p:txBody>
      </p:sp>
      <p:sp>
        <p:nvSpPr>
          <p:cNvPr id="8" name="Text 6"/>
          <p:cNvSpPr/>
          <p:nvPr/>
        </p:nvSpPr>
        <p:spPr>
          <a:xfrm>
            <a:off x="548640" y="1632848"/>
            <a:ext cx="3749040" cy="969264"/>
          </a:xfrm>
          <a:prstGeom prst="rect">
            <a:avLst/>
          </a:prstGeom>
          <a:noFill/>
          <a:ln/>
        </p:spPr>
        <p:txBody>
          <a:bodyPr wrap="square" lIns="0" tIns="0" rIns="0" bIns="0" rtlCol="0" anchor="t"/>
          <a:lstStyle/>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A technique for large-scale optimization: "relax" one hard constraint by adding it to the objective with a penalty</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For our problem: the contention constraint (no two overlapping pairs share a channel) is dualized</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Adding a penalty λ × (violation) to the objective makes the remaining problem much easier to solve</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The resulting "relaxed" problem gives an upper bound on the true optimal T*</a:t>
            </a:r>
            <a:endParaRPr lang="en-US" sz="1000" dirty="0"/>
          </a:p>
        </p:txBody>
      </p:sp>
      <p:sp>
        <p:nvSpPr>
          <p:cNvPr id="9" name="Shape 7"/>
          <p:cNvSpPr/>
          <p:nvPr/>
        </p:nvSpPr>
        <p:spPr>
          <a:xfrm>
            <a:off x="4434840" y="1426464"/>
            <a:ext cx="4251960" cy="1426464"/>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0" name="Shape 8"/>
          <p:cNvSpPr/>
          <p:nvPr/>
        </p:nvSpPr>
        <p:spPr>
          <a:xfrm>
            <a:off x="4434840" y="1426464"/>
            <a:ext cx="73152" cy="1426464"/>
          </a:xfrm>
          <a:prstGeom prst="rect">
            <a:avLst/>
          </a:prstGeom>
          <a:solidFill>
            <a:srgbClr val="D97706"/>
          </a:solidFill>
          <a:ln/>
        </p:spPr>
        <p:txBody>
          <a:bodyPr/>
          <a:lstStyle/>
          <a:p>
            <a:endParaRPr lang="en-US"/>
          </a:p>
        </p:txBody>
      </p:sp>
      <p:sp>
        <p:nvSpPr>
          <p:cNvPr id="11" name="Text 9"/>
          <p:cNvSpPr/>
          <p:nvPr/>
        </p:nvSpPr>
        <p:spPr>
          <a:xfrm>
            <a:off x="4599432" y="1376172"/>
            <a:ext cx="3995928" cy="329184"/>
          </a:xfrm>
          <a:prstGeom prst="rect">
            <a:avLst/>
          </a:prstGeom>
          <a:noFill/>
          <a:ln/>
        </p:spPr>
        <p:txBody>
          <a:bodyPr wrap="square" lIns="0" tIns="0" rIns="0" bIns="0" rtlCol="0" anchor="ctr"/>
          <a:lstStyle/>
          <a:p>
            <a:pPr marL="0" indent="0">
              <a:buNone/>
            </a:pPr>
            <a:r>
              <a:rPr lang="en-US" sz="1100" b="1" dirty="0">
                <a:solidFill>
                  <a:srgbClr val="D97706"/>
                </a:solidFill>
                <a:latin typeface="Calibri" pitchFamily="34" charset="0"/>
                <a:ea typeface="Calibri" pitchFamily="34" charset="-122"/>
                <a:cs typeface="Calibri" pitchFamily="34" charset="-120"/>
              </a:rPr>
              <a:t>The Subgradient Algorithm</a:t>
            </a:r>
            <a:endParaRPr lang="en-US" sz="1100" dirty="0"/>
          </a:p>
        </p:txBody>
      </p:sp>
      <p:sp>
        <p:nvSpPr>
          <p:cNvPr id="12" name="Text 10"/>
          <p:cNvSpPr/>
          <p:nvPr/>
        </p:nvSpPr>
        <p:spPr>
          <a:xfrm>
            <a:off x="4572000" y="1655064"/>
            <a:ext cx="4114800" cy="969264"/>
          </a:xfrm>
          <a:prstGeom prst="rect">
            <a:avLst/>
          </a:prstGeom>
          <a:noFill/>
          <a:ln/>
        </p:spPr>
        <p:txBody>
          <a:bodyPr wrap="square" lIns="0" tIns="0" rIns="0" bIns="0" rtlCol="0" anchor="t"/>
          <a:lstStyle/>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Iteratively update the penalty multipliers λ using the Polyak step-size rule</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At each iteration: solve the relaxed LP, apply a greedy primal heuristic to recover a feasible integer solution</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The primal heuristic gives a lower bound LB; the relaxed LP gives an upper bound UB</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When the optimality gap (UB-LB)/(1+|LB|) &lt; ε, stop. Otherwise continue up to budget.</a:t>
            </a:r>
            <a:endParaRPr lang="en-US" sz="1000" dirty="0"/>
          </a:p>
        </p:txBody>
      </p:sp>
      <p:sp>
        <p:nvSpPr>
          <p:cNvPr id="13" name="Shape 11"/>
          <p:cNvSpPr/>
          <p:nvPr/>
        </p:nvSpPr>
        <p:spPr>
          <a:xfrm>
            <a:off x="457200" y="2907791"/>
            <a:ext cx="3840480" cy="1792997"/>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4" name="Shape 12"/>
          <p:cNvSpPr/>
          <p:nvPr/>
        </p:nvSpPr>
        <p:spPr>
          <a:xfrm>
            <a:off x="457200" y="2907792"/>
            <a:ext cx="64008" cy="1792996"/>
          </a:xfrm>
          <a:prstGeom prst="rect">
            <a:avLst/>
          </a:prstGeom>
          <a:solidFill>
            <a:srgbClr val="0D9488"/>
          </a:solidFill>
          <a:ln/>
        </p:spPr>
        <p:txBody>
          <a:bodyPr/>
          <a:lstStyle/>
          <a:p>
            <a:endParaRPr lang="en-US"/>
          </a:p>
        </p:txBody>
      </p:sp>
      <p:sp>
        <p:nvSpPr>
          <p:cNvPr id="15" name="Text 13"/>
          <p:cNvSpPr/>
          <p:nvPr/>
        </p:nvSpPr>
        <p:spPr>
          <a:xfrm>
            <a:off x="621792" y="2852928"/>
            <a:ext cx="3584448" cy="329184"/>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Greedy Primal Heuristic</a:t>
            </a:r>
            <a:endParaRPr lang="en-US" sz="1100" dirty="0"/>
          </a:p>
        </p:txBody>
      </p:sp>
      <p:sp>
        <p:nvSpPr>
          <p:cNvPr id="16" name="Text 14"/>
          <p:cNvSpPr/>
          <p:nvPr/>
        </p:nvSpPr>
        <p:spPr>
          <a:xfrm>
            <a:off x="530352" y="3082236"/>
            <a:ext cx="3767328" cy="969264"/>
          </a:xfrm>
          <a:prstGeom prst="rect">
            <a:avLst/>
          </a:prstGeom>
          <a:noFill/>
          <a:ln/>
        </p:spPr>
        <p:txBody>
          <a:bodyPr wrap="square" lIns="0" tIns="0" rIns="0" bIns="0" rtlCol="0" anchor="t"/>
          <a:lstStyle/>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After each LP solve: round the fractional LP solution to an integer feasible solution</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Assign exactly one channel to each chosen path pair (start with one channel per pair)</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Add channels in round-robin order — prioritizing weaker pairs (lower η) first</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Continue until no further conflict-free channel assignment is possible</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This gives a valid lower bound at every iteration — and the best LB is kept</a:t>
            </a:r>
            <a:endParaRPr lang="en-US" sz="1000" dirty="0"/>
          </a:p>
        </p:txBody>
      </p:sp>
      <p:sp>
        <p:nvSpPr>
          <p:cNvPr id="17" name="Shape 15"/>
          <p:cNvSpPr/>
          <p:nvPr/>
        </p:nvSpPr>
        <p:spPr>
          <a:xfrm>
            <a:off x="4434840" y="2907792"/>
            <a:ext cx="4251960" cy="1792996"/>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8" name="Shape 16"/>
          <p:cNvSpPr/>
          <p:nvPr/>
        </p:nvSpPr>
        <p:spPr>
          <a:xfrm>
            <a:off x="4434840" y="2907791"/>
            <a:ext cx="73152" cy="1792995"/>
          </a:xfrm>
          <a:prstGeom prst="rect">
            <a:avLst/>
          </a:prstGeom>
          <a:solidFill>
            <a:srgbClr val="7C3AED"/>
          </a:solidFill>
          <a:ln/>
        </p:spPr>
        <p:txBody>
          <a:bodyPr/>
          <a:lstStyle/>
          <a:p>
            <a:endParaRPr lang="en-US"/>
          </a:p>
        </p:txBody>
      </p:sp>
      <p:sp>
        <p:nvSpPr>
          <p:cNvPr id="19" name="Text 17"/>
          <p:cNvSpPr/>
          <p:nvPr/>
        </p:nvSpPr>
        <p:spPr>
          <a:xfrm>
            <a:off x="4599432" y="2852928"/>
            <a:ext cx="3995928" cy="329184"/>
          </a:xfrm>
          <a:prstGeom prst="rect">
            <a:avLst/>
          </a:prstGeom>
          <a:noFill/>
          <a:ln/>
        </p:spPr>
        <p:txBody>
          <a:bodyPr wrap="square" lIns="0" tIns="0" rIns="0" bIns="0" rtlCol="0" anchor="ctr"/>
          <a:lstStyle/>
          <a:p>
            <a:pPr marL="0" indent="0">
              <a:buNone/>
            </a:pPr>
            <a:r>
              <a:rPr lang="en-US" sz="1100" b="1" dirty="0">
                <a:solidFill>
                  <a:srgbClr val="7C3AED"/>
                </a:solidFill>
                <a:latin typeface="Calibri" pitchFamily="34" charset="0"/>
                <a:ea typeface="Calibri" pitchFamily="34" charset="-122"/>
                <a:cs typeface="Calibri" pitchFamily="34" charset="-120"/>
              </a:rPr>
              <a:t>Why This Works Well Here</a:t>
            </a:r>
            <a:endParaRPr lang="en-US" sz="1100" dirty="0"/>
          </a:p>
        </p:txBody>
      </p:sp>
      <p:sp>
        <p:nvSpPr>
          <p:cNvPr id="20" name="Text 18"/>
          <p:cNvSpPr/>
          <p:nvPr/>
        </p:nvSpPr>
        <p:spPr>
          <a:xfrm>
            <a:off x="4572000" y="3168396"/>
            <a:ext cx="3995928" cy="969264"/>
          </a:xfrm>
          <a:prstGeom prst="rect">
            <a:avLst/>
          </a:prstGeom>
          <a:noFill/>
          <a:ln/>
        </p:spPr>
        <p:txBody>
          <a:bodyPr wrap="square" lIns="0" tIns="0" rIns="0" bIns="0" rtlCol="0" anchor="t"/>
          <a:lstStyle/>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The contention constraint is the only "hard" coupling — once relaxed, the remaining ILP decomposes nicely per path pair</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The conflict graph structure helps: only pairs with shared edges actually couple through the contention constraint</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With RCH providing richer routing options, the relaxed problem explores a better feasible region</a:t>
            </a:r>
            <a:endParaRPr lang="en-US" sz="1000" dirty="0"/>
          </a:p>
          <a:p>
            <a:pPr marL="342900" indent="-342900">
              <a:buSzPct val="100000"/>
              <a:buChar char="•"/>
            </a:pPr>
            <a:r>
              <a:rPr lang="en-US" sz="1000" dirty="0">
                <a:solidFill>
                  <a:srgbClr val="475569"/>
                </a:solidFill>
                <a:latin typeface="Calibri" pitchFamily="34" charset="0"/>
                <a:ea typeface="Calibri" pitchFamily="34" charset="-122"/>
                <a:cs typeface="Calibri" pitchFamily="34" charset="-120"/>
              </a:rPr>
              <a:t>Computational cost scales with the number of conflicts — manageable in practice</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9488"/>
          </a:solidFill>
          <a:ln/>
        </p:spPr>
        <p:txBody>
          <a:bodyPr/>
          <a:lstStyle/>
          <a:p>
            <a:endParaRPr lang="en-US"/>
          </a:p>
        </p:txBody>
      </p:sp>
      <p:sp>
        <p:nvSpPr>
          <p:cNvPr id="3" name="Text 1"/>
          <p:cNvSpPr/>
          <p:nvPr/>
        </p:nvSpPr>
        <p:spPr>
          <a:xfrm>
            <a:off x="320040" y="0"/>
            <a:ext cx="8503920" cy="50292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ACTIVITY  5</a:t>
            </a:r>
            <a:endParaRPr lang="en-US" sz="1500" dirty="0"/>
          </a:p>
        </p:txBody>
      </p:sp>
      <p:sp>
        <p:nvSpPr>
          <p:cNvPr id="4" name="Text 2"/>
          <p:cNvSpPr/>
          <p:nvPr/>
        </p:nvSpPr>
        <p:spPr>
          <a:xfrm>
            <a:off x="457200" y="658368"/>
            <a:ext cx="8229600" cy="502920"/>
          </a:xfrm>
          <a:prstGeom prst="rect">
            <a:avLst/>
          </a:prstGeom>
          <a:noFill/>
          <a:ln/>
        </p:spPr>
        <p:txBody>
          <a:bodyPr wrap="square" rtlCol="0" anchor="ctr"/>
          <a:lstStyle/>
          <a:p>
            <a:pPr marL="0" indent="0">
              <a:buNone/>
            </a:pPr>
            <a:r>
              <a:rPr lang="en-US" sz="2400" b="1" dirty="0">
                <a:solidFill>
                  <a:srgbClr val="0D9488"/>
                </a:solidFill>
                <a:latin typeface="Calibri" pitchFamily="34" charset="0"/>
                <a:ea typeface="Calibri" pitchFamily="34" charset="-122"/>
                <a:cs typeface="Calibri" pitchFamily="34" charset="-120"/>
              </a:rPr>
              <a:t>Calculate the Throughput</a:t>
            </a:r>
            <a:endParaRPr lang="en-US" sz="2400" dirty="0"/>
          </a:p>
        </p:txBody>
      </p:sp>
      <p:sp>
        <p:nvSpPr>
          <p:cNvPr id="5" name="Text 3"/>
          <p:cNvSpPr/>
          <p:nvPr/>
        </p:nvSpPr>
        <p:spPr>
          <a:xfrm>
            <a:off x="457200" y="1188720"/>
            <a:ext cx="8229600" cy="347472"/>
          </a:xfrm>
          <a:prstGeom prst="rect">
            <a:avLst/>
          </a:prstGeom>
          <a:noFill/>
          <a:ln/>
        </p:spPr>
        <p:txBody>
          <a:bodyPr wrap="square" rtlCol="0" anchor="ctr"/>
          <a:lstStyle/>
          <a:p>
            <a:pPr marL="0" indent="0">
              <a:buNone/>
            </a:pPr>
            <a:r>
              <a:rPr lang="en-US" sz="1400" i="1" dirty="0">
                <a:solidFill>
                  <a:srgbClr val="475569"/>
                </a:solidFill>
                <a:latin typeface="Calibri" pitchFamily="34" charset="0"/>
                <a:ea typeface="Calibri" pitchFamily="34" charset="-122"/>
                <a:cs typeface="Calibri" pitchFamily="34" charset="-120"/>
              </a:rPr>
              <a:t>Use the transmittance formula η = 10</a:t>
            </a:r>
            <a:r>
              <a:rPr lang="en-US" sz="1400" i="1" baseline="30000" dirty="0">
                <a:solidFill>
                  <a:srgbClr val="475569"/>
                </a:solidFill>
                <a:latin typeface="Calibri" pitchFamily="34" charset="0"/>
                <a:ea typeface="Calibri" pitchFamily="34" charset="-122"/>
                <a:cs typeface="Calibri" pitchFamily="34" charset="-120"/>
              </a:rPr>
              <a:t>(−l/10) </a:t>
            </a:r>
            <a:r>
              <a:rPr lang="en-US" sz="1400" i="1" dirty="0">
                <a:solidFill>
                  <a:srgbClr val="475569"/>
                </a:solidFill>
                <a:latin typeface="Calibri" pitchFamily="34" charset="0"/>
                <a:ea typeface="Calibri" pitchFamily="34" charset="-122"/>
                <a:cs typeface="Calibri" pitchFamily="34" charset="-120"/>
              </a:rPr>
              <a:t>where l is total path length. Work through each scenario with a partner.</a:t>
            </a:r>
            <a:endParaRPr lang="en-US" sz="1400" dirty="0"/>
          </a:p>
        </p:txBody>
      </p:sp>
      <p:sp>
        <p:nvSpPr>
          <p:cNvPr id="6" name="Shape 4"/>
          <p:cNvSpPr/>
          <p:nvPr/>
        </p:nvSpPr>
        <p:spPr>
          <a:xfrm>
            <a:off x="457200" y="1645920"/>
            <a:ext cx="8229600" cy="457200"/>
          </a:xfrm>
          <a:prstGeom prst="rect">
            <a:avLst/>
          </a:prstGeom>
          <a:solidFill>
            <a:srgbClr val="1C2D5E"/>
          </a:solidFill>
          <a:ln/>
        </p:spPr>
        <p:txBody>
          <a:bodyPr/>
          <a:lstStyle/>
          <a:p>
            <a:endParaRPr lang="en-US"/>
          </a:p>
        </p:txBody>
      </p:sp>
      <p:sp>
        <p:nvSpPr>
          <p:cNvPr id="7" name="Text 5"/>
          <p:cNvSpPr/>
          <p:nvPr/>
        </p:nvSpPr>
        <p:spPr>
          <a:xfrm>
            <a:off x="457200" y="1645920"/>
            <a:ext cx="8229600" cy="45720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Formula:  η = 10</a:t>
            </a:r>
            <a:r>
              <a:rPr lang="en-US" sz="1300" baseline="30000" dirty="0">
                <a:solidFill>
                  <a:srgbClr val="FFFFFF"/>
                </a:solidFill>
                <a:latin typeface="Calibri" pitchFamily="34" charset="0"/>
                <a:ea typeface="Calibri" pitchFamily="34" charset="-122"/>
                <a:cs typeface="Calibri" pitchFamily="34" charset="-120"/>
              </a:rPr>
              <a:t>(−l/10)</a:t>
            </a:r>
            <a:r>
              <a:rPr lang="en-US" sz="1300" dirty="0">
                <a:solidFill>
                  <a:srgbClr val="FFFFFF"/>
                </a:solidFill>
                <a:latin typeface="Calibri" pitchFamily="34" charset="0"/>
                <a:ea typeface="Calibri" pitchFamily="34" charset="-122"/>
                <a:cs typeface="Calibri" pitchFamily="34" charset="-120"/>
              </a:rPr>
              <a:t>     |     l = length of path p</a:t>
            </a:r>
            <a:r>
              <a:rPr lang="en-US" sz="1300" baseline="-25000" dirty="0">
                <a:solidFill>
                  <a:srgbClr val="FFFFFF"/>
                </a:solidFill>
                <a:latin typeface="Calibri" pitchFamily="34" charset="0"/>
                <a:ea typeface="Calibri" pitchFamily="34" charset="-122"/>
                <a:cs typeface="Calibri" pitchFamily="34" charset="-120"/>
              </a:rPr>
              <a:t>i</a:t>
            </a:r>
            <a:r>
              <a:rPr lang="en-US" sz="1300" dirty="0">
                <a:solidFill>
                  <a:srgbClr val="FFFFFF"/>
                </a:solidFill>
                <a:latin typeface="Calibri" pitchFamily="34" charset="0"/>
                <a:ea typeface="Calibri" pitchFamily="34" charset="-122"/>
                <a:cs typeface="Calibri" pitchFamily="34" charset="-120"/>
              </a:rPr>
              <a:t> + length of path p</a:t>
            </a:r>
            <a:r>
              <a:rPr lang="en-US" sz="1300" baseline="-25000" dirty="0">
                <a:solidFill>
                  <a:srgbClr val="FFFFFF"/>
                </a:solidFill>
                <a:latin typeface="Calibri" pitchFamily="34" charset="0"/>
                <a:ea typeface="Calibri" pitchFamily="34" charset="-122"/>
                <a:cs typeface="Calibri" pitchFamily="34" charset="-120"/>
              </a:rPr>
              <a:t>j</a:t>
            </a:r>
            <a:r>
              <a:rPr lang="en-US" sz="1300" dirty="0">
                <a:solidFill>
                  <a:srgbClr val="FFFFFF"/>
                </a:solidFill>
                <a:latin typeface="Calibri" pitchFamily="34" charset="0"/>
                <a:ea typeface="Calibri" pitchFamily="34" charset="-122"/>
                <a:cs typeface="Calibri" pitchFamily="34" charset="-120"/>
              </a:rPr>
              <a:t>     |     Throughput T = η for one pair</a:t>
            </a:r>
            <a:endParaRPr lang="en-US" sz="1300" dirty="0"/>
          </a:p>
        </p:txBody>
      </p:sp>
      <p:sp>
        <p:nvSpPr>
          <p:cNvPr id="8" name="Shape 6"/>
          <p:cNvSpPr/>
          <p:nvPr/>
        </p:nvSpPr>
        <p:spPr>
          <a:xfrm>
            <a:off x="457200" y="2267712"/>
            <a:ext cx="502920" cy="384048"/>
          </a:xfrm>
          <a:prstGeom prst="rect">
            <a:avLst/>
          </a:prstGeom>
          <a:solidFill>
            <a:srgbClr val="0D9488"/>
          </a:solidFill>
          <a:ln/>
        </p:spPr>
        <p:txBody>
          <a:bodyPr/>
          <a:lstStyle/>
          <a:p>
            <a:endParaRPr lang="en-US"/>
          </a:p>
        </p:txBody>
      </p:sp>
      <p:sp>
        <p:nvSpPr>
          <p:cNvPr id="9" name="Text 7"/>
          <p:cNvSpPr/>
          <p:nvPr/>
        </p:nvSpPr>
        <p:spPr>
          <a:xfrm>
            <a:off x="457200" y="2267712"/>
            <a:ext cx="50292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Q1</a:t>
            </a:r>
            <a:endParaRPr lang="en-US" sz="1200" dirty="0"/>
          </a:p>
        </p:txBody>
      </p:sp>
      <p:sp>
        <p:nvSpPr>
          <p:cNvPr id="10" name="Text 8"/>
          <p:cNvSpPr/>
          <p:nvPr/>
        </p:nvSpPr>
        <p:spPr>
          <a:xfrm>
            <a:off x="1078992" y="2313432"/>
            <a:ext cx="7589520" cy="329184"/>
          </a:xfrm>
          <a:prstGeom prst="rect">
            <a:avLst/>
          </a:prstGeom>
          <a:noFill/>
          <a:ln/>
        </p:spPr>
        <p:txBody>
          <a:bodyPr wrap="square" rtlCol="0" anchor="ctr"/>
          <a:lstStyle/>
          <a:p>
            <a:pPr marL="0" indent="0">
              <a:buNone/>
            </a:pPr>
            <a:r>
              <a:rPr lang="en-US" sz="1300" dirty="0">
                <a:solidFill>
                  <a:srgbClr val="475569"/>
                </a:solidFill>
                <a:latin typeface="Calibri" pitchFamily="34" charset="0"/>
                <a:ea typeface="Calibri" pitchFamily="34" charset="-122"/>
                <a:cs typeface="Calibri" pitchFamily="34" charset="-120"/>
              </a:rPr>
              <a:t>Consumer pair (A, B): photon 1 travels 1.0 unit to Node A, photon 2 travels 1.0 unit to Node B. What is η? What fraction of EPR pairs are successfully delivered?</a:t>
            </a:r>
            <a:endParaRPr lang="en-US" sz="1300" dirty="0"/>
          </a:p>
        </p:txBody>
      </p:sp>
      <p:sp>
        <p:nvSpPr>
          <p:cNvPr id="11" name="Shape 9"/>
          <p:cNvSpPr/>
          <p:nvPr/>
        </p:nvSpPr>
        <p:spPr>
          <a:xfrm>
            <a:off x="457200" y="2862072"/>
            <a:ext cx="502920" cy="384048"/>
          </a:xfrm>
          <a:prstGeom prst="rect">
            <a:avLst/>
          </a:prstGeom>
          <a:solidFill>
            <a:srgbClr val="0D9488"/>
          </a:solidFill>
          <a:ln/>
        </p:spPr>
        <p:txBody>
          <a:bodyPr/>
          <a:lstStyle/>
          <a:p>
            <a:endParaRPr lang="en-US"/>
          </a:p>
        </p:txBody>
      </p:sp>
      <p:sp>
        <p:nvSpPr>
          <p:cNvPr id="12" name="Text 10"/>
          <p:cNvSpPr/>
          <p:nvPr/>
        </p:nvSpPr>
        <p:spPr>
          <a:xfrm>
            <a:off x="457200" y="2862072"/>
            <a:ext cx="50292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Q2</a:t>
            </a:r>
            <a:endParaRPr lang="en-US" sz="1200" dirty="0"/>
          </a:p>
        </p:txBody>
      </p:sp>
      <p:sp>
        <p:nvSpPr>
          <p:cNvPr id="13" name="Text 11"/>
          <p:cNvSpPr/>
          <p:nvPr/>
        </p:nvSpPr>
        <p:spPr>
          <a:xfrm>
            <a:off x="1078992" y="2907792"/>
            <a:ext cx="7589520" cy="329184"/>
          </a:xfrm>
          <a:prstGeom prst="rect">
            <a:avLst/>
          </a:prstGeom>
          <a:noFill/>
          <a:ln/>
        </p:spPr>
        <p:txBody>
          <a:bodyPr wrap="square" rtlCol="0" anchor="ctr"/>
          <a:lstStyle/>
          <a:p>
            <a:pPr marL="0" indent="0">
              <a:buNone/>
            </a:pPr>
            <a:r>
              <a:rPr lang="en-US" sz="1300" dirty="0">
                <a:solidFill>
                  <a:srgbClr val="475569"/>
                </a:solidFill>
                <a:latin typeface="Calibri" pitchFamily="34" charset="0"/>
                <a:ea typeface="Calibri" pitchFamily="34" charset="-122"/>
                <a:cs typeface="Calibri" pitchFamily="34" charset="-120"/>
              </a:rPr>
              <a:t>Consumer pair (C, D): photon 1 travels 2.0 units, photon 2 travels 3.0 units. Total l = 5.0. What is η? Compare to Q1 — how much worse is it?</a:t>
            </a:r>
            <a:endParaRPr lang="en-US" sz="1300" dirty="0"/>
          </a:p>
        </p:txBody>
      </p:sp>
      <p:sp>
        <p:nvSpPr>
          <p:cNvPr id="14" name="Shape 12"/>
          <p:cNvSpPr/>
          <p:nvPr/>
        </p:nvSpPr>
        <p:spPr>
          <a:xfrm>
            <a:off x="457200" y="3456432"/>
            <a:ext cx="502920" cy="384048"/>
          </a:xfrm>
          <a:prstGeom prst="rect">
            <a:avLst/>
          </a:prstGeom>
          <a:solidFill>
            <a:srgbClr val="0D9488"/>
          </a:solidFill>
          <a:ln/>
        </p:spPr>
        <p:txBody>
          <a:bodyPr/>
          <a:lstStyle/>
          <a:p>
            <a:endParaRPr lang="en-US"/>
          </a:p>
        </p:txBody>
      </p:sp>
      <p:sp>
        <p:nvSpPr>
          <p:cNvPr id="15" name="Text 13"/>
          <p:cNvSpPr/>
          <p:nvPr/>
        </p:nvSpPr>
        <p:spPr>
          <a:xfrm>
            <a:off x="457200" y="3456432"/>
            <a:ext cx="50292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Q3</a:t>
            </a:r>
            <a:endParaRPr lang="en-US" sz="1200" dirty="0"/>
          </a:p>
        </p:txBody>
      </p:sp>
      <p:sp>
        <p:nvSpPr>
          <p:cNvPr id="16" name="Text 14"/>
          <p:cNvSpPr/>
          <p:nvPr/>
        </p:nvSpPr>
        <p:spPr>
          <a:xfrm>
            <a:off x="1078992" y="3502152"/>
            <a:ext cx="7589520" cy="329184"/>
          </a:xfrm>
          <a:prstGeom prst="rect">
            <a:avLst/>
          </a:prstGeom>
          <a:noFill/>
          <a:ln/>
        </p:spPr>
        <p:txBody>
          <a:bodyPr wrap="square" rtlCol="0" anchor="ctr"/>
          <a:lstStyle/>
          <a:p>
            <a:pPr marL="0" indent="0">
              <a:buNone/>
            </a:pPr>
            <a:r>
              <a:rPr lang="en-US" sz="1300" dirty="0">
                <a:solidFill>
                  <a:srgbClr val="475569"/>
                </a:solidFill>
                <a:latin typeface="Calibri" pitchFamily="34" charset="0"/>
                <a:ea typeface="Calibri" pitchFamily="34" charset="-122"/>
                <a:cs typeface="Calibri" pitchFamily="34" charset="-120"/>
              </a:rPr>
              <a:t>The network operator can choose between two routings for pair (E, F):</a:t>
            </a:r>
            <a:endParaRPr lang="en-US" sz="1300" dirty="0"/>
          </a:p>
          <a:p>
            <a:pPr marL="0" indent="0">
              <a:buNone/>
            </a:pPr>
            <a:r>
              <a:rPr lang="en-US" sz="1300" dirty="0">
                <a:solidFill>
                  <a:srgbClr val="475569"/>
                </a:solidFill>
                <a:latin typeface="Calibri" pitchFamily="34" charset="0"/>
                <a:ea typeface="Calibri" pitchFamily="34" charset="-122"/>
                <a:cs typeface="Calibri" pitchFamily="34" charset="-120"/>
              </a:rPr>
              <a:t>  Option X: paths of 1.5 and 1.5 units (l = 3.0)</a:t>
            </a:r>
            <a:endParaRPr lang="en-US" sz="1300" dirty="0"/>
          </a:p>
          <a:p>
            <a:pPr marL="0" indent="0">
              <a:buNone/>
            </a:pPr>
            <a:r>
              <a:rPr lang="en-US" sz="1300" dirty="0">
                <a:solidFill>
                  <a:srgbClr val="475569"/>
                </a:solidFill>
                <a:latin typeface="Calibri" pitchFamily="34" charset="0"/>
                <a:ea typeface="Calibri" pitchFamily="34" charset="-122"/>
                <a:cs typeface="Calibri" pitchFamily="34" charset="-120"/>
              </a:rPr>
              <a:t>  Option Y: paths of 0.5 and 4.0 units (l = 4.5)</a:t>
            </a:r>
            <a:endParaRPr lang="en-US" sz="1300" dirty="0"/>
          </a:p>
          <a:p>
            <a:pPr marL="0" indent="0">
              <a:buNone/>
            </a:pPr>
            <a:r>
              <a:rPr lang="en-US" sz="1300" dirty="0">
                <a:solidFill>
                  <a:srgbClr val="475569"/>
                </a:solidFill>
                <a:latin typeface="Calibri" pitchFamily="34" charset="0"/>
                <a:ea typeface="Calibri" pitchFamily="34" charset="-122"/>
                <a:cs typeface="Calibri" pitchFamily="34" charset="-120"/>
              </a:rPr>
              <a:t>Which routing gives higher throughput? Calculate both η values.</a:t>
            </a:r>
            <a:endParaRPr lang="en-US" sz="1300" dirty="0"/>
          </a:p>
        </p:txBody>
      </p:sp>
      <p:sp>
        <p:nvSpPr>
          <p:cNvPr id="17" name="Shape 15"/>
          <p:cNvSpPr/>
          <p:nvPr/>
        </p:nvSpPr>
        <p:spPr>
          <a:xfrm>
            <a:off x="457200" y="4050792"/>
            <a:ext cx="502920" cy="384048"/>
          </a:xfrm>
          <a:prstGeom prst="rect">
            <a:avLst/>
          </a:prstGeom>
          <a:solidFill>
            <a:srgbClr val="0D9488"/>
          </a:solidFill>
          <a:ln/>
        </p:spPr>
        <p:txBody>
          <a:bodyPr/>
          <a:lstStyle/>
          <a:p>
            <a:endParaRPr lang="en-US"/>
          </a:p>
        </p:txBody>
      </p:sp>
      <p:sp>
        <p:nvSpPr>
          <p:cNvPr id="18" name="Text 16"/>
          <p:cNvSpPr/>
          <p:nvPr/>
        </p:nvSpPr>
        <p:spPr>
          <a:xfrm>
            <a:off x="457200" y="4050792"/>
            <a:ext cx="50292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Q4</a:t>
            </a:r>
            <a:endParaRPr lang="en-US" sz="1200" dirty="0"/>
          </a:p>
        </p:txBody>
      </p:sp>
      <p:sp>
        <p:nvSpPr>
          <p:cNvPr id="19" name="Text 17"/>
          <p:cNvSpPr/>
          <p:nvPr/>
        </p:nvSpPr>
        <p:spPr>
          <a:xfrm>
            <a:off x="1078992" y="4096512"/>
            <a:ext cx="7589520" cy="329184"/>
          </a:xfrm>
          <a:prstGeom prst="rect">
            <a:avLst/>
          </a:prstGeom>
          <a:noFill/>
          <a:ln/>
        </p:spPr>
        <p:txBody>
          <a:bodyPr wrap="square" rtlCol="0" anchor="ctr"/>
          <a:lstStyle/>
          <a:p>
            <a:pPr marL="0" indent="0">
              <a:buNone/>
            </a:pPr>
            <a:r>
              <a:rPr lang="en-US" sz="1300" dirty="0">
                <a:solidFill>
                  <a:srgbClr val="475569"/>
                </a:solidFill>
                <a:latin typeface="Calibri" pitchFamily="34" charset="0"/>
                <a:ea typeface="Calibri" pitchFamily="34" charset="-122"/>
                <a:cs typeface="Calibri" pitchFamily="34" charset="-120"/>
              </a:rPr>
              <a:t>If 3 channels are available and 4 consumer pairs all want to use the same bottleneck fiber link, how many can be served simultaneously? What happens to the other pair?</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9488"/>
          </a:solidFill>
          <a:ln/>
        </p:spPr>
        <p:txBody>
          <a:bodyPr/>
          <a:lstStyle/>
          <a:p>
            <a:endParaRPr lang="en-US"/>
          </a:p>
        </p:txBody>
      </p:sp>
      <p:sp>
        <p:nvSpPr>
          <p:cNvPr id="3" name="Text 1"/>
          <p:cNvSpPr/>
          <p:nvPr/>
        </p:nvSpPr>
        <p:spPr>
          <a:xfrm>
            <a:off x="320040" y="0"/>
            <a:ext cx="8503920" cy="50292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ACTIVITY  5 - Answers</a:t>
            </a:r>
            <a:endParaRPr lang="en-US" sz="1500" dirty="0"/>
          </a:p>
        </p:txBody>
      </p:sp>
      <p:sp>
        <p:nvSpPr>
          <p:cNvPr id="4" name="Text 2"/>
          <p:cNvSpPr/>
          <p:nvPr/>
        </p:nvSpPr>
        <p:spPr>
          <a:xfrm>
            <a:off x="457200" y="658368"/>
            <a:ext cx="8229600" cy="457200"/>
          </a:xfrm>
          <a:prstGeom prst="rect">
            <a:avLst/>
          </a:prstGeom>
          <a:noFill/>
          <a:ln/>
        </p:spPr>
        <p:txBody>
          <a:bodyPr wrap="square" rtlCol="0" anchor="ctr"/>
          <a:lstStyle/>
          <a:p>
            <a:pPr marL="0" indent="0">
              <a:buNone/>
            </a:pPr>
            <a:r>
              <a:rPr lang="en-US" sz="2200" b="1" dirty="0">
                <a:solidFill>
                  <a:srgbClr val="0D9488"/>
                </a:solidFill>
                <a:latin typeface="Calibri" pitchFamily="34" charset="0"/>
                <a:ea typeface="Calibri" pitchFamily="34" charset="-122"/>
                <a:cs typeface="Calibri" pitchFamily="34" charset="-120"/>
              </a:rPr>
              <a:t>Calculate the Throughput — Worked Answers</a:t>
            </a:r>
            <a:endParaRPr lang="en-US" sz="2200" dirty="0"/>
          </a:p>
        </p:txBody>
      </p:sp>
      <p:sp>
        <p:nvSpPr>
          <p:cNvPr id="5" name="Shape 3"/>
          <p:cNvSpPr/>
          <p:nvPr/>
        </p:nvSpPr>
        <p:spPr>
          <a:xfrm>
            <a:off x="457200" y="1280160"/>
            <a:ext cx="594360" cy="749808"/>
          </a:xfrm>
          <a:prstGeom prst="rect">
            <a:avLst/>
          </a:prstGeom>
          <a:solidFill>
            <a:srgbClr val="0D9488"/>
          </a:solidFill>
          <a:ln/>
        </p:spPr>
        <p:txBody>
          <a:bodyPr/>
          <a:lstStyle/>
          <a:p>
            <a:endParaRPr lang="en-US"/>
          </a:p>
        </p:txBody>
      </p:sp>
      <p:sp>
        <p:nvSpPr>
          <p:cNvPr id="6" name="Text 4"/>
          <p:cNvSpPr/>
          <p:nvPr/>
        </p:nvSpPr>
        <p:spPr>
          <a:xfrm>
            <a:off x="457200" y="1280160"/>
            <a:ext cx="594360"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Q1</a:t>
            </a:r>
            <a:endParaRPr lang="en-US" sz="1300" dirty="0"/>
          </a:p>
        </p:txBody>
      </p:sp>
      <p:sp>
        <p:nvSpPr>
          <p:cNvPr id="7" name="Shape 5"/>
          <p:cNvSpPr/>
          <p:nvPr/>
        </p:nvSpPr>
        <p:spPr>
          <a:xfrm>
            <a:off x="1170432" y="1280160"/>
            <a:ext cx="7516368" cy="749808"/>
          </a:xfrm>
          <a:prstGeom prst="rect">
            <a:avLst/>
          </a:prstGeom>
          <a:solidFill>
            <a:srgbClr val="0D9488">
              <a:alpha val="10000"/>
            </a:srgbClr>
          </a:solidFill>
          <a:ln w="10160">
            <a:solidFill>
              <a:srgbClr val="0D9488"/>
            </a:solidFill>
            <a:prstDash val="solid"/>
          </a:ln>
        </p:spPr>
        <p:txBody>
          <a:bodyPr/>
          <a:lstStyle/>
          <a:p>
            <a:endParaRPr lang="en-US"/>
          </a:p>
        </p:txBody>
      </p:sp>
      <p:sp>
        <p:nvSpPr>
          <p:cNvPr id="8" name="Text 6"/>
          <p:cNvSpPr/>
          <p:nvPr/>
        </p:nvSpPr>
        <p:spPr>
          <a:xfrm>
            <a:off x="1316736" y="1371600"/>
            <a:ext cx="7269480" cy="566928"/>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l = 1.0+1.0 = 2.0 →  η = 10^(−2.0/10) = 10^(−0.2) ≈ 0.631. About 63% of EPR pairs successfully delivered.</a:t>
            </a:r>
            <a:endParaRPr lang="en-US" sz="1250" dirty="0"/>
          </a:p>
        </p:txBody>
      </p:sp>
      <p:sp>
        <p:nvSpPr>
          <p:cNvPr id="9" name="Shape 7"/>
          <p:cNvSpPr/>
          <p:nvPr/>
        </p:nvSpPr>
        <p:spPr>
          <a:xfrm>
            <a:off x="457200" y="2176272"/>
            <a:ext cx="594360" cy="749808"/>
          </a:xfrm>
          <a:prstGeom prst="rect">
            <a:avLst/>
          </a:prstGeom>
          <a:solidFill>
            <a:srgbClr val="D97706"/>
          </a:solidFill>
          <a:ln/>
        </p:spPr>
        <p:txBody>
          <a:bodyPr/>
          <a:lstStyle/>
          <a:p>
            <a:endParaRPr lang="en-US"/>
          </a:p>
        </p:txBody>
      </p:sp>
      <p:sp>
        <p:nvSpPr>
          <p:cNvPr id="10" name="Text 8"/>
          <p:cNvSpPr/>
          <p:nvPr/>
        </p:nvSpPr>
        <p:spPr>
          <a:xfrm>
            <a:off x="457200" y="2176272"/>
            <a:ext cx="594360"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11" name="Shape 9"/>
          <p:cNvSpPr/>
          <p:nvPr/>
        </p:nvSpPr>
        <p:spPr>
          <a:xfrm>
            <a:off x="1170432" y="2176272"/>
            <a:ext cx="7516368" cy="749808"/>
          </a:xfrm>
          <a:prstGeom prst="rect">
            <a:avLst/>
          </a:prstGeom>
          <a:solidFill>
            <a:srgbClr val="D97706">
              <a:alpha val="10000"/>
            </a:srgbClr>
          </a:solidFill>
          <a:ln w="10160">
            <a:solidFill>
              <a:srgbClr val="D97706"/>
            </a:solidFill>
            <a:prstDash val="solid"/>
          </a:ln>
        </p:spPr>
        <p:txBody>
          <a:bodyPr/>
          <a:lstStyle/>
          <a:p>
            <a:endParaRPr lang="en-US"/>
          </a:p>
        </p:txBody>
      </p:sp>
      <p:sp>
        <p:nvSpPr>
          <p:cNvPr id="12" name="Text 10"/>
          <p:cNvSpPr/>
          <p:nvPr/>
        </p:nvSpPr>
        <p:spPr>
          <a:xfrm>
            <a:off x="1316736" y="2267712"/>
            <a:ext cx="7269480" cy="566928"/>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l = 2.0+3.0 = 5.0 →  η = 10^(−0.5) ≈ 0.316. Only 32% delivered — about half as efficient as Q1. Longer paths hurt substantially.</a:t>
            </a:r>
            <a:endParaRPr lang="en-US" sz="1250" dirty="0"/>
          </a:p>
        </p:txBody>
      </p:sp>
      <p:sp>
        <p:nvSpPr>
          <p:cNvPr id="13" name="Shape 11"/>
          <p:cNvSpPr/>
          <p:nvPr/>
        </p:nvSpPr>
        <p:spPr>
          <a:xfrm>
            <a:off x="457200" y="3072384"/>
            <a:ext cx="594360" cy="749808"/>
          </a:xfrm>
          <a:prstGeom prst="rect">
            <a:avLst/>
          </a:prstGeom>
          <a:solidFill>
            <a:srgbClr val="0D9488"/>
          </a:solidFill>
          <a:ln/>
        </p:spPr>
        <p:txBody>
          <a:bodyPr/>
          <a:lstStyle/>
          <a:p>
            <a:endParaRPr lang="en-US"/>
          </a:p>
        </p:txBody>
      </p:sp>
      <p:sp>
        <p:nvSpPr>
          <p:cNvPr id="14" name="Text 12"/>
          <p:cNvSpPr/>
          <p:nvPr/>
        </p:nvSpPr>
        <p:spPr>
          <a:xfrm>
            <a:off x="457200" y="3072384"/>
            <a:ext cx="594360"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Q3</a:t>
            </a:r>
            <a:endParaRPr lang="en-US" sz="1300" dirty="0"/>
          </a:p>
        </p:txBody>
      </p:sp>
      <p:sp>
        <p:nvSpPr>
          <p:cNvPr id="15" name="Shape 13"/>
          <p:cNvSpPr/>
          <p:nvPr/>
        </p:nvSpPr>
        <p:spPr>
          <a:xfrm>
            <a:off x="1170432" y="3072384"/>
            <a:ext cx="7516368" cy="749808"/>
          </a:xfrm>
          <a:prstGeom prst="rect">
            <a:avLst/>
          </a:prstGeom>
          <a:solidFill>
            <a:srgbClr val="0D9488">
              <a:alpha val="10000"/>
            </a:srgbClr>
          </a:solidFill>
          <a:ln w="10160">
            <a:solidFill>
              <a:srgbClr val="0D9488"/>
            </a:solidFill>
            <a:prstDash val="solid"/>
          </a:ln>
        </p:spPr>
        <p:txBody>
          <a:bodyPr/>
          <a:lstStyle/>
          <a:p>
            <a:endParaRPr lang="en-US"/>
          </a:p>
        </p:txBody>
      </p:sp>
      <p:sp>
        <p:nvSpPr>
          <p:cNvPr id="16" name="Text 14"/>
          <p:cNvSpPr/>
          <p:nvPr/>
        </p:nvSpPr>
        <p:spPr>
          <a:xfrm>
            <a:off x="1316736" y="3163824"/>
            <a:ext cx="7269480" cy="566928"/>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Option X: l = 3.0 →  η = 10^(−0.3) ≈ 0.501.  Option Y: l = 4.5 →  η = 10^(−0.45) ≈ 0.355.  Option X wins. Even though Y has one very short segment, the total length is what matters — balance helps!</a:t>
            </a:r>
            <a:endParaRPr lang="en-US" sz="1250" dirty="0"/>
          </a:p>
        </p:txBody>
      </p:sp>
      <p:sp>
        <p:nvSpPr>
          <p:cNvPr id="17" name="Shape 15"/>
          <p:cNvSpPr/>
          <p:nvPr/>
        </p:nvSpPr>
        <p:spPr>
          <a:xfrm>
            <a:off x="457200" y="3968496"/>
            <a:ext cx="594360" cy="749808"/>
          </a:xfrm>
          <a:prstGeom prst="rect">
            <a:avLst/>
          </a:prstGeom>
          <a:solidFill>
            <a:srgbClr val="7C3AED"/>
          </a:solidFill>
          <a:ln/>
        </p:spPr>
        <p:txBody>
          <a:bodyPr/>
          <a:lstStyle/>
          <a:p>
            <a:endParaRPr lang="en-US"/>
          </a:p>
        </p:txBody>
      </p:sp>
      <p:sp>
        <p:nvSpPr>
          <p:cNvPr id="18" name="Text 16"/>
          <p:cNvSpPr/>
          <p:nvPr/>
        </p:nvSpPr>
        <p:spPr>
          <a:xfrm>
            <a:off x="457200" y="3968496"/>
            <a:ext cx="594360"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Q4</a:t>
            </a:r>
            <a:endParaRPr lang="en-US" sz="1300" dirty="0"/>
          </a:p>
        </p:txBody>
      </p:sp>
      <p:sp>
        <p:nvSpPr>
          <p:cNvPr id="19" name="Shape 17"/>
          <p:cNvSpPr/>
          <p:nvPr/>
        </p:nvSpPr>
        <p:spPr>
          <a:xfrm>
            <a:off x="1170432" y="3968496"/>
            <a:ext cx="7516368" cy="749808"/>
          </a:xfrm>
          <a:prstGeom prst="rect">
            <a:avLst/>
          </a:prstGeom>
          <a:solidFill>
            <a:srgbClr val="7C3AED">
              <a:alpha val="10000"/>
            </a:srgbClr>
          </a:solidFill>
          <a:ln w="10160">
            <a:solidFill>
              <a:srgbClr val="7C3AED"/>
            </a:solidFill>
            <a:prstDash val="solid"/>
          </a:ln>
        </p:spPr>
        <p:txBody>
          <a:bodyPr/>
          <a:lstStyle/>
          <a:p>
            <a:endParaRPr lang="en-US"/>
          </a:p>
        </p:txBody>
      </p:sp>
      <p:sp>
        <p:nvSpPr>
          <p:cNvPr id="20" name="Text 18"/>
          <p:cNvSpPr/>
          <p:nvPr/>
        </p:nvSpPr>
        <p:spPr>
          <a:xfrm>
            <a:off x="1316736" y="4059936"/>
            <a:ext cx="7269480" cy="566928"/>
          </a:xfrm>
          <a:prstGeom prst="rect">
            <a:avLst/>
          </a:prstGeom>
          <a:noFill/>
          <a:ln/>
        </p:spPr>
        <p:txBody>
          <a:bodyPr wrap="square" rtlCol="0" anchor="ctr"/>
          <a:lstStyle/>
          <a:p>
            <a:pPr marL="0" indent="0">
              <a:buNone/>
            </a:pPr>
            <a:r>
              <a:rPr lang="en-US" sz="1250" dirty="0">
                <a:solidFill>
                  <a:srgbClr val="475569"/>
                </a:solidFill>
                <a:latin typeface="Calibri" pitchFamily="34" charset="0"/>
                <a:ea typeface="Calibri" pitchFamily="34" charset="-122"/>
                <a:cs typeface="Calibri" pitchFamily="34" charset="-120"/>
              </a:rPr>
              <a:t>With 3 channels and 4 pairs competing for the same link: at most 3 pairs can be served simultaneously (one per channel). The 4th pair is blocked — receives zero throughput. This is the contention scenario that motivated our joint RSA problem.</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9">
    <p:bg>
      <p:bgPr>
        <a:solidFill>
          <a:srgbClr val="7C3AED"/>
        </a:solidFill>
        <a:effectLst/>
      </p:bgPr>
    </p:bg>
    <p:spTree>
      <p:nvGrpSpPr>
        <p:cNvPr id="1" name=""/>
        <p:cNvGrpSpPr/>
        <p:nvPr/>
      </p:nvGrpSpPr>
      <p:grpSpPr>
        <a:xfrm>
          <a:off x="0" y="0"/>
          <a:ext cx="0" cy="0"/>
          <a:chOff x="0" y="0"/>
          <a:chExt cx="0" cy="0"/>
        </a:xfrm>
      </p:grpSpPr>
      <p:sp>
        <p:nvSpPr>
          <p:cNvPr id="2" name="Text 0"/>
          <p:cNvSpPr/>
          <p:nvPr/>
        </p:nvSpPr>
        <p:spPr>
          <a:xfrm>
            <a:off x="640080" y="1554480"/>
            <a:ext cx="7863840" cy="1097280"/>
          </a:xfrm>
          <a:prstGeom prst="rect">
            <a:avLst/>
          </a:prstGeom>
          <a:noFill/>
          <a:ln/>
        </p:spPr>
        <p:txBody>
          <a:bodyPr wrap="square" rtlCol="0" anchor="ctr"/>
          <a:lstStyle/>
          <a:p>
            <a:pPr marL="0" indent="0" algn="l">
              <a:buNone/>
            </a:pPr>
            <a:r>
              <a:rPr lang="en-US" sz="4200" b="1" dirty="0">
                <a:solidFill>
                  <a:srgbClr val="FFFFFF"/>
                </a:solidFill>
                <a:latin typeface="Calibri" pitchFamily="34" charset="0"/>
                <a:ea typeface="Calibri" pitchFamily="34" charset="-122"/>
                <a:cs typeface="Calibri" pitchFamily="34" charset="-120"/>
              </a:rPr>
              <a:t>Part 5: Lab Results &amp; Future Research</a:t>
            </a:r>
            <a:endParaRPr lang="en-US" sz="4200" dirty="0"/>
          </a:p>
        </p:txBody>
      </p:sp>
      <p:sp>
        <p:nvSpPr>
          <p:cNvPr id="3" name="Text 1"/>
          <p:cNvSpPr/>
          <p:nvPr/>
        </p:nvSpPr>
        <p:spPr>
          <a:xfrm>
            <a:off x="640080" y="2743200"/>
            <a:ext cx="7863840" cy="640080"/>
          </a:xfrm>
          <a:prstGeom prst="rect">
            <a:avLst/>
          </a:prstGeom>
          <a:noFill/>
          <a:ln/>
        </p:spPr>
        <p:txBody>
          <a:bodyPr wrap="square" rtlCol="0" anchor="ctr"/>
          <a:lstStyle/>
          <a:p>
            <a:pPr marL="0" indent="0" algn="l">
              <a:buNone/>
            </a:pPr>
            <a:r>
              <a:rPr lang="en-US" sz="1900" dirty="0">
                <a:solidFill>
                  <a:srgbClr val="DBEAFE"/>
                </a:solidFill>
                <a:latin typeface="Calibri" pitchFamily="34" charset="0"/>
                <a:ea typeface="Calibri" pitchFamily="34" charset="-122"/>
                <a:cs typeface="Calibri" pitchFamily="34" charset="-120"/>
              </a:rPr>
              <a:t>RCH results on ILEC topology + our next open problem</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3000" b="1" dirty="0">
                <a:solidFill>
                  <a:srgbClr val="7C3AED"/>
                </a:solidFill>
                <a:latin typeface="Calibri" pitchFamily="34" charset="0"/>
                <a:ea typeface="Calibri" pitchFamily="34" charset="-122"/>
                <a:cs typeface="Calibri" pitchFamily="34" charset="-120"/>
              </a:rPr>
              <a:t>Lab Results: RCH vs Separate RSA Baseline</a:t>
            </a:r>
            <a:endParaRPr lang="en-US" sz="3000" dirty="0"/>
          </a:p>
        </p:txBody>
      </p:sp>
      <p:sp>
        <p:nvSpPr>
          <p:cNvPr id="3" name="Shape 1"/>
          <p:cNvSpPr/>
          <p:nvPr/>
        </p:nvSpPr>
        <p:spPr>
          <a:xfrm>
            <a:off x="457200" y="841248"/>
            <a:ext cx="8229600" cy="27432"/>
          </a:xfrm>
          <a:prstGeom prst="rect">
            <a:avLst/>
          </a:prstGeom>
          <a:solidFill>
            <a:srgbClr val="7C3AED"/>
          </a:solidFill>
          <a:ln/>
        </p:spPr>
        <p:txBody>
          <a:bodyPr/>
          <a:lstStyle/>
          <a:p>
            <a:endParaRPr lang="en-US"/>
          </a:p>
        </p:txBody>
      </p:sp>
      <p:sp>
        <p:nvSpPr>
          <p:cNvPr id="4" name="Text 2"/>
          <p:cNvSpPr/>
          <p:nvPr/>
        </p:nvSpPr>
        <p:spPr>
          <a:xfrm>
            <a:off x="457199" y="809437"/>
            <a:ext cx="8229600" cy="420624"/>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ILEC 17-node topology · 15 consumer nodes · Node A = entanglement source · 6.25 GHz flex-grid slots</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2222311931"/>
              </p:ext>
            </p:extLst>
          </p:nvPr>
        </p:nvGraphicFramePr>
        <p:xfrm>
          <a:off x="457199" y="3239118"/>
          <a:ext cx="8029978" cy="1295400"/>
        </p:xfrm>
        <a:graphic>
          <a:graphicData uri="http://schemas.openxmlformats.org/drawingml/2006/table">
            <a:tbl>
              <a:tblPr/>
              <a:tblGrid>
                <a:gridCol w="2498215">
                  <a:extLst>
                    <a:ext uri="{9D8B030D-6E8A-4147-A177-3AD203B41FA5}">
                      <a16:colId xmlns:a16="http://schemas.microsoft.com/office/drawing/2014/main" val="20000"/>
                    </a:ext>
                  </a:extLst>
                </a:gridCol>
                <a:gridCol w="1605995">
                  <a:extLst>
                    <a:ext uri="{9D8B030D-6E8A-4147-A177-3AD203B41FA5}">
                      <a16:colId xmlns:a16="http://schemas.microsoft.com/office/drawing/2014/main" val="20001"/>
                    </a:ext>
                  </a:extLst>
                </a:gridCol>
                <a:gridCol w="2230550">
                  <a:extLst>
                    <a:ext uri="{9D8B030D-6E8A-4147-A177-3AD203B41FA5}">
                      <a16:colId xmlns:a16="http://schemas.microsoft.com/office/drawing/2014/main" val="20002"/>
                    </a:ext>
                  </a:extLst>
                </a:gridCol>
                <a:gridCol w="1695218">
                  <a:extLst>
                    <a:ext uri="{9D8B030D-6E8A-4147-A177-3AD203B41FA5}">
                      <a16:colId xmlns:a16="http://schemas.microsoft.com/office/drawing/2014/main" val="20003"/>
                    </a:ext>
                  </a:extLst>
                </a:gridCol>
              </a:tblGrid>
              <a:tr h="24410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D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Detour Depth k</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D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Min Throughput 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D5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Mean Link Utilization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D5E"/>
                    </a:solidFill>
                  </a:tcPr>
                </a:tc>
                <a:extLst>
                  <a:ext uri="{0D108BD9-81ED-4DB2-BD59-A6C34878D82A}">
                    <a16:rowId xmlns:a16="http://schemas.microsoft.com/office/drawing/2014/main" val="10000"/>
                  </a:ext>
                </a:extLst>
              </a:tr>
              <a:tr h="244106">
                <a:tc>
                  <a:txBody>
                    <a:bodyPr/>
                    <a:lstStyle/>
                    <a:p>
                      <a:pPr marL="0" indent="0">
                        <a:buNone/>
                      </a:pPr>
                      <a:r>
                        <a:rPr lang="en-US" sz="1100" dirty="0">
                          <a:solidFill>
                            <a:srgbClr val="475569"/>
                          </a:solidFill>
                          <a:latin typeface="Calibri" pitchFamily="34" charset="0"/>
                          <a:ea typeface="Calibri" pitchFamily="34" charset="-122"/>
                          <a:cs typeface="Calibri" pitchFamily="34" charset="-120"/>
                        </a:rPr>
                        <a:t>Separate RSA (baseline)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475569"/>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475569"/>
                          </a:solidFill>
                          <a:latin typeface="Calibri" pitchFamily="34" charset="0"/>
                          <a:ea typeface="Calibri" pitchFamily="34" charset="-122"/>
                          <a:cs typeface="Calibri" pitchFamily="34" charset="-120"/>
                        </a:rPr>
                        <a:t>8.14 × 10⁻³</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475569"/>
                          </a:solidFill>
                          <a:latin typeface="Calibri" pitchFamily="34" charset="0"/>
                          <a:ea typeface="Calibri" pitchFamily="34" charset="-122"/>
                          <a:cs typeface="Calibri" pitchFamily="34" charset="-120"/>
                        </a:rPr>
                        <a:t>0.06 (6%)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4106">
                <a:tc>
                  <a:txBody>
                    <a:bodyPr/>
                    <a:lstStyle/>
                    <a:p>
                      <a:pPr marL="0" indent="0">
                        <a:buNone/>
                      </a:pPr>
                      <a:r>
                        <a:rPr lang="en-US" sz="1100" dirty="0">
                          <a:solidFill>
                            <a:srgbClr val="475569"/>
                          </a:solidFill>
                          <a:latin typeface="Calibri" pitchFamily="34" charset="0"/>
                          <a:ea typeface="Calibri" pitchFamily="34" charset="-122"/>
                          <a:cs typeface="Calibri" pitchFamily="34" charset="-120"/>
                        </a:rPr>
                        <a:t>RCH — Our Approach</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475569"/>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475569"/>
                          </a:solidFill>
                          <a:latin typeface="Calibri" pitchFamily="34" charset="0"/>
                          <a:ea typeface="Calibri" pitchFamily="34" charset="-122"/>
                          <a:cs typeface="Calibri" pitchFamily="34" charset="-120"/>
                        </a:rPr>
                        <a:t>1.63 × 10⁻²  (+100%)</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475569"/>
                          </a:solidFill>
                          <a:latin typeface="Calibri" pitchFamily="34" charset="0"/>
                          <a:ea typeface="Calibri" pitchFamily="34" charset="-122"/>
                          <a:cs typeface="Calibri" pitchFamily="34" charset="-120"/>
                        </a:rPr>
                        <a:t>0.13 (13%)</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4106">
                <a:tc>
                  <a:txBody>
                    <a:bodyPr/>
                    <a:lstStyle/>
                    <a:p>
                      <a:pPr marL="0" indent="0">
                        <a:buNone/>
                      </a:pPr>
                      <a:r>
                        <a:rPr lang="en-US" sz="1100" dirty="0">
                          <a:solidFill>
                            <a:srgbClr val="475569"/>
                          </a:solidFill>
                          <a:latin typeface="Calibri" pitchFamily="34" charset="0"/>
                          <a:ea typeface="Calibri" pitchFamily="34" charset="-122"/>
                          <a:cs typeface="Calibri" pitchFamily="34" charset="-120"/>
                        </a:rPr>
                        <a:t>RCH — Our Approach</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475569"/>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475569"/>
                          </a:solidFill>
                          <a:latin typeface="Calibri" pitchFamily="34" charset="0"/>
                          <a:ea typeface="Calibri" pitchFamily="34" charset="-122"/>
                          <a:cs typeface="Calibri" pitchFamily="34" charset="-120"/>
                        </a:rPr>
                        <a:t>2.04 × 10⁻²  (+151%)  ✓</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475569"/>
                          </a:solidFill>
                          <a:latin typeface="Calibri" pitchFamily="34" charset="0"/>
                          <a:ea typeface="Calibri" pitchFamily="34" charset="-122"/>
                          <a:cs typeface="Calibri" pitchFamily="34" charset="-120"/>
                        </a:rPr>
                        <a:t>0.18 (18%)  ✓</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4106">
                <a:tc>
                  <a:txBody>
                    <a:bodyPr/>
                    <a:lstStyle/>
                    <a:p>
                      <a:pPr marL="0" indent="0">
                        <a:buNone/>
                      </a:pPr>
                      <a:r>
                        <a:rPr lang="en-US" sz="1100" dirty="0">
                          <a:solidFill>
                            <a:srgbClr val="475569"/>
                          </a:solidFill>
                          <a:latin typeface="Calibri" pitchFamily="34" charset="0"/>
                          <a:ea typeface="Calibri" pitchFamily="34" charset="-122"/>
                          <a:cs typeface="Calibri" pitchFamily="34" charset="-120"/>
                        </a:rPr>
                        <a:t>RCH — Our Approach</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47556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475569"/>
                          </a:solidFill>
                          <a:latin typeface="Calibri" pitchFamily="34" charset="0"/>
                          <a:ea typeface="Calibri" pitchFamily="34" charset="-122"/>
                          <a:cs typeface="Calibri" pitchFamily="34" charset="-120"/>
                        </a:rPr>
                        <a:t>2.04 × 10⁻²  (no further gain)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475569"/>
                          </a:solidFill>
                          <a:latin typeface="Calibri" pitchFamily="34" charset="0"/>
                          <a:ea typeface="Calibri" pitchFamily="34" charset="-122"/>
                          <a:cs typeface="Calibri" pitchFamily="34" charset="-120"/>
                        </a:rPr>
                        <a:t>0.20–0.21</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Text 12"/>
          <p:cNvSpPr/>
          <p:nvPr/>
        </p:nvSpPr>
        <p:spPr>
          <a:xfrm>
            <a:off x="457198" y="4537566"/>
            <a:ext cx="8229600" cy="420624"/>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Key finding: k=2 is optimal. Beyond k=2, detour paths are either too long (low η) or simply don't exist — diminishing returns. Over-augmenting (k≥5) hits computational budget limits before convergence.</a:t>
            </a:r>
            <a:endParaRPr lang="en-US" sz="1000" dirty="0"/>
          </a:p>
        </p:txBody>
      </p:sp>
      <p:pic>
        <p:nvPicPr>
          <p:cNvPr id="22" name="LabResults"/>
          <p:cNvPicPr>
            <a:picLocks noChangeAspect="1"/>
          </p:cNvPicPr>
          <p:nvPr/>
        </p:nvPicPr>
        <p:blipFill>
          <a:blip r:embed="rId3"/>
          <a:stretch>
            <a:fillRect/>
          </a:stretch>
        </p:blipFill>
        <p:spPr>
          <a:xfrm>
            <a:off x="1448873" y="1129643"/>
            <a:ext cx="6469057" cy="210947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pic>
        <p:nvPicPr>
          <p:cNvPr id="14" name="MultiSource"/>
          <p:cNvPicPr>
            <a:picLocks noChangeAspect="1"/>
          </p:cNvPicPr>
          <p:nvPr/>
        </p:nvPicPr>
        <p:blipFill>
          <a:blip r:embed="rId3"/>
          <a:stretch>
            <a:fillRect/>
          </a:stretch>
        </p:blipFill>
        <p:spPr>
          <a:xfrm>
            <a:off x="1408272" y="868680"/>
            <a:ext cx="5838058" cy="1808529"/>
          </a:xfrm>
          <a:prstGeom prst="rect">
            <a:avLst/>
          </a:prstGeom>
        </p:spPr>
      </p:pic>
      <p:sp>
        <p:nvSpPr>
          <p:cNvPr id="2" name="Text 0"/>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2800" b="1" dirty="0">
                <a:solidFill>
                  <a:srgbClr val="7C3AED"/>
                </a:solidFill>
                <a:latin typeface="Calibri" pitchFamily="34" charset="0"/>
                <a:ea typeface="Calibri" pitchFamily="34" charset="-122"/>
                <a:cs typeface="Calibri" pitchFamily="34" charset="-120"/>
              </a:rPr>
              <a:t>Our Next Research Problem: Multi-Source Placement</a:t>
            </a:r>
            <a:endParaRPr lang="en-US" sz="2800" dirty="0"/>
          </a:p>
        </p:txBody>
      </p:sp>
      <p:sp>
        <p:nvSpPr>
          <p:cNvPr id="3" name="Shape 1"/>
          <p:cNvSpPr/>
          <p:nvPr/>
        </p:nvSpPr>
        <p:spPr>
          <a:xfrm>
            <a:off x="457200" y="841248"/>
            <a:ext cx="8229600" cy="27432"/>
          </a:xfrm>
          <a:prstGeom prst="rect">
            <a:avLst/>
          </a:prstGeom>
          <a:solidFill>
            <a:srgbClr val="7C3AED"/>
          </a:solidFill>
          <a:ln/>
        </p:spPr>
        <p:txBody>
          <a:bodyPr/>
          <a:lstStyle/>
          <a:p>
            <a:endParaRPr lang="en-US"/>
          </a:p>
        </p:txBody>
      </p:sp>
      <p:sp>
        <p:nvSpPr>
          <p:cNvPr id="5" name="Shape 3"/>
          <p:cNvSpPr/>
          <p:nvPr/>
        </p:nvSpPr>
        <p:spPr>
          <a:xfrm>
            <a:off x="547352" y="2571750"/>
            <a:ext cx="3749040" cy="2251420"/>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6" name="Shape 4"/>
          <p:cNvSpPr/>
          <p:nvPr/>
        </p:nvSpPr>
        <p:spPr>
          <a:xfrm>
            <a:off x="547352" y="2571750"/>
            <a:ext cx="73152" cy="2242566"/>
          </a:xfrm>
          <a:prstGeom prst="rect">
            <a:avLst/>
          </a:prstGeom>
          <a:solidFill>
            <a:srgbClr val="0D9488"/>
          </a:solidFill>
          <a:ln/>
        </p:spPr>
        <p:txBody>
          <a:bodyPr/>
          <a:lstStyle/>
          <a:p>
            <a:endParaRPr lang="en-US"/>
          </a:p>
        </p:txBody>
      </p:sp>
      <p:sp>
        <p:nvSpPr>
          <p:cNvPr id="7" name="Text 5"/>
          <p:cNvSpPr/>
          <p:nvPr/>
        </p:nvSpPr>
        <p:spPr>
          <a:xfrm>
            <a:off x="707372" y="2571750"/>
            <a:ext cx="3493008" cy="329184"/>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Single-Source Problem (Solved)</a:t>
            </a:r>
            <a:endParaRPr lang="en-US" sz="1200" dirty="0"/>
          </a:p>
        </p:txBody>
      </p:sp>
      <p:sp>
        <p:nvSpPr>
          <p:cNvPr id="8" name="Text 6"/>
          <p:cNvSpPr/>
          <p:nvPr/>
        </p:nvSpPr>
        <p:spPr>
          <a:xfrm>
            <a:off x="728042" y="2909788"/>
            <a:ext cx="3584448" cy="1913382"/>
          </a:xfrm>
          <a:prstGeom prst="rect">
            <a:avLst/>
          </a:prstGeom>
          <a:noFill/>
          <a:ln/>
        </p:spPr>
        <p:txBody>
          <a:bodyPr wrap="square" lIns="0" tIns="0" rIns="0" bIns="0" rtlCol="0" anchor="t"/>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One fixed entanglement source at a known node</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All consumer pairs request EPR distribution from this source</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Routing: find edge-disjoint path pairs from the source to each consumer pair</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Spectrum: jointly assign channels — maximize minimum throughput</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Solution: RCH heuristic + Lagrangian relaxation ILP</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Result: 2.5× better minimum throughput vs separated RSA baseline</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Published/submitted to IEEE JSAC</a:t>
            </a:r>
            <a:endParaRPr lang="en-US" sz="1100" dirty="0"/>
          </a:p>
        </p:txBody>
      </p:sp>
      <p:sp>
        <p:nvSpPr>
          <p:cNvPr id="9" name="Shape 7"/>
          <p:cNvSpPr/>
          <p:nvPr/>
        </p:nvSpPr>
        <p:spPr>
          <a:xfrm>
            <a:off x="4433552" y="2571750"/>
            <a:ext cx="4343400" cy="2251420"/>
          </a:xfrm>
          <a:prstGeom prst="rect">
            <a:avLst/>
          </a:prstGeom>
          <a:solidFill>
            <a:srgbClr val="FFFFFF"/>
          </a:solidFill>
          <a:ln w="12700">
            <a:solidFill>
              <a:srgbClr val="E2E8F0"/>
            </a:solidFill>
            <a:prstDash val="solid"/>
          </a:ln>
          <a:effectLst>
            <a:outerShdw blurRad="63500" dist="25400" dir="8100000" algn="bl" rotWithShape="0">
              <a:srgbClr val="000000">
                <a:alpha val="7000"/>
              </a:srgbClr>
            </a:outerShdw>
          </a:effectLst>
        </p:spPr>
        <p:txBody>
          <a:bodyPr/>
          <a:lstStyle/>
          <a:p>
            <a:endParaRPr lang="en-US"/>
          </a:p>
        </p:txBody>
      </p:sp>
      <p:sp>
        <p:nvSpPr>
          <p:cNvPr id="10" name="Shape 8"/>
          <p:cNvSpPr/>
          <p:nvPr/>
        </p:nvSpPr>
        <p:spPr>
          <a:xfrm flipH="1">
            <a:off x="4403930" y="2571750"/>
            <a:ext cx="73152" cy="2242566"/>
          </a:xfrm>
          <a:prstGeom prst="rect">
            <a:avLst/>
          </a:prstGeom>
          <a:solidFill>
            <a:srgbClr val="7C3AED"/>
          </a:solidFill>
          <a:ln/>
        </p:spPr>
        <p:txBody>
          <a:bodyPr/>
          <a:lstStyle/>
          <a:p>
            <a:endParaRPr lang="en-US"/>
          </a:p>
        </p:txBody>
      </p:sp>
      <p:sp>
        <p:nvSpPr>
          <p:cNvPr id="11" name="Text 9"/>
          <p:cNvSpPr/>
          <p:nvPr/>
        </p:nvSpPr>
        <p:spPr>
          <a:xfrm>
            <a:off x="4598144" y="2576593"/>
            <a:ext cx="4087368" cy="329184"/>
          </a:xfrm>
          <a:prstGeom prst="rect">
            <a:avLst/>
          </a:prstGeom>
          <a:noFill/>
          <a:ln/>
        </p:spPr>
        <p:txBody>
          <a:bodyPr wrap="square" lIns="0" tIns="0" rIns="0" bIns="0"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Multi-Source Problem (In Progress)</a:t>
            </a:r>
            <a:endParaRPr lang="en-US" sz="1200" dirty="0"/>
          </a:p>
        </p:txBody>
      </p:sp>
      <p:sp>
        <p:nvSpPr>
          <p:cNvPr id="12" name="Text 10"/>
          <p:cNvSpPr/>
          <p:nvPr/>
        </p:nvSpPr>
        <p:spPr>
          <a:xfrm>
            <a:off x="4568522" y="2900934"/>
            <a:ext cx="4178808" cy="1913382"/>
          </a:xfrm>
          <a:prstGeom prst="rect">
            <a:avLst/>
          </a:prstGeom>
          <a:noFill/>
          <a:ln/>
        </p:spPr>
        <p:txBody>
          <a:bodyPr wrap="square" lIns="0" tIns="0" rIns="0" bIns="0" rtlCol="0" anchor="t"/>
          <a:lstStyle/>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Multiple potential source locations in the network</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Decision: which nodes should host entanglement sources?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Assignment: which consumer pairs should be served by which source?</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Routing &amp; spectrum: jointly across all source-pair assignments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Load balancing: distribute demand across sources to prevent bottlenecks</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This adds a source placement layer on top of the RSA problem</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Open question: is greedy source placement + RSA close to optimal?</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621792"/>
          </a:xfrm>
          <a:prstGeom prst="rect">
            <a:avLst/>
          </a:prstGeom>
          <a:noFill/>
          <a:ln/>
        </p:spPr>
        <p:txBody>
          <a:bodyPr wrap="square" lIns="0" tIns="0" rIns="0" bIns="0" rtlCol="0" anchor="ctr"/>
          <a:lstStyle/>
          <a:p>
            <a:pPr marL="0" indent="0" algn="l">
              <a:buNone/>
            </a:pPr>
            <a:r>
              <a:rPr lang="en-US" sz="3000" b="1" dirty="0">
                <a:solidFill>
                  <a:srgbClr val="7C3AED"/>
                </a:solidFill>
                <a:latin typeface="Calibri" pitchFamily="34" charset="0"/>
                <a:ea typeface="Calibri" pitchFamily="34" charset="-122"/>
                <a:cs typeface="Calibri" pitchFamily="34" charset="-120"/>
              </a:rPr>
              <a:t>How All Three Seminars Connect</a:t>
            </a:r>
            <a:endParaRPr lang="en-US" sz="3000" dirty="0"/>
          </a:p>
        </p:txBody>
      </p:sp>
      <p:sp>
        <p:nvSpPr>
          <p:cNvPr id="3" name="Shape 1"/>
          <p:cNvSpPr/>
          <p:nvPr/>
        </p:nvSpPr>
        <p:spPr>
          <a:xfrm>
            <a:off x="457200" y="841248"/>
            <a:ext cx="8229600" cy="27432"/>
          </a:xfrm>
          <a:prstGeom prst="rect">
            <a:avLst/>
          </a:prstGeom>
          <a:solidFill>
            <a:srgbClr val="7C3AED"/>
          </a:solidFill>
          <a:ln/>
        </p:spPr>
        <p:txBody>
          <a:bodyPr/>
          <a:lstStyle/>
          <a:p>
            <a:endParaRPr lang="en-US"/>
          </a:p>
        </p:txBody>
      </p:sp>
      <p:sp>
        <p:nvSpPr>
          <p:cNvPr id="4" name="Text 2"/>
          <p:cNvSpPr/>
          <p:nvPr/>
        </p:nvSpPr>
        <p:spPr>
          <a:xfrm>
            <a:off x="457200" y="1005840"/>
            <a:ext cx="8229600" cy="402336"/>
          </a:xfrm>
          <a:prstGeom prst="rect">
            <a:avLst/>
          </a:prstGeom>
          <a:noFill/>
          <a:ln/>
        </p:spPr>
        <p:txBody>
          <a:bodyPr wrap="square" rtlCol="0" anchor="ctr"/>
          <a:lstStyle/>
          <a:p>
            <a:pPr marL="0" indent="0">
              <a:buNone/>
            </a:pPr>
            <a:r>
              <a:rPr lang="en-US" sz="1400" dirty="0">
                <a:solidFill>
                  <a:srgbClr val="475569"/>
                </a:solidFill>
                <a:latin typeface="Calibri" pitchFamily="34" charset="0"/>
                <a:ea typeface="Calibri" pitchFamily="34" charset="-122"/>
                <a:cs typeface="Calibri" pitchFamily="34" charset="-120"/>
              </a:rPr>
              <a:t>Three seminars, one research vision: intelligent, efficient, quantum-capable future networks.</a:t>
            </a:r>
            <a:endParaRPr lang="en-US" sz="1400" dirty="0"/>
          </a:p>
        </p:txBody>
      </p:sp>
      <p:sp>
        <p:nvSpPr>
          <p:cNvPr id="5" name="Shape 3"/>
          <p:cNvSpPr/>
          <p:nvPr/>
        </p:nvSpPr>
        <p:spPr>
          <a:xfrm>
            <a:off x="457200" y="1536192"/>
            <a:ext cx="8229600" cy="987552"/>
          </a:xfrm>
          <a:prstGeom prst="rect">
            <a:avLst/>
          </a:prstGeom>
          <a:solidFill>
            <a:srgbClr val="0D9488">
              <a:alpha val="10000"/>
            </a:srgbClr>
          </a:solidFill>
          <a:ln w="19050">
            <a:solidFill>
              <a:srgbClr val="0D9488"/>
            </a:solidFill>
            <a:prstDash val="solid"/>
          </a:ln>
        </p:spPr>
        <p:txBody>
          <a:bodyPr/>
          <a:lstStyle/>
          <a:p>
            <a:endParaRPr lang="en-US"/>
          </a:p>
        </p:txBody>
      </p:sp>
      <p:sp>
        <p:nvSpPr>
          <p:cNvPr id="6" name="Shape 4"/>
          <p:cNvSpPr/>
          <p:nvPr/>
        </p:nvSpPr>
        <p:spPr>
          <a:xfrm>
            <a:off x="457200" y="1536192"/>
            <a:ext cx="73152" cy="987552"/>
          </a:xfrm>
          <a:prstGeom prst="rect">
            <a:avLst/>
          </a:prstGeom>
          <a:solidFill>
            <a:srgbClr val="0D9488"/>
          </a:solidFill>
          <a:ln/>
        </p:spPr>
        <p:txBody>
          <a:bodyPr/>
          <a:lstStyle/>
          <a:p>
            <a:endParaRPr lang="en-US"/>
          </a:p>
        </p:txBody>
      </p:sp>
      <p:sp>
        <p:nvSpPr>
          <p:cNvPr id="7" name="Text 5"/>
          <p:cNvSpPr/>
          <p:nvPr/>
        </p:nvSpPr>
        <p:spPr>
          <a:xfrm>
            <a:off x="658368" y="1609344"/>
            <a:ext cx="1828800" cy="292608"/>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Service Layer</a:t>
            </a:r>
            <a:endParaRPr lang="en-US" sz="1200" dirty="0"/>
          </a:p>
        </p:txBody>
      </p:sp>
      <p:sp>
        <p:nvSpPr>
          <p:cNvPr id="8" name="Text 6"/>
          <p:cNvSpPr/>
          <p:nvPr/>
        </p:nvSpPr>
        <p:spPr>
          <a:xfrm>
            <a:off x="658368" y="1920240"/>
            <a:ext cx="2286000" cy="256032"/>
          </a:xfrm>
          <a:prstGeom prst="rect">
            <a:avLst/>
          </a:prstGeom>
          <a:noFill/>
          <a:ln/>
        </p:spPr>
        <p:txBody>
          <a:bodyPr wrap="square" lIns="0" tIns="0" rIns="0" bIns="0" rtlCol="0" anchor="ctr"/>
          <a:lstStyle/>
          <a:p>
            <a:pPr marL="0" indent="0">
              <a:buNone/>
            </a:pPr>
            <a:r>
              <a:rPr lang="en-US" sz="1150" i="1" dirty="0">
                <a:solidFill>
                  <a:srgbClr val="475569"/>
                </a:solidFill>
                <a:latin typeface="Calibri" pitchFamily="34" charset="0"/>
                <a:ea typeface="Calibri" pitchFamily="34" charset="-122"/>
                <a:cs typeface="Calibri" pitchFamily="34" charset="-120"/>
              </a:rPr>
              <a:t>Network Slicing + Admission Control</a:t>
            </a:r>
            <a:endParaRPr lang="en-US" sz="1150" dirty="0"/>
          </a:p>
        </p:txBody>
      </p:sp>
      <p:sp>
        <p:nvSpPr>
          <p:cNvPr id="9" name="Text 7"/>
          <p:cNvSpPr/>
          <p:nvPr/>
        </p:nvSpPr>
        <p:spPr>
          <a:xfrm>
            <a:off x="3017520" y="1609344"/>
            <a:ext cx="3749040" cy="512064"/>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Who gets access? When? How do we prevent peak-state blocking while maximizing revenue?</a:t>
            </a:r>
            <a:endParaRPr lang="en-US" sz="1200" dirty="0"/>
          </a:p>
        </p:txBody>
      </p:sp>
      <p:sp>
        <p:nvSpPr>
          <p:cNvPr id="10" name="Shape 8"/>
          <p:cNvSpPr/>
          <p:nvPr/>
        </p:nvSpPr>
        <p:spPr>
          <a:xfrm>
            <a:off x="6903720" y="1700784"/>
            <a:ext cx="1783080" cy="603504"/>
          </a:xfrm>
          <a:prstGeom prst="rect">
            <a:avLst/>
          </a:prstGeom>
          <a:solidFill>
            <a:srgbClr val="0D9488">
              <a:alpha val="20000"/>
            </a:srgbClr>
          </a:solidFill>
          <a:ln w="10160">
            <a:solidFill>
              <a:srgbClr val="0D9488"/>
            </a:solidFill>
            <a:prstDash val="solid"/>
          </a:ln>
        </p:spPr>
        <p:txBody>
          <a:bodyPr/>
          <a:lstStyle/>
          <a:p>
            <a:endParaRPr lang="en-US"/>
          </a:p>
        </p:txBody>
      </p:sp>
      <p:sp>
        <p:nvSpPr>
          <p:cNvPr id="11" name="Text 9"/>
          <p:cNvSpPr/>
          <p:nvPr/>
        </p:nvSpPr>
        <p:spPr>
          <a:xfrm>
            <a:off x="6903720" y="1700784"/>
            <a:ext cx="1783080" cy="603504"/>
          </a:xfrm>
          <a:prstGeom prst="rect">
            <a:avLst/>
          </a:prstGeom>
          <a:noFill/>
          <a:ln/>
        </p:spPr>
        <p:txBody>
          <a:bodyPr wrap="square" rtlCol="0" anchor="ctr"/>
          <a:lstStyle/>
          <a:p>
            <a:pPr marL="0" indent="0" algn="ctr">
              <a:buNone/>
            </a:pPr>
            <a:r>
              <a:rPr lang="en-US" sz="950" dirty="0">
                <a:solidFill>
                  <a:srgbClr val="0D9488"/>
                </a:solidFill>
                <a:latin typeface="Calibri" pitchFamily="34" charset="0"/>
                <a:ea typeface="Calibri" pitchFamily="34" charset="-122"/>
                <a:cs typeface="Calibri" pitchFamily="34" charset="-120"/>
              </a:rPr>
              <a:t>RL/PPO admission control (journal paper)</a:t>
            </a:r>
            <a:endParaRPr lang="en-US" sz="950" dirty="0"/>
          </a:p>
        </p:txBody>
      </p:sp>
      <p:sp>
        <p:nvSpPr>
          <p:cNvPr id="12" name="Shape 10"/>
          <p:cNvSpPr/>
          <p:nvPr/>
        </p:nvSpPr>
        <p:spPr>
          <a:xfrm>
            <a:off x="457200" y="2615184"/>
            <a:ext cx="8229600" cy="987552"/>
          </a:xfrm>
          <a:prstGeom prst="rect">
            <a:avLst/>
          </a:prstGeom>
          <a:solidFill>
            <a:srgbClr val="D97706">
              <a:alpha val="10000"/>
            </a:srgbClr>
          </a:solidFill>
          <a:ln w="19050">
            <a:solidFill>
              <a:srgbClr val="D97706"/>
            </a:solidFill>
            <a:prstDash val="solid"/>
          </a:ln>
        </p:spPr>
        <p:txBody>
          <a:bodyPr/>
          <a:lstStyle/>
          <a:p>
            <a:endParaRPr lang="en-US"/>
          </a:p>
        </p:txBody>
      </p:sp>
      <p:sp>
        <p:nvSpPr>
          <p:cNvPr id="13" name="Shape 11"/>
          <p:cNvSpPr/>
          <p:nvPr/>
        </p:nvSpPr>
        <p:spPr>
          <a:xfrm>
            <a:off x="457200" y="2615184"/>
            <a:ext cx="73152" cy="987552"/>
          </a:xfrm>
          <a:prstGeom prst="rect">
            <a:avLst/>
          </a:prstGeom>
          <a:solidFill>
            <a:srgbClr val="D97706"/>
          </a:solidFill>
          <a:ln/>
        </p:spPr>
        <p:txBody>
          <a:bodyPr/>
          <a:lstStyle/>
          <a:p>
            <a:endParaRPr lang="en-US"/>
          </a:p>
        </p:txBody>
      </p:sp>
      <p:sp>
        <p:nvSpPr>
          <p:cNvPr id="14" name="Text 12"/>
          <p:cNvSpPr/>
          <p:nvPr/>
        </p:nvSpPr>
        <p:spPr>
          <a:xfrm>
            <a:off x="658368" y="2688336"/>
            <a:ext cx="1828800" cy="292608"/>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Transport Layer</a:t>
            </a:r>
            <a:endParaRPr lang="en-US" sz="1200" dirty="0"/>
          </a:p>
        </p:txBody>
      </p:sp>
      <p:sp>
        <p:nvSpPr>
          <p:cNvPr id="15" name="Text 13"/>
          <p:cNvSpPr/>
          <p:nvPr/>
        </p:nvSpPr>
        <p:spPr>
          <a:xfrm>
            <a:off x="658368" y="2999232"/>
            <a:ext cx="2286000" cy="256032"/>
          </a:xfrm>
          <a:prstGeom prst="rect">
            <a:avLst/>
          </a:prstGeom>
          <a:noFill/>
          <a:ln/>
        </p:spPr>
        <p:txBody>
          <a:bodyPr wrap="square" lIns="0" tIns="0" rIns="0" bIns="0" rtlCol="0" anchor="ctr"/>
          <a:lstStyle/>
          <a:p>
            <a:pPr marL="0" indent="0">
              <a:buNone/>
            </a:pPr>
            <a:r>
              <a:rPr lang="en-US" sz="1150" i="1" dirty="0">
                <a:solidFill>
                  <a:srgbClr val="475569"/>
                </a:solidFill>
                <a:latin typeface="Calibri" pitchFamily="34" charset="0"/>
                <a:ea typeface="Calibri" pitchFamily="34" charset="-122"/>
                <a:cs typeface="Calibri" pitchFamily="34" charset="-120"/>
              </a:rPr>
              <a:t>Optical Networks + SDM-EON Embedding</a:t>
            </a:r>
            <a:endParaRPr lang="en-US" sz="1150" dirty="0"/>
          </a:p>
        </p:txBody>
      </p:sp>
      <p:sp>
        <p:nvSpPr>
          <p:cNvPr id="16" name="Text 14"/>
          <p:cNvSpPr/>
          <p:nvPr/>
        </p:nvSpPr>
        <p:spPr>
          <a:xfrm>
            <a:off x="3017520" y="2688336"/>
            <a:ext cx="3749040" cy="512064"/>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How do we route slices through fiber, assign spectrum, and place compute — efficiently?</a:t>
            </a:r>
            <a:endParaRPr lang="en-US" sz="1200" dirty="0"/>
          </a:p>
        </p:txBody>
      </p:sp>
      <p:sp>
        <p:nvSpPr>
          <p:cNvPr id="17" name="Shape 15"/>
          <p:cNvSpPr/>
          <p:nvPr/>
        </p:nvSpPr>
        <p:spPr>
          <a:xfrm>
            <a:off x="6903720" y="2779776"/>
            <a:ext cx="1783080" cy="603504"/>
          </a:xfrm>
          <a:prstGeom prst="rect">
            <a:avLst/>
          </a:prstGeom>
          <a:solidFill>
            <a:srgbClr val="D97706">
              <a:alpha val="20000"/>
            </a:srgbClr>
          </a:solidFill>
          <a:ln w="10160">
            <a:solidFill>
              <a:srgbClr val="D97706"/>
            </a:solidFill>
            <a:prstDash val="solid"/>
          </a:ln>
        </p:spPr>
        <p:txBody>
          <a:bodyPr/>
          <a:lstStyle/>
          <a:p>
            <a:endParaRPr lang="en-US"/>
          </a:p>
        </p:txBody>
      </p:sp>
      <p:sp>
        <p:nvSpPr>
          <p:cNvPr id="18" name="Text 16"/>
          <p:cNvSpPr/>
          <p:nvPr/>
        </p:nvSpPr>
        <p:spPr>
          <a:xfrm>
            <a:off x="6903720" y="2779776"/>
            <a:ext cx="1783080" cy="603504"/>
          </a:xfrm>
          <a:prstGeom prst="rect">
            <a:avLst/>
          </a:prstGeom>
          <a:noFill/>
          <a:ln/>
        </p:spPr>
        <p:txBody>
          <a:bodyPr wrap="square" rtlCol="0" anchor="ctr"/>
          <a:lstStyle/>
          <a:p>
            <a:pPr marL="0" indent="0" algn="ctr">
              <a:buNone/>
            </a:pPr>
            <a:r>
              <a:rPr lang="en-US" sz="950" dirty="0">
                <a:solidFill>
                  <a:srgbClr val="D97706"/>
                </a:solidFill>
                <a:latin typeface="Calibri" pitchFamily="34" charset="0"/>
                <a:ea typeface="Calibri" pitchFamily="34" charset="-122"/>
                <a:cs typeface="Calibri" pitchFamily="34" charset="-120"/>
              </a:rPr>
              <a:t>WMSM — ICCCN 2026</a:t>
            </a:r>
            <a:endParaRPr lang="en-US" sz="950" dirty="0"/>
          </a:p>
        </p:txBody>
      </p:sp>
      <p:sp>
        <p:nvSpPr>
          <p:cNvPr id="19" name="Shape 17"/>
          <p:cNvSpPr/>
          <p:nvPr/>
        </p:nvSpPr>
        <p:spPr>
          <a:xfrm>
            <a:off x="457200" y="3694176"/>
            <a:ext cx="8229600" cy="987552"/>
          </a:xfrm>
          <a:prstGeom prst="rect">
            <a:avLst/>
          </a:prstGeom>
          <a:solidFill>
            <a:srgbClr val="7C3AED">
              <a:alpha val="10000"/>
            </a:srgbClr>
          </a:solidFill>
          <a:ln w="19050">
            <a:solidFill>
              <a:srgbClr val="7C3AED"/>
            </a:solidFill>
            <a:prstDash val="solid"/>
          </a:ln>
        </p:spPr>
        <p:txBody>
          <a:bodyPr/>
          <a:lstStyle/>
          <a:p>
            <a:endParaRPr lang="en-US"/>
          </a:p>
        </p:txBody>
      </p:sp>
      <p:sp>
        <p:nvSpPr>
          <p:cNvPr id="20" name="Shape 18"/>
          <p:cNvSpPr/>
          <p:nvPr/>
        </p:nvSpPr>
        <p:spPr>
          <a:xfrm>
            <a:off x="457200" y="3694176"/>
            <a:ext cx="73152" cy="987552"/>
          </a:xfrm>
          <a:prstGeom prst="rect">
            <a:avLst/>
          </a:prstGeom>
          <a:solidFill>
            <a:srgbClr val="7C3AED"/>
          </a:solidFill>
          <a:ln/>
        </p:spPr>
        <p:txBody>
          <a:bodyPr/>
          <a:lstStyle/>
          <a:p>
            <a:endParaRPr lang="en-US"/>
          </a:p>
        </p:txBody>
      </p:sp>
      <p:sp>
        <p:nvSpPr>
          <p:cNvPr id="21" name="Text 19"/>
          <p:cNvSpPr/>
          <p:nvPr/>
        </p:nvSpPr>
        <p:spPr>
          <a:xfrm>
            <a:off x="658368" y="3767328"/>
            <a:ext cx="1828800" cy="292608"/>
          </a:xfrm>
          <a:prstGeom prst="rect">
            <a:avLst/>
          </a:prstGeom>
          <a:noFill/>
          <a:ln/>
        </p:spPr>
        <p:txBody>
          <a:bodyPr wrap="square" lIns="0" tIns="0" rIns="0" bIns="0"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Physical Layer</a:t>
            </a:r>
            <a:endParaRPr lang="en-US" sz="1200" dirty="0"/>
          </a:p>
        </p:txBody>
      </p:sp>
      <p:sp>
        <p:nvSpPr>
          <p:cNvPr id="22" name="Text 20"/>
          <p:cNvSpPr/>
          <p:nvPr/>
        </p:nvSpPr>
        <p:spPr>
          <a:xfrm>
            <a:off x="658368" y="4078224"/>
            <a:ext cx="2286000" cy="256032"/>
          </a:xfrm>
          <a:prstGeom prst="rect">
            <a:avLst/>
          </a:prstGeom>
          <a:noFill/>
          <a:ln/>
        </p:spPr>
        <p:txBody>
          <a:bodyPr wrap="square" lIns="0" tIns="0" rIns="0" bIns="0" rtlCol="0" anchor="ctr"/>
          <a:lstStyle/>
          <a:p>
            <a:pPr marL="0" indent="0">
              <a:buNone/>
            </a:pPr>
            <a:r>
              <a:rPr lang="en-US" sz="1150" i="1" dirty="0">
                <a:solidFill>
                  <a:srgbClr val="475569"/>
                </a:solidFill>
                <a:latin typeface="Calibri" pitchFamily="34" charset="0"/>
                <a:ea typeface="Calibri" pitchFamily="34" charset="-122"/>
                <a:cs typeface="Calibri" pitchFamily="34" charset="-120"/>
              </a:rPr>
              <a:t>Quantum Networking + RSA</a:t>
            </a:r>
            <a:endParaRPr lang="en-US" sz="1150" dirty="0"/>
          </a:p>
        </p:txBody>
      </p:sp>
      <p:sp>
        <p:nvSpPr>
          <p:cNvPr id="23" name="Text 21"/>
          <p:cNvSpPr/>
          <p:nvPr/>
        </p:nvSpPr>
        <p:spPr>
          <a:xfrm>
            <a:off x="3017520" y="3767328"/>
            <a:ext cx="3749040" cy="512064"/>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How do we distribute entangled photons for quantum-secure communication?</a:t>
            </a:r>
            <a:endParaRPr lang="en-US" sz="1200" dirty="0"/>
          </a:p>
        </p:txBody>
      </p:sp>
      <p:sp>
        <p:nvSpPr>
          <p:cNvPr id="24" name="Shape 22"/>
          <p:cNvSpPr/>
          <p:nvPr/>
        </p:nvSpPr>
        <p:spPr>
          <a:xfrm>
            <a:off x="6903720" y="3858768"/>
            <a:ext cx="1783080" cy="603504"/>
          </a:xfrm>
          <a:prstGeom prst="rect">
            <a:avLst/>
          </a:prstGeom>
          <a:solidFill>
            <a:srgbClr val="7C3AED">
              <a:alpha val="20000"/>
            </a:srgbClr>
          </a:solidFill>
          <a:ln w="10160">
            <a:solidFill>
              <a:srgbClr val="7C3AED"/>
            </a:solidFill>
            <a:prstDash val="solid"/>
          </a:ln>
        </p:spPr>
        <p:txBody>
          <a:bodyPr/>
          <a:lstStyle/>
          <a:p>
            <a:endParaRPr lang="en-US"/>
          </a:p>
        </p:txBody>
      </p:sp>
      <p:sp>
        <p:nvSpPr>
          <p:cNvPr id="25" name="Text 23"/>
          <p:cNvSpPr/>
          <p:nvPr/>
        </p:nvSpPr>
        <p:spPr>
          <a:xfrm>
            <a:off x="6903720" y="3858768"/>
            <a:ext cx="1783080" cy="603504"/>
          </a:xfrm>
          <a:prstGeom prst="rect">
            <a:avLst/>
          </a:prstGeom>
          <a:noFill/>
          <a:ln/>
        </p:spPr>
        <p:txBody>
          <a:bodyPr wrap="square" rtlCol="0" anchor="ctr"/>
          <a:lstStyle/>
          <a:p>
            <a:pPr marL="0" indent="0" algn="ctr">
              <a:buNone/>
            </a:pPr>
            <a:r>
              <a:rPr lang="en-US" sz="950" dirty="0">
                <a:solidFill>
                  <a:srgbClr val="7C3AED"/>
                </a:solidFill>
                <a:latin typeface="Calibri" pitchFamily="34" charset="0"/>
                <a:ea typeface="Calibri" pitchFamily="34" charset="-122"/>
                <a:cs typeface="Calibri" pitchFamily="34" charset="-120"/>
              </a:rPr>
              <a:t>RCH heuristic + multi-source </a:t>
            </a:r>
            <a:endParaRPr lang="en-US" sz="950" dirty="0"/>
          </a:p>
        </p:txBody>
      </p:sp>
      <p:sp>
        <p:nvSpPr>
          <p:cNvPr id="26" name="Text 24"/>
          <p:cNvSpPr/>
          <p:nvPr/>
        </p:nvSpPr>
        <p:spPr>
          <a:xfrm>
            <a:off x="457200" y="4791456"/>
            <a:ext cx="8229600" cy="329184"/>
          </a:xfrm>
          <a:prstGeom prst="rect">
            <a:avLst/>
          </a:prstGeom>
          <a:noFill/>
          <a:ln/>
        </p:spPr>
        <p:txBody>
          <a:bodyPr wrap="square"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Common tools across all three: graph algorithms, ILP optimization, simulation, and increasingly reinforcement learning.</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D97706"/>
          </a:solidFill>
          <a:ln/>
        </p:spPr>
        <p:txBody>
          <a:bodyPr/>
          <a:lstStyle/>
          <a:p>
            <a:endParaRPr lang="en-US"/>
          </a:p>
        </p:txBody>
      </p:sp>
      <p:sp>
        <p:nvSpPr>
          <p:cNvPr id="3" name="Text 1"/>
          <p:cNvSpPr/>
          <p:nvPr/>
        </p:nvSpPr>
        <p:spPr>
          <a:xfrm>
            <a:off x="320040" y="0"/>
            <a:ext cx="8503920" cy="50292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Activity 6</a:t>
            </a:r>
            <a:endParaRPr lang="en-US" sz="1500" dirty="0"/>
          </a:p>
        </p:txBody>
      </p:sp>
      <p:sp>
        <p:nvSpPr>
          <p:cNvPr id="4" name="Text 2"/>
          <p:cNvSpPr/>
          <p:nvPr/>
        </p:nvSpPr>
        <p:spPr>
          <a:xfrm>
            <a:off x="457200" y="658368"/>
            <a:ext cx="8229600" cy="502920"/>
          </a:xfrm>
          <a:prstGeom prst="rect">
            <a:avLst/>
          </a:prstGeom>
          <a:noFill/>
          <a:ln/>
        </p:spPr>
        <p:txBody>
          <a:bodyPr wrap="square" rtlCol="0" anchor="ctr"/>
          <a:lstStyle/>
          <a:p>
            <a:pPr marL="0" indent="0">
              <a:buNone/>
            </a:pPr>
            <a:r>
              <a:rPr lang="en-US" sz="2600" b="1" dirty="0">
                <a:solidFill>
                  <a:srgbClr val="0D9488"/>
                </a:solidFill>
                <a:latin typeface="Calibri" pitchFamily="34" charset="0"/>
                <a:ea typeface="Calibri" pitchFamily="34" charset="-122"/>
                <a:cs typeface="Calibri" pitchFamily="34" charset="-120"/>
              </a:rPr>
              <a:t>Reflect Across All Three Seminars</a:t>
            </a:r>
            <a:endParaRPr lang="en-US" sz="2600" dirty="0"/>
          </a:p>
        </p:txBody>
      </p:sp>
      <p:sp>
        <p:nvSpPr>
          <p:cNvPr id="5" name="Shape 3"/>
          <p:cNvSpPr/>
          <p:nvPr/>
        </p:nvSpPr>
        <p:spPr>
          <a:xfrm>
            <a:off x="457200" y="1261872"/>
            <a:ext cx="1691640" cy="777240"/>
          </a:xfrm>
          <a:prstGeom prst="rect">
            <a:avLst/>
          </a:prstGeom>
          <a:solidFill>
            <a:srgbClr val="0D9488"/>
          </a:solidFill>
          <a:ln/>
        </p:spPr>
        <p:txBody>
          <a:bodyPr/>
          <a:lstStyle/>
          <a:p>
            <a:endParaRPr lang="en-US"/>
          </a:p>
        </p:txBody>
      </p:sp>
      <p:sp>
        <p:nvSpPr>
          <p:cNvPr id="6" name="Text 4"/>
          <p:cNvSpPr/>
          <p:nvPr/>
        </p:nvSpPr>
        <p:spPr>
          <a:xfrm>
            <a:off x="457200" y="1261872"/>
            <a:ext cx="1691640"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Connecting the Layers</a:t>
            </a:r>
            <a:endParaRPr lang="en-US" sz="1200" dirty="0"/>
          </a:p>
        </p:txBody>
      </p:sp>
      <p:sp>
        <p:nvSpPr>
          <p:cNvPr id="7" name="Shape 5"/>
          <p:cNvSpPr/>
          <p:nvPr/>
        </p:nvSpPr>
        <p:spPr>
          <a:xfrm>
            <a:off x="2267712" y="1261872"/>
            <a:ext cx="6419088" cy="777240"/>
          </a:xfrm>
          <a:prstGeom prst="rect">
            <a:avLst/>
          </a:prstGeom>
          <a:solidFill>
            <a:srgbClr val="FFFFFF"/>
          </a:solidFill>
          <a:ln w="12700">
            <a:solidFill>
              <a:srgbClr val="E2E8F0"/>
            </a:solidFill>
            <a:prstDash val="solid"/>
          </a:ln>
        </p:spPr>
        <p:txBody>
          <a:bodyPr/>
          <a:lstStyle/>
          <a:p>
            <a:endParaRPr lang="en-US"/>
          </a:p>
        </p:txBody>
      </p:sp>
      <p:sp>
        <p:nvSpPr>
          <p:cNvPr id="8" name="Text 6"/>
          <p:cNvSpPr/>
          <p:nvPr/>
        </p:nvSpPr>
        <p:spPr>
          <a:xfrm>
            <a:off x="2395728" y="1353312"/>
            <a:ext cx="6181344" cy="594360"/>
          </a:xfrm>
          <a:prstGeom prst="rect">
            <a:avLst/>
          </a:prstGeom>
          <a:noFill/>
          <a:ln/>
        </p:spPr>
        <p:txBody>
          <a:bodyPr wrap="square" rtlCol="0" anchor="ctr"/>
          <a:lstStyle/>
          <a:p>
            <a:pPr marL="0" indent="0">
              <a:buNone/>
            </a:pPr>
            <a:r>
              <a:rPr lang="en-US" sz="1300" dirty="0">
                <a:solidFill>
                  <a:srgbClr val="475569"/>
                </a:solidFill>
                <a:latin typeface="Calibri" pitchFamily="34" charset="0"/>
                <a:ea typeface="Calibri" pitchFamily="34" charset="-122"/>
                <a:cs typeface="Calibri" pitchFamily="34" charset="-120"/>
              </a:rPr>
              <a:t>Seminar 1 had an RL agent deciding whether to admit a network slice. Seminar 2 had WMSM deciding how to embed it into optical fiber. Now Seminar 3 has the quantum RSA problem deciding how to route entangled photons. Could one unified RL agent control all three layers? What would it need to observe and decide?</a:t>
            </a:r>
            <a:endParaRPr lang="en-US" sz="1300" dirty="0"/>
          </a:p>
        </p:txBody>
      </p:sp>
      <p:sp>
        <p:nvSpPr>
          <p:cNvPr id="9" name="Shape 7"/>
          <p:cNvSpPr/>
          <p:nvPr/>
        </p:nvSpPr>
        <p:spPr>
          <a:xfrm>
            <a:off x="457200" y="2176272"/>
            <a:ext cx="1691640" cy="777240"/>
          </a:xfrm>
          <a:prstGeom prst="rect">
            <a:avLst/>
          </a:prstGeom>
          <a:solidFill>
            <a:srgbClr val="0D9488"/>
          </a:solidFill>
          <a:ln/>
        </p:spPr>
        <p:txBody>
          <a:bodyPr/>
          <a:lstStyle/>
          <a:p>
            <a:endParaRPr lang="en-US"/>
          </a:p>
        </p:txBody>
      </p:sp>
      <p:sp>
        <p:nvSpPr>
          <p:cNvPr id="10" name="Text 8"/>
          <p:cNvSpPr/>
          <p:nvPr/>
        </p:nvSpPr>
        <p:spPr>
          <a:xfrm>
            <a:off x="457200" y="2176272"/>
            <a:ext cx="1691640"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The Repeater Gap</a:t>
            </a:r>
            <a:endParaRPr lang="en-US" sz="1200" dirty="0"/>
          </a:p>
        </p:txBody>
      </p:sp>
      <p:sp>
        <p:nvSpPr>
          <p:cNvPr id="11" name="Shape 9"/>
          <p:cNvSpPr/>
          <p:nvPr/>
        </p:nvSpPr>
        <p:spPr>
          <a:xfrm>
            <a:off x="2267712" y="2176272"/>
            <a:ext cx="6419088" cy="777240"/>
          </a:xfrm>
          <a:prstGeom prst="rect">
            <a:avLst/>
          </a:prstGeom>
          <a:solidFill>
            <a:srgbClr val="FFFFFF"/>
          </a:solidFill>
          <a:ln w="12700">
            <a:solidFill>
              <a:srgbClr val="E2E8F0"/>
            </a:solidFill>
            <a:prstDash val="solid"/>
          </a:ln>
        </p:spPr>
        <p:txBody>
          <a:bodyPr/>
          <a:lstStyle/>
          <a:p>
            <a:endParaRPr lang="en-US"/>
          </a:p>
        </p:txBody>
      </p:sp>
      <p:sp>
        <p:nvSpPr>
          <p:cNvPr id="12" name="Text 10"/>
          <p:cNvSpPr/>
          <p:nvPr/>
        </p:nvSpPr>
        <p:spPr>
          <a:xfrm>
            <a:off x="2395728" y="2267712"/>
            <a:ext cx="6181344" cy="594360"/>
          </a:xfrm>
          <a:prstGeom prst="rect">
            <a:avLst/>
          </a:prstGeom>
          <a:noFill/>
          <a:ln/>
        </p:spPr>
        <p:txBody>
          <a:bodyPr wrap="square" rtlCol="0" anchor="ctr"/>
          <a:lstStyle/>
          <a:p>
            <a:pPr marL="0" indent="0">
              <a:buNone/>
            </a:pPr>
            <a:r>
              <a:rPr lang="en-US" sz="1300" dirty="0">
                <a:solidFill>
                  <a:srgbClr val="475569"/>
                </a:solidFill>
                <a:latin typeface="Calibri" pitchFamily="34" charset="0"/>
                <a:ea typeface="Calibri" pitchFamily="34" charset="-122"/>
                <a:cs typeface="Calibri" pitchFamily="34" charset="-120"/>
              </a:rPr>
              <a:t>The biggest limitation in quantum networking today is the absence of practical quantum repeaters. If quantum repeaters existed tomorrow, how would the RSA problem change? Would edge-disjoint paths still be required?</a:t>
            </a:r>
            <a:endParaRPr lang="en-US" sz="1300" dirty="0"/>
          </a:p>
        </p:txBody>
      </p:sp>
      <p:sp>
        <p:nvSpPr>
          <p:cNvPr id="13" name="Shape 11"/>
          <p:cNvSpPr/>
          <p:nvPr/>
        </p:nvSpPr>
        <p:spPr>
          <a:xfrm>
            <a:off x="457200" y="3090672"/>
            <a:ext cx="1691640" cy="777240"/>
          </a:xfrm>
          <a:prstGeom prst="rect">
            <a:avLst/>
          </a:prstGeom>
          <a:solidFill>
            <a:srgbClr val="0D9488"/>
          </a:solidFill>
          <a:ln/>
        </p:spPr>
        <p:txBody>
          <a:bodyPr/>
          <a:lstStyle/>
          <a:p>
            <a:endParaRPr lang="en-US"/>
          </a:p>
        </p:txBody>
      </p:sp>
      <p:sp>
        <p:nvSpPr>
          <p:cNvPr id="14" name="Text 12"/>
          <p:cNvSpPr/>
          <p:nvPr/>
        </p:nvSpPr>
        <p:spPr>
          <a:xfrm>
            <a:off x="457200" y="3090672"/>
            <a:ext cx="1691640"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Security in Practice</a:t>
            </a:r>
            <a:endParaRPr lang="en-US" sz="1200" dirty="0"/>
          </a:p>
        </p:txBody>
      </p:sp>
      <p:sp>
        <p:nvSpPr>
          <p:cNvPr id="15" name="Shape 13"/>
          <p:cNvSpPr/>
          <p:nvPr/>
        </p:nvSpPr>
        <p:spPr>
          <a:xfrm>
            <a:off x="2267712" y="3090672"/>
            <a:ext cx="6419088" cy="777240"/>
          </a:xfrm>
          <a:prstGeom prst="rect">
            <a:avLst/>
          </a:prstGeom>
          <a:solidFill>
            <a:srgbClr val="FFFFFF"/>
          </a:solidFill>
          <a:ln w="12700">
            <a:solidFill>
              <a:srgbClr val="E2E8F0"/>
            </a:solidFill>
            <a:prstDash val="solid"/>
          </a:ln>
        </p:spPr>
        <p:txBody>
          <a:bodyPr/>
          <a:lstStyle/>
          <a:p>
            <a:endParaRPr lang="en-US"/>
          </a:p>
        </p:txBody>
      </p:sp>
      <p:sp>
        <p:nvSpPr>
          <p:cNvPr id="16" name="Text 14"/>
          <p:cNvSpPr/>
          <p:nvPr/>
        </p:nvSpPr>
        <p:spPr>
          <a:xfrm>
            <a:off x="2395728" y="3182112"/>
            <a:ext cx="6181344" cy="594360"/>
          </a:xfrm>
          <a:prstGeom prst="rect">
            <a:avLst/>
          </a:prstGeom>
          <a:noFill/>
          <a:ln/>
        </p:spPr>
        <p:txBody>
          <a:bodyPr wrap="square" rtlCol="0" anchor="ctr"/>
          <a:lstStyle/>
          <a:p>
            <a:pPr marL="0" indent="0">
              <a:buNone/>
            </a:pPr>
            <a:r>
              <a:rPr lang="en-US" sz="1300" dirty="0">
                <a:solidFill>
                  <a:srgbClr val="475569"/>
                </a:solidFill>
                <a:latin typeface="Calibri" pitchFamily="34" charset="0"/>
                <a:ea typeface="Calibri" pitchFamily="34" charset="-122"/>
                <a:cs typeface="Calibri" pitchFamily="34" charset="-120"/>
              </a:rPr>
              <a:t>QKD is theoretically unbreakable — but real deployments still get hacked (side-channel attacks, imperfect detectors, trusted nodes). Does "provably secure by physics" still mean secure in a real network? What additional engineering challenges remain?</a:t>
            </a:r>
            <a:endParaRPr lang="en-US" sz="1300" dirty="0"/>
          </a:p>
        </p:txBody>
      </p:sp>
      <p:sp>
        <p:nvSpPr>
          <p:cNvPr id="17" name="Shape 15"/>
          <p:cNvSpPr/>
          <p:nvPr/>
        </p:nvSpPr>
        <p:spPr>
          <a:xfrm>
            <a:off x="457200" y="4005072"/>
            <a:ext cx="1691640" cy="777240"/>
          </a:xfrm>
          <a:prstGeom prst="rect">
            <a:avLst/>
          </a:prstGeom>
          <a:solidFill>
            <a:srgbClr val="0D9488"/>
          </a:solidFill>
          <a:ln/>
        </p:spPr>
        <p:txBody>
          <a:bodyPr/>
          <a:lstStyle/>
          <a:p>
            <a:endParaRPr lang="en-US"/>
          </a:p>
        </p:txBody>
      </p:sp>
      <p:sp>
        <p:nvSpPr>
          <p:cNvPr id="18" name="Text 16"/>
          <p:cNvSpPr/>
          <p:nvPr/>
        </p:nvSpPr>
        <p:spPr>
          <a:xfrm>
            <a:off x="457200" y="4005072"/>
            <a:ext cx="1691640"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Your Research Question</a:t>
            </a:r>
            <a:endParaRPr lang="en-US" sz="1200" dirty="0"/>
          </a:p>
        </p:txBody>
      </p:sp>
      <p:sp>
        <p:nvSpPr>
          <p:cNvPr id="19" name="Shape 17"/>
          <p:cNvSpPr/>
          <p:nvPr/>
        </p:nvSpPr>
        <p:spPr>
          <a:xfrm>
            <a:off x="2267712" y="4005072"/>
            <a:ext cx="6419088" cy="777240"/>
          </a:xfrm>
          <a:prstGeom prst="rect">
            <a:avLst/>
          </a:prstGeom>
          <a:solidFill>
            <a:srgbClr val="FFFFFF"/>
          </a:solidFill>
          <a:ln w="12700">
            <a:solidFill>
              <a:srgbClr val="E2E8F0"/>
            </a:solidFill>
            <a:prstDash val="solid"/>
          </a:ln>
        </p:spPr>
        <p:txBody>
          <a:bodyPr/>
          <a:lstStyle/>
          <a:p>
            <a:endParaRPr lang="en-US"/>
          </a:p>
        </p:txBody>
      </p:sp>
      <p:sp>
        <p:nvSpPr>
          <p:cNvPr id="20" name="Text 18"/>
          <p:cNvSpPr/>
          <p:nvPr/>
        </p:nvSpPr>
        <p:spPr>
          <a:xfrm>
            <a:off x="2395728" y="4096512"/>
            <a:ext cx="6181344" cy="594360"/>
          </a:xfrm>
          <a:prstGeom prst="rect">
            <a:avLst/>
          </a:prstGeom>
          <a:noFill/>
          <a:ln/>
        </p:spPr>
        <p:txBody>
          <a:bodyPr wrap="square" rtlCol="0" anchor="ctr"/>
          <a:lstStyle/>
          <a:p>
            <a:pPr marL="0" indent="0">
              <a:buNone/>
            </a:pPr>
            <a:r>
              <a:rPr lang="en-US" sz="1300" dirty="0">
                <a:solidFill>
                  <a:srgbClr val="475569"/>
                </a:solidFill>
                <a:latin typeface="Calibri" pitchFamily="34" charset="0"/>
                <a:ea typeface="Calibri" pitchFamily="34" charset="-122"/>
                <a:cs typeface="Calibri" pitchFamily="34" charset="-120"/>
              </a:rPr>
              <a:t>If you could add one research problem to this lab's agenda — combining ideas from any of the three seminars — what would it be? Write one sentence: "I want to know how to [do X] in order to [achieve 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4">
    <p:bg>
      <p:bgPr>
        <a:solidFill>
          <a:srgbClr val="1C2D5E"/>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7C3AED"/>
          </a:solidFill>
          <a:ln/>
        </p:spPr>
        <p:txBody>
          <a:bodyPr/>
          <a:lstStyle/>
          <a:p>
            <a:endParaRPr lang="en-US"/>
          </a:p>
        </p:txBody>
      </p:sp>
      <p:sp>
        <p:nvSpPr>
          <p:cNvPr id="3" name="Shape 1"/>
          <p:cNvSpPr/>
          <p:nvPr/>
        </p:nvSpPr>
        <p:spPr>
          <a:xfrm>
            <a:off x="201168" y="0"/>
            <a:ext cx="73152" cy="5143500"/>
          </a:xfrm>
          <a:prstGeom prst="rect">
            <a:avLst/>
          </a:prstGeom>
          <a:solidFill>
            <a:srgbClr val="0D9488"/>
          </a:solidFill>
          <a:ln/>
        </p:spPr>
        <p:txBody>
          <a:bodyPr/>
          <a:lstStyle/>
          <a:p>
            <a:endParaRPr lang="en-US"/>
          </a:p>
        </p:txBody>
      </p:sp>
      <p:sp>
        <p:nvSpPr>
          <p:cNvPr id="4" name="Shape 2"/>
          <p:cNvSpPr/>
          <p:nvPr/>
        </p:nvSpPr>
        <p:spPr>
          <a:xfrm>
            <a:off x="0" y="0"/>
            <a:ext cx="45720" cy="5143500"/>
          </a:xfrm>
          <a:prstGeom prst="rect">
            <a:avLst/>
          </a:prstGeom>
          <a:solidFill>
            <a:srgbClr val="D97706"/>
          </a:solidFill>
          <a:ln/>
        </p:spPr>
        <p:txBody>
          <a:bodyPr/>
          <a:lstStyle/>
          <a:p>
            <a:endParaRPr lang="en-US"/>
          </a:p>
        </p:txBody>
      </p:sp>
      <p:sp>
        <p:nvSpPr>
          <p:cNvPr id="5" name="Text 3"/>
          <p:cNvSpPr/>
          <p:nvPr/>
        </p:nvSpPr>
        <p:spPr>
          <a:xfrm>
            <a:off x="548640" y="502920"/>
            <a:ext cx="8229600" cy="621792"/>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Seminar 3 — Key Takeaways</a:t>
            </a:r>
            <a:endParaRPr lang="en-US" sz="3200" dirty="0"/>
          </a:p>
        </p:txBody>
      </p:sp>
      <p:sp>
        <p:nvSpPr>
          <p:cNvPr id="6" name="Text 4"/>
          <p:cNvSpPr/>
          <p:nvPr/>
        </p:nvSpPr>
        <p:spPr>
          <a:xfrm>
            <a:off x="548640" y="1261872"/>
            <a:ext cx="8229600" cy="512064"/>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01.  Qubits exploit quantum superposition. Measurement collapses the state — irreversibly.</a:t>
            </a:r>
            <a:endParaRPr lang="en-US" sz="1350" dirty="0"/>
          </a:p>
        </p:txBody>
      </p:sp>
      <p:sp>
        <p:nvSpPr>
          <p:cNvPr id="7" name="Text 5"/>
          <p:cNvSpPr/>
          <p:nvPr/>
        </p:nvSpPr>
        <p:spPr>
          <a:xfrm>
            <a:off x="548640" y="1856232"/>
            <a:ext cx="8229600" cy="512064"/>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02.  The no-cloning theorem makes quantum communication provably secure: eavesdropping is physically detectable.</a:t>
            </a:r>
            <a:endParaRPr lang="en-US" sz="1350" dirty="0"/>
          </a:p>
        </p:txBody>
      </p:sp>
      <p:sp>
        <p:nvSpPr>
          <p:cNvPr id="8" name="Text 6"/>
          <p:cNvSpPr/>
          <p:nvPr/>
        </p:nvSpPr>
        <p:spPr>
          <a:xfrm>
            <a:off x="548640" y="2450592"/>
            <a:ext cx="8229600" cy="512064"/>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03.  EPR pairs are entangled photons generated by SPDC. Each photon must reach a different consumer node — via edge-disjoint paths on the same spectrum channel.</a:t>
            </a:r>
            <a:endParaRPr lang="en-US" sz="1350" dirty="0"/>
          </a:p>
        </p:txBody>
      </p:sp>
      <p:sp>
        <p:nvSpPr>
          <p:cNvPr id="9" name="Text 7"/>
          <p:cNvSpPr/>
          <p:nvPr/>
        </p:nvSpPr>
        <p:spPr>
          <a:xfrm>
            <a:off x="548640" y="3044952"/>
            <a:ext cx="8229600" cy="512064"/>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04.  Transmittance decreases exponentially with path length — routing must balance path length against spectrum congestion.</a:t>
            </a:r>
            <a:endParaRPr lang="en-US" sz="1350" dirty="0"/>
          </a:p>
        </p:txBody>
      </p:sp>
      <p:sp>
        <p:nvSpPr>
          <p:cNvPr id="10" name="Text 8"/>
          <p:cNvSpPr/>
          <p:nvPr/>
        </p:nvSpPr>
        <p:spPr>
          <a:xfrm>
            <a:off x="548640" y="3639312"/>
            <a:ext cx="8229600" cy="512064"/>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05.  Separate routing then spectrum fails under congestion. Our joint RSA formulation (ILP + RCH heuristic + Lagrangian relaxation) achieves 2.5× better minimum throughput.</a:t>
            </a:r>
            <a:endParaRPr lang="en-US" sz="1350" dirty="0"/>
          </a:p>
        </p:txBody>
      </p:sp>
      <p:sp>
        <p:nvSpPr>
          <p:cNvPr id="11" name="Text 9"/>
          <p:cNvSpPr/>
          <p:nvPr/>
        </p:nvSpPr>
        <p:spPr>
          <a:xfrm>
            <a:off x="548640" y="4233672"/>
            <a:ext cx="8229600" cy="512064"/>
          </a:xfrm>
          <a:prstGeom prst="rect">
            <a:avLst/>
          </a:prstGeom>
          <a:noFill/>
          <a:ln/>
        </p:spPr>
        <p:txBody>
          <a:bodyPr wrap="square" rtlCol="0" anchor="ctr"/>
          <a:lstStyle/>
          <a:p>
            <a:pPr marL="0" indent="0">
              <a:buNone/>
            </a:pPr>
            <a:r>
              <a:rPr lang="en-US" sz="1350" dirty="0">
                <a:solidFill>
                  <a:srgbClr val="DDD6FE"/>
                </a:solidFill>
                <a:latin typeface="Calibri" pitchFamily="34" charset="0"/>
                <a:ea typeface="Calibri" pitchFamily="34" charset="-122"/>
                <a:cs typeface="Calibri" pitchFamily="34" charset="-120"/>
              </a:rPr>
              <a:t>06.  Next step: multi-source placement — where to put entanglement sources in the network to serve all consumer pairs optimally.</a:t>
            </a:r>
            <a:endParaRPr lang="en-US" sz="1350" dirty="0"/>
          </a:p>
        </p:txBody>
      </p:sp>
      <p:sp>
        <p:nvSpPr>
          <p:cNvPr id="12" name="Text 10"/>
          <p:cNvSpPr/>
          <p:nvPr/>
        </p:nvSpPr>
        <p:spPr>
          <a:xfrm>
            <a:off x="548640" y="4754880"/>
            <a:ext cx="8229600" cy="292608"/>
          </a:xfrm>
          <a:prstGeom prst="rect">
            <a:avLst/>
          </a:prstGeom>
          <a:noFill/>
          <a:ln/>
        </p:spPr>
        <p:txBody>
          <a:bodyPr wrap="square"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Thank you for attending all three seminars  ·  NSF Grant CNS-2008856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2474</TotalTime>
  <Words>5167</Words>
  <Application>Microsoft Macintosh PowerPoint</Application>
  <PresentationFormat>On-screen Show (16:9)</PresentationFormat>
  <Paragraphs>469</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3 — Quantum Networking</dc:title>
  <dc:subject>PptxGenJS Presentation</dc:subject>
  <dc:creator>PptxGenJS</dc:creator>
  <cp:lastModifiedBy>Khanure, Divya</cp:lastModifiedBy>
  <cp:revision>22</cp:revision>
  <dcterms:created xsi:type="dcterms:W3CDTF">2026-06-03T20:30:15Z</dcterms:created>
  <dcterms:modified xsi:type="dcterms:W3CDTF">2026-06-18T14:54:54Z</dcterms:modified>
</cp:coreProperties>
</file>